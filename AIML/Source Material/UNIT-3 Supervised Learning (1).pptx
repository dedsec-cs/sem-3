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4.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5"/>
  </p:notesMasterIdLst>
  <p:sldIdLst>
    <p:sldId id="257" r:id="rId2"/>
    <p:sldId id="370" r:id="rId3"/>
    <p:sldId id="371" r:id="rId4"/>
    <p:sldId id="372" r:id="rId5"/>
    <p:sldId id="384" r:id="rId6"/>
    <p:sldId id="385" r:id="rId7"/>
    <p:sldId id="386" r:id="rId8"/>
    <p:sldId id="387" r:id="rId9"/>
    <p:sldId id="388" r:id="rId10"/>
    <p:sldId id="389" r:id="rId11"/>
    <p:sldId id="390" r:id="rId12"/>
    <p:sldId id="391" r:id="rId13"/>
    <p:sldId id="363" r:id="rId14"/>
    <p:sldId id="364" r:id="rId15"/>
    <p:sldId id="365" r:id="rId16"/>
    <p:sldId id="273" r:id="rId17"/>
    <p:sldId id="392" r:id="rId18"/>
    <p:sldId id="393" r:id="rId19"/>
    <p:sldId id="276" r:id="rId20"/>
    <p:sldId id="394" r:id="rId21"/>
    <p:sldId id="395" r:id="rId22"/>
    <p:sldId id="367" r:id="rId23"/>
    <p:sldId id="396" r:id="rId24"/>
    <p:sldId id="259" r:id="rId25"/>
    <p:sldId id="260" r:id="rId26"/>
    <p:sldId id="261" r:id="rId27"/>
    <p:sldId id="262" r:id="rId28"/>
    <p:sldId id="263" r:id="rId29"/>
    <p:sldId id="266" r:id="rId30"/>
    <p:sldId id="267" r:id="rId31"/>
    <p:sldId id="264" r:id="rId32"/>
    <p:sldId id="268" r:id="rId33"/>
    <p:sldId id="270" r:id="rId34"/>
    <p:sldId id="269" r:id="rId35"/>
    <p:sldId id="271" r:id="rId36"/>
    <p:sldId id="274" r:id="rId37"/>
    <p:sldId id="281" r:id="rId38"/>
    <p:sldId id="277" r:id="rId39"/>
    <p:sldId id="280" r:id="rId40"/>
    <p:sldId id="279" r:id="rId41"/>
    <p:sldId id="282" r:id="rId42"/>
    <p:sldId id="278" r:id="rId43"/>
    <p:sldId id="275" r:id="rId44"/>
    <p:sldId id="287" r:id="rId45"/>
    <p:sldId id="283" r:id="rId46"/>
    <p:sldId id="284" r:id="rId47"/>
    <p:sldId id="285" r:id="rId48"/>
    <p:sldId id="286" r:id="rId49"/>
    <p:sldId id="289" r:id="rId50"/>
    <p:sldId id="290" r:id="rId51"/>
    <p:sldId id="291" r:id="rId52"/>
    <p:sldId id="288" r:id="rId53"/>
    <p:sldId id="265" r:id="rId54"/>
    <p:sldId id="306" r:id="rId55"/>
    <p:sldId id="314" r:id="rId56"/>
    <p:sldId id="313" r:id="rId57"/>
    <p:sldId id="307" r:id="rId58"/>
    <p:sldId id="308" r:id="rId59"/>
    <p:sldId id="309" r:id="rId60"/>
    <p:sldId id="310" r:id="rId61"/>
    <p:sldId id="311" r:id="rId62"/>
    <p:sldId id="312" r:id="rId63"/>
    <p:sldId id="298" r:id="rId64"/>
    <p:sldId id="300" r:id="rId65"/>
    <p:sldId id="301" r:id="rId66"/>
    <p:sldId id="302" r:id="rId67"/>
    <p:sldId id="303" r:id="rId68"/>
    <p:sldId id="304" r:id="rId69"/>
    <p:sldId id="305" r:id="rId70"/>
    <p:sldId id="315" r:id="rId71"/>
    <p:sldId id="333" r:id="rId72"/>
    <p:sldId id="332" r:id="rId73"/>
    <p:sldId id="334" r:id="rId74"/>
    <p:sldId id="335" r:id="rId75"/>
    <p:sldId id="331" r:id="rId76"/>
    <p:sldId id="339" r:id="rId77"/>
    <p:sldId id="344" r:id="rId78"/>
    <p:sldId id="341" r:id="rId79"/>
    <p:sldId id="342" r:id="rId80"/>
    <p:sldId id="343" r:id="rId81"/>
    <p:sldId id="299" r:id="rId82"/>
    <p:sldId id="349" r:id="rId83"/>
    <p:sldId id="348" r:id="rId84"/>
    <p:sldId id="350" r:id="rId85"/>
    <p:sldId id="351" r:id="rId86"/>
    <p:sldId id="352" r:id="rId87"/>
    <p:sldId id="353" r:id="rId88"/>
    <p:sldId id="354" r:id="rId89"/>
    <p:sldId id="355" r:id="rId90"/>
    <p:sldId id="358" r:id="rId91"/>
    <p:sldId id="356" r:id="rId92"/>
    <p:sldId id="357" r:id="rId93"/>
    <p:sldId id="359" r:id="rId94"/>
    <p:sldId id="360" r:id="rId95"/>
    <p:sldId id="361" r:id="rId96"/>
    <p:sldId id="362" r:id="rId97"/>
    <p:sldId id="347" r:id="rId98"/>
    <p:sldId id="378" r:id="rId99"/>
    <p:sldId id="380" r:id="rId100"/>
    <p:sldId id="379" r:id="rId101"/>
    <p:sldId id="398" r:id="rId102"/>
    <p:sldId id="399" r:id="rId103"/>
    <p:sldId id="400"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76271-BD49-A153-025A-F356E110FD48}" v="344" dt="2025-06-29T19:11:10.55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Roshni Afshan" userId="S::roshni.afshan@niet.co.in::fe96a75f-0540-456a-bd83-3fcf9b858177" providerId="AD" clId="Web-{EC495D57-F102-3F72-9236-BBF4D440A52D}"/>
    <pc:docChg chg="addSld delSld modSld">
      <pc:chgData name="Ms. Roshni Afshan" userId="S::roshni.afshan@niet.co.in::fe96a75f-0540-456a-bd83-3fcf9b858177" providerId="AD" clId="Web-{EC495D57-F102-3F72-9236-BBF4D440A52D}" dt="2025-01-28T04:16:09.523" v="35"/>
      <pc:docMkLst>
        <pc:docMk/>
      </pc:docMkLst>
      <pc:sldChg chg="delSp del">
        <pc:chgData name="Ms. Roshni Afshan" userId="S::roshni.afshan@niet.co.in::fe96a75f-0540-456a-bd83-3fcf9b858177" providerId="AD" clId="Web-{EC495D57-F102-3F72-9236-BBF4D440A52D}" dt="2025-01-28T04:14:55.770" v="22"/>
        <pc:sldMkLst>
          <pc:docMk/>
          <pc:sldMk cId="0" sldId="258"/>
        </pc:sldMkLst>
      </pc:sldChg>
      <pc:sldChg chg="add">
        <pc:chgData name="Ms. Roshni Afshan" userId="S::roshni.afshan@niet.co.in::fe96a75f-0540-456a-bd83-3fcf9b858177" providerId="AD" clId="Web-{EC495D57-F102-3F72-9236-BBF4D440A52D}" dt="2025-01-28T04:14:44.895" v="14"/>
        <pc:sldMkLst>
          <pc:docMk/>
          <pc:sldMk cId="2478092187" sldId="273"/>
        </pc:sldMkLst>
      </pc:sldChg>
      <pc:sldChg chg="add">
        <pc:chgData name="Ms. Roshni Afshan" userId="S::roshni.afshan@niet.co.in::fe96a75f-0540-456a-bd83-3fcf9b858177" providerId="AD" clId="Web-{EC495D57-F102-3F72-9236-BBF4D440A52D}" dt="2025-01-28T04:14:44.911" v="17"/>
        <pc:sldMkLst>
          <pc:docMk/>
          <pc:sldMk cId="3897341505" sldId="276"/>
        </pc:sldMkLst>
      </pc:sldChg>
      <pc:sldChg chg="add">
        <pc:chgData name="Ms. Roshni Afshan" userId="S::roshni.afshan@niet.co.in::fe96a75f-0540-456a-bd83-3fcf9b858177" providerId="AD" clId="Web-{EC495D57-F102-3F72-9236-BBF4D440A52D}" dt="2025-01-28T04:14:44.879" v="11"/>
        <pc:sldMkLst>
          <pc:docMk/>
          <pc:sldMk cId="852732752" sldId="363"/>
        </pc:sldMkLst>
      </pc:sldChg>
      <pc:sldChg chg="add">
        <pc:chgData name="Ms. Roshni Afshan" userId="S::roshni.afshan@niet.co.in::fe96a75f-0540-456a-bd83-3fcf9b858177" providerId="AD" clId="Web-{EC495D57-F102-3F72-9236-BBF4D440A52D}" dt="2025-01-28T04:14:44.879" v="12"/>
        <pc:sldMkLst>
          <pc:docMk/>
          <pc:sldMk cId="2350708750" sldId="364"/>
        </pc:sldMkLst>
      </pc:sldChg>
      <pc:sldChg chg="add">
        <pc:chgData name="Ms. Roshni Afshan" userId="S::roshni.afshan@niet.co.in::fe96a75f-0540-456a-bd83-3fcf9b858177" providerId="AD" clId="Web-{EC495D57-F102-3F72-9236-BBF4D440A52D}" dt="2025-01-28T04:14:44.895" v="13"/>
        <pc:sldMkLst>
          <pc:docMk/>
          <pc:sldMk cId="3524972353" sldId="365"/>
        </pc:sldMkLst>
      </pc:sldChg>
      <pc:sldChg chg="add">
        <pc:chgData name="Ms. Roshni Afshan" userId="S::roshni.afshan@niet.co.in::fe96a75f-0540-456a-bd83-3fcf9b858177" providerId="AD" clId="Web-{EC495D57-F102-3F72-9236-BBF4D440A52D}" dt="2025-01-28T04:14:44.926" v="20"/>
        <pc:sldMkLst>
          <pc:docMk/>
          <pc:sldMk cId="668310807" sldId="367"/>
        </pc:sldMkLst>
      </pc:sldChg>
      <pc:sldChg chg="add">
        <pc:chgData name="Ms. Roshni Afshan" userId="S::roshni.afshan@niet.co.in::fe96a75f-0540-456a-bd83-3fcf9b858177" providerId="AD" clId="Web-{EC495D57-F102-3F72-9236-BBF4D440A52D}" dt="2025-01-28T04:15:12.505" v="23"/>
        <pc:sldMkLst>
          <pc:docMk/>
          <pc:sldMk cId="1296927266" sldId="370"/>
        </pc:sldMkLst>
      </pc:sldChg>
      <pc:sldChg chg="add">
        <pc:chgData name="Ms. Roshni Afshan" userId="S::roshni.afshan@niet.co.in::fe96a75f-0540-456a-bd83-3fcf9b858177" providerId="AD" clId="Web-{EC495D57-F102-3F72-9236-BBF4D440A52D}" dt="2025-01-28T04:14:44.692" v="1"/>
        <pc:sldMkLst>
          <pc:docMk/>
          <pc:sldMk cId="683742510" sldId="371"/>
        </pc:sldMkLst>
      </pc:sldChg>
      <pc:sldChg chg="add">
        <pc:chgData name="Ms. Roshni Afshan" userId="S::roshni.afshan@niet.co.in::fe96a75f-0540-456a-bd83-3fcf9b858177" providerId="AD" clId="Web-{EC495D57-F102-3F72-9236-BBF4D440A52D}" dt="2025-01-28T04:14:44.707" v="2"/>
        <pc:sldMkLst>
          <pc:docMk/>
          <pc:sldMk cId="4278920782" sldId="372"/>
        </pc:sldMkLst>
      </pc:sldChg>
      <pc:sldChg chg="add">
        <pc:chgData name="Ms. Roshni Afshan" userId="S::roshni.afshan@niet.co.in::fe96a75f-0540-456a-bd83-3fcf9b858177" providerId="AD" clId="Web-{EC495D57-F102-3F72-9236-BBF4D440A52D}" dt="2025-01-28T04:16:09.429" v="25"/>
        <pc:sldMkLst>
          <pc:docMk/>
          <pc:sldMk cId="1468985548" sldId="373"/>
        </pc:sldMkLst>
      </pc:sldChg>
      <pc:sldChg chg="add">
        <pc:chgData name="Ms. Roshni Afshan" userId="S::roshni.afshan@niet.co.in::fe96a75f-0540-456a-bd83-3fcf9b858177" providerId="AD" clId="Web-{EC495D57-F102-3F72-9236-BBF4D440A52D}" dt="2025-01-28T04:16:09.429" v="26"/>
        <pc:sldMkLst>
          <pc:docMk/>
          <pc:sldMk cId="1960277566" sldId="374"/>
        </pc:sldMkLst>
      </pc:sldChg>
      <pc:sldChg chg="add">
        <pc:chgData name="Ms. Roshni Afshan" userId="S::roshni.afshan@niet.co.in::fe96a75f-0540-456a-bd83-3fcf9b858177" providerId="AD" clId="Web-{EC495D57-F102-3F72-9236-BBF4D440A52D}" dt="2025-01-28T04:16:09.445" v="27"/>
        <pc:sldMkLst>
          <pc:docMk/>
          <pc:sldMk cId="211221846" sldId="375"/>
        </pc:sldMkLst>
      </pc:sldChg>
      <pc:sldChg chg="add">
        <pc:chgData name="Ms. Roshni Afshan" userId="S::roshni.afshan@niet.co.in::fe96a75f-0540-456a-bd83-3fcf9b858177" providerId="AD" clId="Web-{EC495D57-F102-3F72-9236-BBF4D440A52D}" dt="2025-01-28T04:16:09.445" v="28"/>
        <pc:sldMkLst>
          <pc:docMk/>
          <pc:sldMk cId="3201579153" sldId="376"/>
        </pc:sldMkLst>
      </pc:sldChg>
      <pc:sldChg chg="add">
        <pc:chgData name="Ms. Roshni Afshan" userId="S::roshni.afshan@niet.co.in::fe96a75f-0540-456a-bd83-3fcf9b858177" providerId="AD" clId="Web-{EC495D57-F102-3F72-9236-BBF4D440A52D}" dt="2025-01-28T04:16:09.461" v="29"/>
        <pc:sldMkLst>
          <pc:docMk/>
          <pc:sldMk cId="3179096811" sldId="377"/>
        </pc:sldMkLst>
      </pc:sldChg>
      <pc:sldChg chg="add">
        <pc:chgData name="Ms. Roshni Afshan" userId="S::roshni.afshan@niet.co.in::fe96a75f-0540-456a-bd83-3fcf9b858177" providerId="AD" clId="Web-{EC495D57-F102-3F72-9236-BBF4D440A52D}" dt="2025-01-28T04:16:09.476" v="30"/>
        <pc:sldMkLst>
          <pc:docMk/>
          <pc:sldMk cId="74381661" sldId="378"/>
        </pc:sldMkLst>
      </pc:sldChg>
      <pc:sldChg chg="add">
        <pc:chgData name="Ms. Roshni Afshan" userId="S::roshni.afshan@niet.co.in::fe96a75f-0540-456a-bd83-3fcf9b858177" providerId="AD" clId="Web-{EC495D57-F102-3F72-9236-BBF4D440A52D}" dt="2025-01-28T04:16:09.476" v="31"/>
        <pc:sldMkLst>
          <pc:docMk/>
          <pc:sldMk cId="1148065443" sldId="379"/>
        </pc:sldMkLst>
      </pc:sldChg>
      <pc:sldChg chg="add">
        <pc:chgData name="Ms. Roshni Afshan" userId="S::roshni.afshan@niet.co.in::fe96a75f-0540-456a-bd83-3fcf9b858177" providerId="AD" clId="Web-{EC495D57-F102-3F72-9236-BBF4D440A52D}" dt="2025-01-28T04:16:09.492" v="32"/>
        <pc:sldMkLst>
          <pc:docMk/>
          <pc:sldMk cId="1726601357" sldId="380"/>
        </pc:sldMkLst>
      </pc:sldChg>
      <pc:sldChg chg="add">
        <pc:chgData name="Ms. Roshni Afshan" userId="S::roshni.afshan@niet.co.in::fe96a75f-0540-456a-bd83-3fcf9b858177" providerId="AD" clId="Web-{EC495D57-F102-3F72-9236-BBF4D440A52D}" dt="2025-01-28T04:16:09.508" v="33"/>
        <pc:sldMkLst>
          <pc:docMk/>
          <pc:sldMk cId="1571847990" sldId="381"/>
        </pc:sldMkLst>
      </pc:sldChg>
      <pc:sldChg chg="add">
        <pc:chgData name="Ms. Roshni Afshan" userId="S::roshni.afshan@niet.co.in::fe96a75f-0540-456a-bd83-3fcf9b858177" providerId="AD" clId="Web-{EC495D57-F102-3F72-9236-BBF4D440A52D}" dt="2025-01-28T04:16:09.508" v="34"/>
        <pc:sldMkLst>
          <pc:docMk/>
          <pc:sldMk cId="4067080210" sldId="382"/>
        </pc:sldMkLst>
      </pc:sldChg>
      <pc:sldChg chg="add">
        <pc:chgData name="Ms. Roshni Afshan" userId="S::roshni.afshan@niet.co.in::fe96a75f-0540-456a-bd83-3fcf9b858177" providerId="AD" clId="Web-{EC495D57-F102-3F72-9236-BBF4D440A52D}" dt="2025-01-28T04:16:09.523" v="35"/>
        <pc:sldMkLst>
          <pc:docMk/>
          <pc:sldMk cId="4018014048" sldId="383"/>
        </pc:sldMkLst>
      </pc:sldChg>
      <pc:sldChg chg="add">
        <pc:chgData name="Ms. Roshni Afshan" userId="S::roshni.afshan@niet.co.in::fe96a75f-0540-456a-bd83-3fcf9b858177" providerId="AD" clId="Web-{EC495D57-F102-3F72-9236-BBF4D440A52D}" dt="2025-01-28T04:14:44.707" v="3"/>
        <pc:sldMkLst>
          <pc:docMk/>
          <pc:sldMk cId="4063246448" sldId="384"/>
        </pc:sldMkLst>
      </pc:sldChg>
      <pc:sldChg chg="add">
        <pc:chgData name="Ms. Roshni Afshan" userId="S::roshni.afshan@niet.co.in::fe96a75f-0540-456a-bd83-3fcf9b858177" providerId="AD" clId="Web-{EC495D57-F102-3F72-9236-BBF4D440A52D}" dt="2025-01-28T04:14:44.707" v="4"/>
        <pc:sldMkLst>
          <pc:docMk/>
          <pc:sldMk cId="980155502" sldId="385"/>
        </pc:sldMkLst>
      </pc:sldChg>
      <pc:sldChg chg="add">
        <pc:chgData name="Ms. Roshni Afshan" userId="S::roshni.afshan@niet.co.in::fe96a75f-0540-456a-bd83-3fcf9b858177" providerId="AD" clId="Web-{EC495D57-F102-3F72-9236-BBF4D440A52D}" dt="2025-01-28T04:14:44.723" v="5"/>
        <pc:sldMkLst>
          <pc:docMk/>
          <pc:sldMk cId="433680465" sldId="386"/>
        </pc:sldMkLst>
      </pc:sldChg>
      <pc:sldChg chg="add">
        <pc:chgData name="Ms. Roshni Afshan" userId="S::roshni.afshan@niet.co.in::fe96a75f-0540-456a-bd83-3fcf9b858177" providerId="AD" clId="Web-{EC495D57-F102-3F72-9236-BBF4D440A52D}" dt="2025-01-28T04:14:44.723" v="6"/>
        <pc:sldMkLst>
          <pc:docMk/>
          <pc:sldMk cId="4102961196" sldId="387"/>
        </pc:sldMkLst>
      </pc:sldChg>
      <pc:sldChg chg="add">
        <pc:chgData name="Ms. Roshni Afshan" userId="S::roshni.afshan@niet.co.in::fe96a75f-0540-456a-bd83-3fcf9b858177" providerId="AD" clId="Web-{EC495D57-F102-3F72-9236-BBF4D440A52D}" dt="2025-01-28T04:14:44.739" v="7"/>
        <pc:sldMkLst>
          <pc:docMk/>
          <pc:sldMk cId="1641079392" sldId="388"/>
        </pc:sldMkLst>
      </pc:sldChg>
      <pc:sldChg chg="add">
        <pc:chgData name="Ms. Roshni Afshan" userId="S::roshni.afshan@niet.co.in::fe96a75f-0540-456a-bd83-3fcf9b858177" providerId="AD" clId="Web-{EC495D57-F102-3F72-9236-BBF4D440A52D}" dt="2025-01-28T04:14:44.739" v="8"/>
        <pc:sldMkLst>
          <pc:docMk/>
          <pc:sldMk cId="2350661327" sldId="389"/>
        </pc:sldMkLst>
      </pc:sldChg>
      <pc:sldChg chg="add">
        <pc:chgData name="Ms. Roshni Afshan" userId="S::roshni.afshan@niet.co.in::fe96a75f-0540-456a-bd83-3fcf9b858177" providerId="AD" clId="Web-{EC495D57-F102-3F72-9236-BBF4D440A52D}" dt="2025-01-28T04:14:44.739" v="9"/>
        <pc:sldMkLst>
          <pc:docMk/>
          <pc:sldMk cId="2126723504" sldId="390"/>
        </pc:sldMkLst>
      </pc:sldChg>
      <pc:sldChg chg="add">
        <pc:chgData name="Ms. Roshni Afshan" userId="S::roshni.afshan@niet.co.in::fe96a75f-0540-456a-bd83-3fcf9b858177" providerId="AD" clId="Web-{EC495D57-F102-3F72-9236-BBF4D440A52D}" dt="2025-01-28T04:14:44.801" v="10"/>
        <pc:sldMkLst>
          <pc:docMk/>
          <pc:sldMk cId="457153631" sldId="391"/>
        </pc:sldMkLst>
      </pc:sldChg>
      <pc:sldChg chg="add">
        <pc:chgData name="Ms. Roshni Afshan" userId="S::roshni.afshan@niet.co.in::fe96a75f-0540-456a-bd83-3fcf9b858177" providerId="AD" clId="Web-{EC495D57-F102-3F72-9236-BBF4D440A52D}" dt="2025-01-28T04:14:44.895" v="15"/>
        <pc:sldMkLst>
          <pc:docMk/>
          <pc:sldMk cId="2942372391" sldId="392"/>
        </pc:sldMkLst>
      </pc:sldChg>
      <pc:sldChg chg="add">
        <pc:chgData name="Ms. Roshni Afshan" userId="S::roshni.afshan@niet.co.in::fe96a75f-0540-456a-bd83-3fcf9b858177" providerId="AD" clId="Web-{EC495D57-F102-3F72-9236-BBF4D440A52D}" dt="2025-01-28T04:14:44.911" v="16"/>
        <pc:sldMkLst>
          <pc:docMk/>
          <pc:sldMk cId="1012276685" sldId="393"/>
        </pc:sldMkLst>
      </pc:sldChg>
      <pc:sldChg chg="add">
        <pc:chgData name="Ms. Roshni Afshan" userId="S::roshni.afshan@niet.co.in::fe96a75f-0540-456a-bd83-3fcf9b858177" providerId="AD" clId="Web-{EC495D57-F102-3F72-9236-BBF4D440A52D}" dt="2025-01-28T04:14:44.926" v="18"/>
        <pc:sldMkLst>
          <pc:docMk/>
          <pc:sldMk cId="3875242691" sldId="394"/>
        </pc:sldMkLst>
      </pc:sldChg>
      <pc:sldChg chg="add">
        <pc:chgData name="Ms. Roshni Afshan" userId="S::roshni.afshan@niet.co.in::fe96a75f-0540-456a-bd83-3fcf9b858177" providerId="AD" clId="Web-{EC495D57-F102-3F72-9236-BBF4D440A52D}" dt="2025-01-28T04:14:44.926" v="19"/>
        <pc:sldMkLst>
          <pc:docMk/>
          <pc:sldMk cId="3020439408" sldId="395"/>
        </pc:sldMkLst>
      </pc:sldChg>
      <pc:sldChg chg="add">
        <pc:chgData name="Ms. Roshni Afshan" userId="S::roshni.afshan@niet.co.in::fe96a75f-0540-456a-bd83-3fcf9b858177" providerId="AD" clId="Web-{EC495D57-F102-3F72-9236-BBF4D440A52D}" dt="2025-01-28T04:14:44.942" v="21"/>
        <pc:sldMkLst>
          <pc:docMk/>
          <pc:sldMk cId="528656240" sldId="396"/>
        </pc:sldMkLst>
      </pc:sldChg>
      <pc:sldChg chg="add">
        <pc:chgData name="Ms. Roshni Afshan" userId="S::roshni.afshan@niet.co.in::fe96a75f-0540-456a-bd83-3fcf9b858177" providerId="AD" clId="Web-{EC495D57-F102-3F72-9236-BBF4D440A52D}" dt="2025-01-28T04:16:09.414" v="24"/>
        <pc:sldMkLst>
          <pc:docMk/>
          <pc:sldMk cId="2729540451" sldId="397"/>
        </pc:sldMkLst>
      </pc:sldChg>
    </pc:docChg>
  </pc:docChgLst>
  <pc:docChgLst>
    <pc:chgData name="Ms. Roshni Afshan" userId="S::roshni.afshan@niet.co.in::fe96a75f-0540-456a-bd83-3fcf9b858177" providerId="AD" clId="Web-{B4EB8F7D-323C-DD49-CCC6-B00A943E7DEA}"/>
    <pc:docChg chg="addSld modSld">
      <pc:chgData name="Ms. Roshni Afshan" userId="S::roshni.afshan@niet.co.in::fe96a75f-0540-456a-bd83-3fcf9b858177" providerId="AD" clId="Web-{B4EB8F7D-323C-DD49-CCC6-B00A943E7DEA}" dt="2025-01-28T05:11:41.178" v="32" actId="20577"/>
      <pc:docMkLst>
        <pc:docMk/>
      </pc:docMkLst>
      <pc:sldChg chg="modSp add replId">
        <pc:chgData name="Ms. Roshni Afshan" userId="S::roshni.afshan@niet.co.in::fe96a75f-0540-456a-bd83-3fcf9b858177" providerId="AD" clId="Web-{B4EB8F7D-323C-DD49-CCC6-B00A943E7DEA}" dt="2025-01-28T05:11:11.381" v="30" actId="20577"/>
        <pc:sldMkLst>
          <pc:docMk/>
          <pc:sldMk cId="116054540" sldId="399"/>
        </pc:sldMkLst>
      </pc:sldChg>
      <pc:sldChg chg="modSp add replId">
        <pc:chgData name="Ms. Roshni Afshan" userId="S::roshni.afshan@niet.co.in::fe96a75f-0540-456a-bd83-3fcf9b858177" providerId="AD" clId="Web-{B4EB8F7D-323C-DD49-CCC6-B00A943E7DEA}" dt="2025-01-28T05:11:41.178" v="32" actId="20577"/>
        <pc:sldMkLst>
          <pc:docMk/>
          <pc:sldMk cId="4159578344" sldId="400"/>
        </pc:sldMkLst>
      </pc:sldChg>
    </pc:docChg>
  </pc:docChgLst>
  <pc:docChgLst>
    <pc:chgData name="Ms. Roshni Afshan" userId="S::roshni.afshan@niet.co.in::fe96a75f-0540-456a-bd83-3fcf9b858177" providerId="AD" clId="Web-{4184EF5F-20C3-6AFC-5F9B-69CFC9D6F8F0}"/>
    <pc:docChg chg="addSld delSld modSld sldOrd">
      <pc:chgData name="Ms. Roshni Afshan" userId="S::roshni.afshan@niet.co.in::fe96a75f-0540-456a-bd83-3fcf9b858177" providerId="AD" clId="Web-{4184EF5F-20C3-6AFC-5F9B-69CFC9D6F8F0}" dt="2025-01-28T05:06:58.472" v="125" actId="20577"/>
      <pc:docMkLst>
        <pc:docMk/>
      </pc:docMkLst>
      <pc:sldChg chg="del">
        <pc:chgData name="Ms. Roshni Afshan" userId="S::roshni.afshan@niet.co.in::fe96a75f-0540-456a-bd83-3fcf9b858177" providerId="AD" clId="Web-{4184EF5F-20C3-6AFC-5F9B-69CFC9D6F8F0}" dt="2025-01-28T05:06:13.642" v="118"/>
        <pc:sldMkLst>
          <pc:docMk/>
          <pc:sldMk cId="1468985548" sldId="373"/>
        </pc:sldMkLst>
      </pc:sldChg>
      <pc:sldChg chg="del">
        <pc:chgData name="Ms. Roshni Afshan" userId="S::roshni.afshan@niet.co.in::fe96a75f-0540-456a-bd83-3fcf9b858177" providerId="AD" clId="Web-{4184EF5F-20C3-6AFC-5F9B-69CFC9D6F8F0}" dt="2025-01-28T05:06:17.705" v="120"/>
        <pc:sldMkLst>
          <pc:docMk/>
          <pc:sldMk cId="1960277566" sldId="374"/>
        </pc:sldMkLst>
      </pc:sldChg>
      <pc:sldChg chg="del">
        <pc:chgData name="Ms. Roshni Afshan" userId="S::roshni.afshan@niet.co.in::fe96a75f-0540-456a-bd83-3fcf9b858177" providerId="AD" clId="Web-{4184EF5F-20C3-6AFC-5F9B-69CFC9D6F8F0}" dt="2025-01-28T05:05:41.907" v="114"/>
        <pc:sldMkLst>
          <pc:docMk/>
          <pc:sldMk cId="211221846" sldId="375"/>
        </pc:sldMkLst>
      </pc:sldChg>
      <pc:sldChg chg="del">
        <pc:chgData name="Ms. Roshni Afshan" userId="S::roshni.afshan@niet.co.in::fe96a75f-0540-456a-bd83-3fcf9b858177" providerId="AD" clId="Web-{4184EF5F-20C3-6AFC-5F9B-69CFC9D6F8F0}" dt="2025-01-28T05:05:49.704" v="116"/>
        <pc:sldMkLst>
          <pc:docMk/>
          <pc:sldMk cId="3201579153" sldId="376"/>
        </pc:sldMkLst>
      </pc:sldChg>
      <pc:sldChg chg="del">
        <pc:chgData name="Ms. Roshni Afshan" userId="S::roshni.afshan@niet.co.in::fe96a75f-0540-456a-bd83-3fcf9b858177" providerId="AD" clId="Web-{4184EF5F-20C3-6AFC-5F9B-69CFC9D6F8F0}" dt="2025-01-28T05:05:45.407" v="115"/>
        <pc:sldMkLst>
          <pc:docMk/>
          <pc:sldMk cId="3179096811" sldId="377"/>
        </pc:sldMkLst>
      </pc:sldChg>
      <pc:sldChg chg="modSp">
        <pc:chgData name="Ms. Roshni Afshan" userId="S::roshni.afshan@niet.co.in::fe96a75f-0540-456a-bd83-3fcf9b858177" providerId="AD" clId="Web-{4184EF5F-20C3-6AFC-5F9B-69CFC9D6F8F0}" dt="2025-01-28T05:06:58.472" v="125" actId="20577"/>
        <pc:sldMkLst>
          <pc:docMk/>
          <pc:sldMk cId="74381661" sldId="378"/>
        </pc:sldMkLst>
      </pc:sldChg>
      <pc:sldChg chg="modSp">
        <pc:chgData name="Ms. Roshni Afshan" userId="S::roshni.afshan@niet.co.in::fe96a75f-0540-456a-bd83-3fcf9b858177" providerId="AD" clId="Web-{4184EF5F-20C3-6AFC-5F9B-69CFC9D6F8F0}" dt="2025-01-28T04:52:32.285" v="17" actId="20577"/>
        <pc:sldMkLst>
          <pc:docMk/>
          <pc:sldMk cId="1148065443" sldId="379"/>
        </pc:sldMkLst>
      </pc:sldChg>
      <pc:sldChg chg="modSp ord">
        <pc:chgData name="Ms. Roshni Afshan" userId="S::roshni.afshan@niet.co.in::fe96a75f-0540-456a-bd83-3fcf9b858177" providerId="AD" clId="Web-{4184EF5F-20C3-6AFC-5F9B-69CFC9D6F8F0}" dt="2025-01-28T04:58:53.502" v="33" actId="20577"/>
        <pc:sldMkLst>
          <pc:docMk/>
          <pc:sldMk cId="1726601357" sldId="380"/>
        </pc:sldMkLst>
      </pc:sldChg>
      <pc:sldChg chg="addSp delSp modSp">
        <pc:chgData name="Ms. Roshni Afshan" userId="S::roshni.afshan@niet.co.in::fe96a75f-0540-456a-bd83-3fcf9b858177" providerId="AD" clId="Web-{4184EF5F-20C3-6AFC-5F9B-69CFC9D6F8F0}" dt="2025-01-28T05:05:22.781" v="113" actId="20577"/>
        <pc:sldMkLst>
          <pc:docMk/>
          <pc:sldMk cId="1571847990" sldId="381"/>
        </pc:sldMkLst>
      </pc:sldChg>
      <pc:sldChg chg="del">
        <pc:chgData name="Ms. Roshni Afshan" userId="S::roshni.afshan@niet.co.in::fe96a75f-0540-456a-bd83-3fcf9b858177" providerId="AD" clId="Web-{4184EF5F-20C3-6AFC-5F9B-69CFC9D6F8F0}" dt="2025-01-28T04:56:56.732" v="29"/>
        <pc:sldMkLst>
          <pc:docMk/>
          <pc:sldMk cId="4067080210" sldId="382"/>
        </pc:sldMkLst>
      </pc:sldChg>
      <pc:sldChg chg="del ord">
        <pc:chgData name="Ms. Roshni Afshan" userId="S::roshni.afshan@niet.co.in::fe96a75f-0540-456a-bd83-3fcf9b858177" providerId="AD" clId="Web-{4184EF5F-20C3-6AFC-5F9B-69CFC9D6F8F0}" dt="2025-01-28T05:06:15.986" v="119"/>
        <pc:sldMkLst>
          <pc:docMk/>
          <pc:sldMk cId="2729540451" sldId="397"/>
        </pc:sldMkLst>
      </pc:sldChg>
      <pc:sldChg chg="add replId">
        <pc:chgData name="Ms. Roshni Afshan" userId="S::roshni.afshan@niet.co.in::fe96a75f-0540-456a-bd83-3fcf9b858177" providerId="AD" clId="Web-{4184EF5F-20C3-6AFC-5F9B-69CFC9D6F8F0}" dt="2025-01-28T04:55:08.728" v="28"/>
        <pc:sldMkLst>
          <pc:docMk/>
          <pc:sldMk cId="3912613697" sldId="398"/>
        </pc:sldMkLst>
      </pc:sldChg>
    </pc:docChg>
  </pc:docChgLst>
  <pc:docChgLst>
    <pc:chgData name="Guest User" userId="S::urn:spo:tenantanon#61363c43-8420-43ca-8f82-801627e16cdf::" providerId="AD" clId="Web-{AFA76271-BD49-A153-025A-F356E110FD48}"/>
    <pc:docChg chg="addSld delSld modSld">
      <pc:chgData name="Guest User" userId="S::urn:spo:tenantanon#61363c43-8420-43ca-8f82-801627e16cdf::" providerId="AD" clId="Web-{AFA76271-BD49-A153-025A-F356E110FD48}" dt="2025-06-29T19:11:10.554" v="176" actId="20577"/>
      <pc:docMkLst>
        <pc:docMk/>
      </pc:docMkLst>
      <pc:sldChg chg="delSp modSp">
        <pc:chgData name="Guest User" userId="S::urn:spo:tenantanon#61363c43-8420-43ca-8f82-801627e16cdf::" providerId="AD" clId="Web-{AFA76271-BD49-A153-025A-F356E110FD48}" dt="2025-06-29T19:11:10.554" v="176" actId="20577"/>
        <pc:sldMkLst>
          <pc:docMk/>
          <pc:sldMk cId="0" sldId="257"/>
        </pc:sldMkLst>
        <pc:spChg chg="mod">
          <ac:chgData name="Guest User" userId="S::urn:spo:tenantanon#61363c43-8420-43ca-8f82-801627e16cdf::" providerId="AD" clId="Web-{AFA76271-BD49-A153-025A-F356E110FD48}" dt="2025-06-29T19:06:41.139" v="2" actId="14100"/>
          <ac:spMkLst>
            <pc:docMk/>
            <pc:sldMk cId="0" sldId="257"/>
            <ac:spMk id="17" creationId="{00000000-0000-0000-0000-000000000000}"/>
          </ac:spMkLst>
        </pc:spChg>
        <pc:spChg chg="mod">
          <ac:chgData name="Guest User" userId="S::urn:spo:tenantanon#61363c43-8420-43ca-8f82-801627e16cdf::" providerId="AD" clId="Web-{AFA76271-BD49-A153-025A-F356E110FD48}" dt="2025-06-29T19:11:10.554" v="176" actId="20577"/>
          <ac:spMkLst>
            <pc:docMk/>
            <pc:sldMk cId="0" sldId="257"/>
            <ac:spMk id="21" creationId="{00000000-0000-0000-0000-000000000000}"/>
          </ac:spMkLst>
        </pc:spChg>
        <pc:picChg chg="del">
          <ac:chgData name="Guest User" userId="S::urn:spo:tenantanon#61363c43-8420-43ca-8f82-801627e16cdf::" providerId="AD" clId="Web-{AFA76271-BD49-A153-025A-F356E110FD48}" dt="2025-06-29T19:06:45.046" v="3"/>
          <ac:picMkLst>
            <pc:docMk/>
            <pc:sldMk cId="0" sldId="257"/>
            <ac:picMk id="20" creationId="{094FFB5F-149C-3566-4760-48B96AB03EDB}"/>
          </ac:picMkLst>
        </pc:picChg>
      </pc:sldChg>
      <pc:sldChg chg="modSp">
        <pc:chgData name="Guest User" userId="S::urn:spo:tenantanon#61363c43-8420-43ca-8f82-801627e16cdf::" providerId="AD" clId="Web-{AFA76271-BD49-A153-025A-F356E110FD48}" dt="2025-06-29T19:10:26.866" v="147"/>
        <pc:sldMkLst>
          <pc:docMk/>
          <pc:sldMk cId="1296927266" sldId="370"/>
        </pc:sldMkLst>
        <pc:graphicFrameChg chg="mod modGraphic">
          <ac:chgData name="Guest User" userId="S::urn:spo:tenantanon#61363c43-8420-43ca-8f82-801627e16cdf::" providerId="AD" clId="Web-{AFA76271-BD49-A153-025A-F356E110FD48}" dt="2025-06-29T19:10:26.866" v="147"/>
          <ac:graphicFrameMkLst>
            <pc:docMk/>
            <pc:sldMk cId="1296927266" sldId="370"/>
            <ac:graphicFrameMk id="18" creationId="{55140C81-AEE7-2420-4038-EF55691C1D41}"/>
          </ac:graphicFrameMkLst>
        </pc:graphicFrameChg>
      </pc:sldChg>
      <pc:sldChg chg="modSp">
        <pc:chgData name="Guest User" userId="S::urn:spo:tenantanon#61363c43-8420-43ca-8f82-801627e16cdf::" providerId="AD" clId="Web-{AFA76271-BD49-A153-025A-F356E110FD48}" dt="2025-06-29T19:10:16.554" v="118"/>
        <pc:sldMkLst>
          <pc:docMk/>
          <pc:sldMk cId="683742510" sldId="371"/>
        </pc:sldMkLst>
        <pc:graphicFrameChg chg="mod modGraphic">
          <ac:chgData name="Guest User" userId="S::urn:spo:tenantanon#61363c43-8420-43ca-8f82-801627e16cdf::" providerId="AD" clId="Web-{AFA76271-BD49-A153-025A-F356E110FD48}" dt="2025-06-29T19:10:16.554" v="118"/>
          <ac:graphicFrameMkLst>
            <pc:docMk/>
            <pc:sldMk cId="683742510" sldId="371"/>
            <ac:graphicFrameMk id="5" creationId="{A7F9C854-B479-391C-C8C1-A9DD4B059B9C}"/>
          </ac:graphicFrameMkLst>
        </pc:graphicFrameChg>
      </pc:sldChg>
      <pc:sldChg chg="add del">
        <pc:chgData name="Guest User" userId="S::urn:spo:tenantanon#61363c43-8420-43ca-8f82-801627e16cdf::" providerId="AD" clId="Web-{AFA76271-BD49-A153-025A-F356E110FD48}" dt="2025-06-29T19:09:56.631" v="108"/>
        <pc:sldMkLst>
          <pc:docMk/>
          <pc:sldMk cId="4102961196" sldId="387"/>
        </pc:sldMkLst>
      </pc:sldChg>
    </pc:docChg>
  </pc:docChgLst>
  <pc:docChgLst>
    <pc:chgData name="Ms. Roshni Afshan" userId="S::roshni.afshan@niet.co.in::fe96a75f-0540-456a-bd83-3fcf9b858177" providerId="AD" clId="Web-{561E35DD-E52B-D094-2C34-2B42A42FCB22}"/>
    <pc:docChg chg="delSld">
      <pc:chgData name="Ms. Roshni Afshan" userId="S::roshni.afshan@niet.co.in::fe96a75f-0540-456a-bd83-3fcf9b858177" providerId="AD" clId="Web-{561E35DD-E52B-D094-2C34-2B42A42FCB22}" dt="2025-01-28T05:07:22.535" v="1"/>
      <pc:docMkLst>
        <pc:docMk/>
      </pc:docMkLst>
      <pc:sldChg chg="del">
        <pc:chgData name="Ms. Roshni Afshan" userId="S::roshni.afshan@niet.co.in::fe96a75f-0540-456a-bd83-3fcf9b858177" providerId="AD" clId="Web-{561E35DD-E52B-D094-2C34-2B42A42FCB22}" dt="2025-01-28T05:07:22.535" v="1"/>
        <pc:sldMkLst>
          <pc:docMk/>
          <pc:sldMk cId="1571847990" sldId="381"/>
        </pc:sldMkLst>
      </pc:sldChg>
      <pc:sldChg chg="del">
        <pc:chgData name="Ms. Roshni Afshan" userId="S::roshni.afshan@niet.co.in::fe96a75f-0540-456a-bd83-3fcf9b858177" providerId="AD" clId="Web-{561E35DD-E52B-D094-2C34-2B42A42FCB22}" dt="2025-01-28T04:36:46.540" v="0"/>
        <pc:sldMkLst>
          <pc:docMk/>
          <pc:sldMk cId="4018014048" sldId="38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a:t>Engineering Graduates will be able to</a:t>
          </a:r>
          <a:r>
            <a:rPr lang="en-US" sz="2800"/>
            <a:t>:</a:t>
          </a:r>
          <a:endParaRPr lang="en-IN" sz="280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B048A809-CB6A-4592-A8D6-3FCFFDFA9564}" srcId="{09995D18-05F5-4A4B-8F9A-27E4833C6620}" destId="{90AED077-85C4-46EA-B5F8-30BF070D360B}" srcOrd="0" destOrd="0" parTransId="{1E0C8B89-16C6-4880-8B09-06C9D70EBF80}" sibTransId="{E50D95E2-F091-4315-B45F-5F68BA43AB8B}"/>
    <dgm:cxn modelId="{2F3E4513-3342-4F83-B3C1-C64F62BF690E}" type="presOf" srcId="{09995D18-05F5-4A4B-8F9A-27E4833C6620}" destId="{F61E8516-DE3F-4AE9-AE50-9F42F39BFAD3}" srcOrd="0" destOrd="0" presId="urn:microsoft.com/office/officeart/2005/8/layout/vList2"/>
    <dgm:cxn modelId="{D0FB2C57-0F15-44A1-83CB-8EED1558DAAB}" type="presOf" srcId="{90AED077-85C4-46EA-B5F8-30BF070D360B}" destId="{B898B381-A99B-40FA-B837-D80DC4A60493}" srcOrd="0" destOrd="0" presId="urn:microsoft.com/office/officeart/2005/8/layout/vList2"/>
    <dgm:cxn modelId="{34318F54-0AA8-4B8B-BB4B-ABD5CC727297}"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tyle>
          <a:lnRef idx="1">
            <a:schemeClr val="accent2"/>
          </a:lnRef>
          <a:fillRef idx="2">
            <a:schemeClr val="accent2"/>
          </a:fillRef>
          <a:effectRef idx="1">
            <a:schemeClr val="accent2"/>
          </a:effectRef>
          <a:fontRef idx="minor">
            <a:schemeClr val="dk1"/>
          </a:fontRef>
        </dgm:style>
      </dgm:prSet>
      <dgm:spPr/>
      <dgm:t>
        <a:bodyPr/>
        <a:lstStyle/>
        <a:p>
          <a:r>
            <a:rPr lang="en-IN" b="1"/>
            <a:t>PO1 : </a:t>
          </a:r>
          <a:r>
            <a:rPr lang="en-US" b="1"/>
            <a:t>Engineering Knowledge</a:t>
          </a:r>
          <a:endParaRPr lang="en-IN"/>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235FA966-C47A-4BCB-AAED-54A261FD7D2F}" srcId="{9A6AA7B5-1491-47C8-85E4-E5E8FDD6D065}" destId="{02C141FE-9ABF-48FD-9848-42A0EFA33222}" srcOrd="0" destOrd="0" parTransId="{293B506A-CB52-4629-804F-4EA81B2C3153}" sibTransId="{22F57173-271F-4897-B456-2A1AE73C488C}"/>
    <dgm:cxn modelId="{A4ADEF84-E5CD-4F92-9B1F-6822CF6D7B27}" type="presOf" srcId="{02C141FE-9ABF-48FD-9848-42A0EFA33222}" destId="{AEDD9097-4AFF-4D2E-9357-46583571353B}" srcOrd="0" destOrd="0" presId="urn:microsoft.com/office/officeart/2005/8/layout/vList2"/>
    <dgm:cxn modelId="{CC1F75FD-9EAC-41D8-A2A8-873F024853E3}" type="presOf" srcId="{9A6AA7B5-1491-47C8-85E4-E5E8FDD6D065}" destId="{685F4F69-7D82-4DED-A9A8-7071B724DF07}" srcOrd="0" destOrd="0" presId="urn:microsoft.com/office/officeart/2005/8/layout/vList2"/>
    <dgm:cxn modelId="{B525FA8F-E0B3-4BED-B78D-6EE33D4F780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tyle>
          <a:lnRef idx="1">
            <a:schemeClr val="accent2"/>
          </a:lnRef>
          <a:fillRef idx="2">
            <a:schemeClr val="accent2"/>
          </a:fillRef>
          <a:effectRef idx="1">
            <a:schemeClr val="accent2"/>
          </a:effectRef>
          <a:fontRef idx="minor">
            <a:schemeClr val="dk1"/>
          </a:fontRef>
        </dgm:style>
      </dgm:prSet>
      <dgm:spPr/>
      <dgm:t>
        <a:bodyPr/>
        <a:lstStyle/>
        <a:p>
          <a:r>
            <a:rPr lang="en-US" b="1"/>
            <a:t>PO2 : Problem Analysis</a:t>
          </a:r>
          <a:endParaRPr lang="en-IN"/>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C8C39A92-5F67-4C0A-9789-BF297EBD7329}" type="presOf" srcId="{E7AAAF9E-D416-49AE-8611-65377A7DE939}" destId="{CD5036F8-A246-4E6A-8921-20C367BBB964}" srcOrd="0" destOrd="0" presId="urn:microsoft.com/office/officeart/2005/8/layout/vList2"/>
    <dgm:cxn modelId="{83085EA4-46A9-490A-B0C2-AFC222480091}"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244A0B53-DB76-4F26-AABA-DAC1FA5A1ABB}"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tyle>
          <a:lnRef idx="1">
            <a:schemeClr val="accent2"/>
          </a:lnRef>
          <a:fillRef idx="2">
            <a:schemeClr val="accent2"/>
          </a:fillRef>
          <a:effectRef idx="1">
            <a:schemeClr val="accent2"/>
          </a:effectRef>
          <a:fontRef idx="minor">
            <a:schemeClr val="dk1"/>
          </a:fontRef>
        </dgm:style>
      </dgm:prSet>
      <dgm:spPr/>
      <dgm:t>
        <a:bodyPr/>
        <a:lstStyle/>
        <a:p>
          <a:r>
            <a:rPr lang="en-IN" b="1"/>
            <a:t>PO3 : </a:t>
          </a:r>
          <a:r>
            <a:rPr lang="en-US" b="1"/>
            <a:t>Design/Development of solutions</a:t>
          </a:r>
          <a:endParaRPr lang="en-IN"/>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62C9BA47-17BD-419D-B912-8648FB782C69}" type="presOf" srcId="{FF45E94E-C528-4C21-A29D-573922B4ED68}" destId="{45C93CBB-046D-43CD-9356-3FC8771C32AF}" srcOrd="0" destOrd="0" presId="urn:microsoft.com/office/officeart/2005/8/layout/vList2"/>
    <dgm:cxn modelId="{71EB1758-198A-44CC-A98F-46749A1E2CBF}" type="presOf" srcId="{FCBD3793-394C-48FC-B28C-1D09533E7BA0}" destId="{8C029958-E145-4D8C-B815-F42AE9B5E6DF}" srcOrd="0" destOrd="0" presId="urn:microsoft.com/office/officeart/2005/8/layout/vList2"/>
    <dgm:cxn modelId="{DBC8B3EA-1CAF-4B01-9637-4D1CEF452180}"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tyle>
          <a:lnRef idx="1">
            <a:schemeClr val="accent2"/>
          </a:lnRef>
          <a:fillRef idx="2">
            <a:schemeClr val="accent2"/>
          </a:fillRef>
          <a:effectRef idx="1">
            <a:schemeClr val="accent2"/>
          </a:effectRef>
          <a:fontRef idx="minor">
            <a:schemeClr val="dk1"/>
          </a:fontRef>
        </dgm:style>
      </dgm:prSet>
      <dgm:spPr/>
      <dgm:t>
        <a:bodyPr/>
        <a:lstStyle/>
        <a:p>
          <a:r>
            <a:rPr lang="en-US" b="1"/>
            <a:t>PO4 : Conduct Investigations of complex problems</a:t>
          </a:r>
          <a:endParaRPr lang="en-IN"/>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5449AD0A-F320-4DD7-892A-4F974E670D3B}"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64871C2D-C901-4AB3-9E6C-1EBDA300F7BA}" type="presOf" srcId="{F2B2203F-2FAE-49B7-A1D5-9CD1B5127346}" destId="{54692D58-280A-4A5B-8ABB-4AA8C3D0C486}" srcOrd="0" destOrd="0" presId="urn:microsoft.com/office/officeart/2005/8/layout/vList2"/>
    <dgm:cxn modelId="{7399F811-7414-4354-A3B6-FD56412C310A}"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tyle>
          <a:lnRef idx="1">
            <a:schemeClr val="accent2"/>
          </a:lnRef>
          <a:fillRef idx="2">
            <a:schemeClr val="accent2"/>
          </a:fillRef>
          <a:effectRef idx="1">
            <a:schemeClr val="accent2"/>
          </a:effectRef>
          <a:fontRef idx="minor">
            <a:schemeClr val="dk1"/>
          </a:fontRef>
        </dgm:style>
      </dgm:prSet>
      <dgm:spPr/>
      <dgm:t>
        <a:bodyPr/>
        <a:lstStyle/>
        <a:p>
          <a:r>
            <a:rPr lang="en-IN" b="1"/>
            <a:t>PO5 : </a:t>
          </a:r>
          <a:r>
            <a:rPr lang="en-US" b="1"/>
            <a:t>Modern tool usage</a:t>
          </a:r>
          <a:endParaRPr lang="en-IN"/>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X="0" custLinFactNeighborY="2075">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52752EB1-07EE-4F9A-9F33-6B028622330C}" type="presOf" srcId="{502B59D9-8C99-44C9-B85F-4596BFA6E16F}" destId="{3EED7F0D-5C80-4479-905C-E79E88227593}" srcOrd="0" destOrd="0" presId="urn:microsoft.com/office/officeart/2005/8/layout/vList2"/>
    <dgm:cxn modelId="{9F859DC4-9BA1-4EDF-B35B-FAC9B608A89A}" type="presOf" srcId="{0803BEA6-810A-46C8-899C-70229B268BB8}" destId="{E298B721-E1B9-4CD4-8B1A-4950CC157D9F}" srcOrd="0" destOrd="0" presId="urn:microsoft.com/office/officeart/2005/8/layout/vList2"/>
    <dgm:cxn modelId="{9D2C4CE7-BC4F-42C5-8084-634CAC6FA43B}"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tyle>
          <a:lnRef idx="1">
            <a:schemeClr val="accent2"/>
          </a:lnRef>
          <a:fillRef idx="2">
            <a:schemeClr val="accent2"/>
          </a:fillRef>
          <a:effectRef idx="1">
            <a:schemeClr val="accent2"/>
          </a:effectRef>
          <a:fontRef idx="minor">
            <a:schemeClr val="dk1"/>
          </a:fontRef>
        </dgm:style>
      </dgm:prSet>
      <dgm:spPr/>
      <dgm:t>
        <a:bodyPr/>
        <a:lstStyle/>
        <a:p>
          <a:r>
            <a:rPr lang="en-US" sz="2800" b="1"/>
            <a:t>PO6 : The engineer and society</a:t>
          </a:r>
          <a:endParaRPr lang="en-IN" sz="280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5285D157-982A-4583-8928-6173705611F5}"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6D57C4CA-95A0-40CF-90E2-ACDB744DFDDB}" type="presOf" srcId="{EBCFF2A5-481F-4662-8A7E-7E8F303E314D}" destId="{52F828C4-77A4-4B43-9441-70FA5F9DF12E}" srcOrd="0" destOrd="0" presId="urn:microsoft.com/office/officeart/2005/8/layout/vList2"/>
    <dgm:cxn modelId="{EF29619B-9E31-4F68-B585-714819BDDAAE}"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a:t>Engineering Graduates will be able to</a:t>
          </a:r>
          <a:r>
            <a:rPr lang="en-US" sz="2800"/>
            <a:t>:</a:t>
          </a:r>
          <a:endParaRPr lang="en-IN" sz="280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B048A809-CB6A-4592-A8D6-3FCFFDFA9564}" srcId="{09995D18-05F5-4A4B-8F9A-27E4833C6620}" destId="{90AED077-85C4-46EA-B5F8-30BF070D360B}" srcOrd="0" destOrd="0" parTransId="{1E0C8B89-16C6-4880-8B09-06C9D70EBF80}" sibTransId="{E50D95E2-F091-4315-B45F-5F68BA43AB8B}"/>
    <dgm:cxn modelId="{F248680B-E1C8-48CA-AE5F-56D24621BC5C}" type="presOf" srcId="{09995D18-05F5-4A4B-8F9A-27E4833C6620}" destId="{F61E8516-DE3F-4AE9-AE50-9F42F39BFAD3}" srcOrd="0" destOrd="0" presId="urn:microsoft.com/office/officeart/2005/8/layout/vList2"/>
    <dgm:cxn modelId="{DDD20548-2217-40D7-AD3D-D74FAC746A2A}" type="presOf" srcId="{90AED077-85C4-46EA-B5F8-30BF070D360B}" destId="{B898B381-A99B-40FA-B837-D80DC4A60493}" srcOrd="0" destOrd="0" presId="urn:microsoft.com/office/officeart/2005/8/layout/vList2"/>
    <dgm:cxn modelId="{67DBEA56-1FBB-45FB-A033-E05D543507F0}"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tyle>
          <a:lnRef idx="1">
            <a:schemeClr val="accent2"/>
          </a:lnRef>
          <a:fillRef idx="2">
            <a:schemeClr val="accent2"/>
          </a:fillRef>
          <a:effectRef idx="1">
            <a:schemeClr val="accent2"/>
          </a:effectRef>
          <a:fontRef idx="minor">
            <a:schemeClr val="dk1"/>
          </a:fontRef>
        </dgm:style>
      </dgm:prSet>
      <dgm:spPr/>
      <dgm:t>
        <a:bodyPr/>
        <a:lstStyle/>
        <a:p>
          <a:r>
            <a:rPr lang="en-IN" b="1">
              <a:latin typeface="+mj-lt"/>
            </a:rPr>
            <a:t>PO7 : </a:t>
          </a:r>
          <a:r>
            <a:rPr lang="en-US" b="1">
              <a:latin typeface="+mj-lt"/>
              <a:ea typeface="Calibri" panose="020F0502020204030204" pitchFamily="34" charset="0"/>
            </a:rPr>
            <a:t>Environment and sustainability</a:t>
          </a:r>
          <a:endParaRPr lang="en-IN"/>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7419783B-DB17-41C8-AF89-F703C78F0F1E}" type="presOf" srcId="{9A6AA7B5-1491-47C8-85E4-E5E8FDD6D065}" destId="{685F4F69-7D82-4DED-A9A8-7071B724DF07}"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C4CEA8F2-E784-4101-B863-AFD162644AD3}" type="presOf" srcId="{02C141FE-9ABF-48FD-9848-42A0EFA33222}" destId="{AEDD9097-4AFF-4D2E-9357-46583571353B}" srcOrd="0" destOrd="0" presId="urn:microsoft.com/office/officeart/2005/8/layout/vList2"/>
    <dgm:cxn modelId="{FFFED8BD-A1A9-4E50-86C0-454D6B28FAA9}"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tyle>
          <a:lnRef idx="1">
            <a:schemeClr val="accent2"/>
          </a:lnRef>
          <a:fillRef idx="2">
            <a:schemeClr val="accent2"/>
          </a:fillRef>
          <a:effectRef idx="1">
            <a:schemeClr val="accent2"/>
          </a:effectRef>
          <a:fontRef idx="minor">
            <a:schemeClr val="dk1"/>
          </a:fontRef>
        </dgm:style>
      </dgm:prSet>
      <dgm:spPr/>
      <dgm:t>
        <a:bodyPr/>
        <a:lstStyle/>
        <a:p>
          <a:r>
            <a:rPr lang="en-US" b="1">
              <a:latin typeface="+mj-lt"/>
              <a:ea typeface="Times New Roman" panose="02020603050405020304" pitchFamily="18" charset="0"/>
              <a:cs typeface="Times New Roman" panose="02020603050405020304" pitchFamily="18" charset="0"/>
            </a:rPr>
            <a:t>PO8 : Ethics</a:t>
          </a:r>
          <a:endParaRPr lang="en-IN"/>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3265D01E-1B47-4815-9083-C1342C7ED3A5}" type="presOf" srcId="{E7AAAF9E-D416-49AE-8611-65377A7DE939}" destId="{CD5036F8-A246-4E6A-8921-20C367BBB964}"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A81FF9BE-A991-4D64-917C-858A87E649AE}" type="presOf" srcId="{1B644E16-AACD-4612-92E0-D46EF4ECB879}" destId="{B22A3E1F-BDC2-4FC3-B056-77BC1F86A5BC}" srcOrd="0" destOrd="0" presId="urn:microsoft.com/office/officeart/2005/8/layout/vList2"/>
    <dgm:cxn modelId="{ABB982E2-904D-423A-8B72-1AE265A47C30}"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tyle>
          <a:lnRef idx="1">
            <a:schemeClr val="accent2"/>
          </a:lnRef>
          <a:fillRef idx="2">
            <a:schemeClr val="accent2"/>
          </a:fillRef>
          <a:effectRef idx="1">
            <a:schemeClr val="accent2"/>
          </a:effectRef>
          <a:fontRef idx="minor">
            <a:schemeClr val="dk1"/>
          </a:fontRef>
        </dgm:style>
      </dgm:prSet>
      <dgm:spPr/>
      <dgm:t>
        <a:bodyPr/>
        <a:lstStyle/>
        <a:p>
          <a:r>
            <a:rPr lang="en-US" b="1">
              <a:latin typeface="+mj-lt"/>
              <a:ea typeface="Times New Roman" panose="02020603050405020304" pitchFamily="18" charset="0"/>
              <a:cs typeface="Times New Roman" panose="02020603050405020304" pitchFamily="18" charset="0"/>
            </a:rPr>
            <a:t>PO9 : Individual and teamwork</a:t>
          </a:r>
          <a:endParaRPr lang="en-IN"/>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2E70D30C-DF34-474C-8E2D-10C81D2ECA57}" type="presOf" srcId="{FCBD3793-394C-48FC-B28C-1D09533E7BA0}" destId="{8C029958-E145-4D8C-B815-F42AE9B5E6DF}" srcOrd="0" destOrd="0" presId="urn:microsoft.com/office/officeart/2005/8/layout/vList2"/>
    <dgm:cxn modelId="{64920B3B-E076-4AEF-BDA4-9EF98B5114F8}" type="presOf" srcId="{FF45E94E-C528-4C21-A29D-573922B4ED68}" destId="{45C93CBB-046D-43CD-9356-3FC8771C32AF}" srcOrd="0" destOrd="0" presId="urn:microsoft.com/office/officeart/2005/8/layout/vList2"/>
    <dgm:cxn modelId="{C68CCCD8-9FFD-40B2-A336-F635ECFF9721}"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tyle>
          <a:lnRef idx="1">
            <a:schemeClr val="accent2"/>
          </a:lnRef>
          <a:fillRef idx="2">
            <a:schemeClr val="accent2"/>
          </a:fillRef>
          <a:effectRef idx="1">
            <a:schemeClr val="accent2"/>
          </a:effectRef>
          <a:fontRef idx="minor">
            <a:schemeClr val="dk1"/>
          </a:fontRef>
        </dgm:style>
      </dgm:prSet>
      <dgm:spPr/>
      <dgm:t>
        <a:bodyPr/>
        <a:lstStyle/>
        <a:p>
          <a:r>
            <a:rPr lang="en-IN" b="1">
              <a:latin typeface="+mj-lt"/>
            </a:rPr>
            <a:t>PO10 : </a:t>
          </a:r>
          <a:r>
            <a:rPr lang="en-US" b="1">
              <a:latin typeface="+mj-lt"/>
              <a:ea typeface="Times New Roman" panose="02020603050405020304" pitchFamily="18" charset="0"/>
              <a:cs typeface="Times New Roman" panose="02020603050405020304" pitchFamily="18" charset="0"/>
            </a:rPr>
            <a:t>Communication</a:t>
          </a:r>
          <a:endParaRPr lang="en-IN"/>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C19B5B16-6706-47B1-9748-FFF77E9A2A15}" srcId="{CA3BDE70-45F2-45D1-A9F8-5ADC9B616F85}" destId="{F2B2203F-2FAE-49B7-A1D5-9CD1B5127346}" srcOrd="0" destOrd="0" parTransId="{0C5F4077-1886-4CF9-AD59-B820AE05ADC7}" sibTransId="{470CA956-F82D-44F7-AFF1-5655BDBD69D3}"/>
    <dgm:cxn modelId="{FF260761-F8D4-4F0B-9FB1-360C55D6C259}" type="presOf" srcId="{CA3BDE70-45F2-45D1-A9F8-5ADC9B616F85}" destId="{BAD57889-E122-4358-BE0C-A1CC3A735F9B}" srcOrd="0" destOrd="0" presId="urn:microsoft.com/office/officeart/2005/8/layout/vList2"/>
    <dgm:cxn modelId="{A9DB9187-956C-49CA-A831-A2F93EB0D264}" type="presOf" srcId="{F2B2203F-2FAE-49B7-A1D5-9CD1B5127346}" destId="{54692D58-280A-4A5B-8ABB-4AA8C3D0C486}" srcOrd="0" destOrd="0" presId="urn:microsoft.com/office/officeart/2005/8/layout/vList2"/>
    <dgm:cxn modelId="{A0A281C9-66FC-456B-A50E-0128C25A4AA5}"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tyle>
          <a:lnRef idx="1">
            <a:schemeClr val="accent2"/>
          </a:lnRef>
          <a:fillRef idx="2">
            <a:schemeClr val="accent2"/>
          </a:fillRef>
          <a:effectRef idx="1">
            <a:schemeClr val="accent2"/>
          </a:effectRef>
          <a:fontRef idx="minor">
            <a:schemeClr val="dk1"/>
          </a:fontRef>
        </dgm:style>
      </dgm:prSet>
      <dgm:spPr/>
      <dgm:t>
        <a:bodyPr/>
        <a:lstStyle/>
        <a:p>
          <a:r>
            <a:rPr lang="en-US" b="1">
              <a:latin typeface="+mj-lt"/>
              <a:ea typeface="Times New Roman" panose="02020603050405020304" pitchFamily="18" charset="0"/>
              <a:cs typeface="Times New Roman" panose="02020603050405020304" pitchFamily="18" charset="0"/>
            </a:rPr>
            <a:t>PO11 : Project management and finance</a:t>
          </a:r>
          <a:endParaRPr lang="en-IN"/>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404F6A03-CB82-42F3-BAFB-C910BE505C78}" type="presOf" srcId="{502B59D9-8C99-44C9-B85F-4596BFA6E16F}" destId="{3EED7F0D-5C80-4479-905C-E79E88227593}" srcOrd="0" destOrd="0" presId="urn:microsoft.com/office/officeart/2005/8/layout/vList2"/>
    <dgm:cxn modelId="{C0A7060B-E306-436C-82D8-E1BE2F57219E}" srcId="{0803BEA6-810A-46C8-899C-70229B268BB8}" destId="{502B59D9-8C99-44C9-B85F-4596BFA6E16F}" srcOrd="0" destOrd="0" parTransId="{9D2B8A0D-F6D2-4C03-871B-3A7AAE296648}" sibTransId="{1F2A8542-A15A-4424-AE39-080E22955215}"/>
    <dgm:cxn modelId="{41B4BAEC-C2A4-4D57-9DFC-BCBB403562D9}" type="presOf" srcId="{0803BEA6-810A-46C8-899C-70229B268BB8}" destId="{E298B721-E1B9-4CD4-8B1A-4950CC157D9F}" srcOrd="0" destOrd="0" presId="urn:microsoft.com/office/officeart/2005/8/layout/vList2"/>
    <dgm:cxn modelId="{9FAEAAFE-EE2B-487C-9B1F-47762481DB0C}"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tyle>
          <a:lnRef idx="1">
            <a:schemeClr val="accent2"/>
          </a:lnRef>
          <a:fillRef idx="2">
            <a:schemeClr val="accent2"/>
          </a:fillRef>
          <a:effectRef idx="1">
            <a:schemeClr val="accent2"/>
          </a:effectRef>
          <a:fontRef idx="minor">
            <a:schemeClr val="dk1"/>
          </a:fontRef>
        </dgm:style>
      </dgm:prSet>
      <dgm:spPr/>
      <dgm:t>
        <a:bodyPr/>
        <a:lstStyle/>
        <a:p>
          <a:r>
            <a:rPr lang="en-US" sz="2000" b="1">
              <a:latin typeface="+mj-lt"/>
              <a:ea typeface="Times New Roman" panose="02020603050405020304" pitchFamily="18" charset="0"/>
              <a:cs typeface="Times New Roman" panose="02020603050405020304" pitchFamily="18" charset="0"/>
            </a:rPr>
            <a:t>PO12 : Life-long learning</a:t>
          </a:r>
          <a:endParaRPr lang="en-IN" sz="2000"/>
        </a:p>
      </dgm:t>
    </dgm:pt>
    <dgm:pt modelId="{3AF0BA7F-DD77-44E2-A6BF-C585D5079A71}" type="parTrans" cxnId="{CA989CB1-55E9-41C4-929C-8340165DAC8F}">
      <dgm:prSet/>
      <dgm:spPr/>
      <dgm:t>
        <a:bodyPr/>
        <a:lstStyle/>
        <a:p>
          <a:endParaRPr lang="en-IN" sz="2000"/>
        </a:p>
      </dgm:t>
    </dgm:pt>
    <dgm:pt modelId="{C1BF92C5-17F2-4305-A1F3-8B3F1D8CBFFC}" type="sibTrans" cxnId="{CA989CB1-55E9-41C4-929C-8340165DAC8F}">
      <dgm:prSet/>
      <dgm:spPr/>
      <dgm:t>
        <a:bodyPr/>
        <a:lstStyle/>
        <a:p>
          <a:endParaRPr lang="en-IN" sz="2000"/>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X="-19492" custLinFactNeighborY="-87110">
        <dgm:presLayoutVars>
          <dgm:chMax val="0"/>
          <dgm:bulletEnabled val="1"/>
        </dgm:presLayoutVars>
      </dgm:prSet>
      <dgm:spPr/>
    </dgm:pt>
  </dgm:ptLst>
  <dgm:cxnLst>
    <dgm:cxn modelId="{68C50200-8E43-42B4-B377-7BDA369B4DFE}" type="presOf" srcId="{FBA19F7D-578A-464D-ADE6-D3D08AEFD9D5}" destId="{6CC17462-A62E-4245-BFD1-F10DCB528333}" srcOrd="0" destOrd="0" presId="urn:microsoft.com/office/officeart/2005/8/layout/vList2"/>
    <dgm:cxn modelId="{74553303-E661-4C17-86DC-4D900DC81FD6}" type="presOf" srcId="{EBCFF2A5-481F-4662-8A7E-7E8F303E314D}" destId="{52F828C4-77A4-4B43-9441-70FA5F9DF12E}"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2D4A26C-EEDE-4677-8891-BD02D8219D0D}"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298"/>
          <a:ext cx="7391400" cy="610594"/>
        </a:xfrm>
        <a:prstGeom prst="roundRect">
          <a:avLst/>
        </a:prstGeom>
        <a:solidFill>
          <a:schemeClr val="accent6">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t>Engineering Graduates will be able to</a:t>
          </a:r>
          <a:r>
            <a:rPr lang="en-US" sz="2800" kern="1200"/>
            <a:t>:</a:t>
          </a:r>
          <a:endParaRPr lang="en-IN" sz="2800" kern="1200"/>
        </a:p>
      </dsp:txBody>
      <dsp:txXfrm>
        <a:off x="29807" y="30105"/>
        <a:ext cx="7331786" cy="5509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1560"/>
          <a:ext cx="7391400" cy="5756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PO1 : </a:t>
          </a:r>
          <a:r>
            <a:rPr lang="en-US" sz="2400" b="1" kern="1200"/>
            <a:t>Engineering Knowledge</a:t>
          </a:r>
          <a:endParaRPr lang="en-IN" sz="2400" kern="1200"/>
        </a:p>
      </dsp:txBody>
      <dsp:txXfrm>
        <a:off x="28100" y="39660"/>
        <a:ext cx="7335200" cy="5194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1560"/>
          <a:ext cx="7391400" cy="5756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PO2 : Problem Analysis</a:t>
          </a:r>
          <a:endParaRPr lang="en-IN" sz="2400" kern="1200"/>
        </a:p>
      </dsp:txBody>
      <dsp:txXfrm>
        <a:off x="28100" y="39660"/>
        <a:ext cx="7335200" cy="5194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1560"/>
          <a:ext cx="7391400" cy="5756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PO3 : </a:t>
          </a:r>
          <a:r>
            <a:rPr lang="en-US" sz="2400" b="1" kern="1200"/>
            <a:t>Design/Development of solutions</a:t>
          </a:r>
          <a:endParaRPr lang="en-IN" sz="2400" kern="1200"/>
        </a:p>
      </dsp:txBody>
      <dsp:txXfrm>
        <a:off x="28100" y="39660"/>
        <a:ext cx="7335200" cy="5194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1560"/>
          <a:ext cx="7391399" cy="5756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PO4 : Conduct Investigations of complex problems</a:t>
          </a:r>
          <a:endParaRPr lang="en-IN" sz="2400" kern="1200"/>
        </a:p>
      </dsp:txBody>
      <dsp:txXfrm>
        <a:off x="28100" y="39660"/>
        <a:ext cx="7335199" cy="5194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3121"/>
          <a:ext cx="7391400" cy="5756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PO5 : </a:t>
          </a:r>
          <a:r>
            <a:rPr lang="en-US" sz="2400" b="1" kern="1200"/>
            <a:t>Modern tool usage</a:t>
          </a:r>
          <a:endParaRPr lang="en-IN" sz="2400" kern="1200"/>
        </a:p>
      </dsp:txBody>
      <dsp:txXfrm>
        <a:off x="28100" y="51221"/>
        <a:ext cx="7335200" cy="5194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584"/>
          <a:ext cx="7391400" cy="598176"/>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t>PO6 : The engineer and society</a:t>
          </a:r>
          <a:endParaRPr lang="en-IN" sz="2800" kern="1200"/>
        </a:p>
      </dsp:txBody>
      <dsp:txXfrm>
        <a:off x="29201" y="29785"/>
        <a:ext cx="7332998" cy="5397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261"/>
          <a:ext cx="7086599" cy="534468"/>
        </a:xfrm>
        <a:prstGeom prst="roundRect">
          <a:avLst/>
        </a:prstGeom>
        <a:solidFill>
          <a:schemeClr val="accent6">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t>Engineering Graduates will be able to</a:t>
          </a:r>
          <a:r>
            <a:rPr lang="en-US" sz="2800" kern="1200"/>
            <a:t>:</a:t>
          </a:r>
          <a:endParaRPr lang="en-IN" sz="2800" kern="1200"/>
        </a:p>
      </dsp:txBody>
      <dsp:txXfrm>
        <a:off x="26091" y="26352"/>
        <a:ext cx="7034417" cy="4822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0213"/>
          <a:ext cx="7086599" cy="503685"/>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a:latin typeface="+mj-lt"/>
            </a:rPr>
            <a:t>PO7 : </a:t>
          </a:r>
          <a:r>
            <a:rPr lang="en-US" sz="2100" b="1" kern="1200">
              <a:latin typeface="+mj-lt"/>
              <a:ea typeface="Calibri" panose="020F0502020204030204" pitchFamily="34" charset="0"/>
            </a:rPr>
            <a:t>Environment and sustainability</a:t>
          </a:r>
          <a:endParaRPr lang="en-IN" sz="2100" kern="1200"/>
        </a:p>
      </dsp:txBody>
      <dsp:txXfrm>
        <a:off x="24588" y="34801"/>
        <a:ext cx="7037423" cy="45450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0213"/>
          <a:ext cx="7086599" cy="503685"/>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latin typeface="+mj-lt"/>
              <a:ea typeface="Times New Roman" panose="02020603050405020304" pitchFamily="18" charset="0"/>
              <a:cs typeface="Times New Roman" panose="02020603050405020304" pitchFamily="18" charset="0"/>
            </a:rPr>
            <a:t>PO8 : Ethics</a:t>
          </a:r>
          <a:endParaRPr lang="en-IN" sz="2100" kern="1200"/>
        </a:p>
      </dsp:txBody>
      <dsp:txXfrm>
        <a:off x="24588" y="34801"/>
        <a:ext cx="7037423" cy="45450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0213"/>
          <a:ext cx="7086599" cy="503685"/>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latin typeface="+mj-lt"/>
              <a:ea typeface="Times New Roman" panose="02020603050405020304" pitchFamily="18" charset="0"/>
              <a:cs typeface="Times New Roman" panose="02020603050405020304" pitchFamily="18" charset="0"/>
            </a:rPr>
            <a:t>PO9 : Individual and teamwork</a:t>
          </a:r>
          <a:endParaRPr lang="en-IN" sz="2100" kern="1200"/>
        </a:p>
      </dsp:txBody>
      <dsp:txXfrm>
        <a:off x="24588" y="34801"/>
        <a:ext cx="7037423" cy="45450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0213"/>
          <a:ext cx="7086598" cy="503685"/>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a:latin typeface="+mj-lt"/>
            </a:rPr>
            <a:t>PO10 : </a:t>
          </a:r>
          <a:r>
            <a:rPr lang="en-US" sz="2100" b="1" kern="1200">
              <a:latin typeface="+mj-lt"/>
              <a:ea typeface="Times New Roman" panose="02020603050405020304" pitchFamily="18" charset="0"/>
              <a:cs typeface="Times New Roman" panose="02020603050405020304" pitchFamily="18" charset="0"/>
            </a:rPr>
            <a:t>Communication</a:t>
          </a:r>
          <a:endParaRPr lang="en-IN" sz="2100" kern="1200"/>
        </a:p>
      </dsp:txBody>
      <dsp:txXfrm>
        <a:off x="24588" y="34801"/>
        <a:ext cx="7037422" cy="45450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0426"/>
          <a:ext cx="7086599" cy="503685"/>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latin typeface="+mj-lt"/>
              <a:ea typeface="Times New Roman" panose="02020603050405020304" pitchFamily="18" charset="0"/>
              <a:cs typeface="Times New Roman" panose="02020603050405020304" pitchFamily="18" charset="0"/>
            </a:rPr>
            <a:t>PO11 : Project management and finance</a:t>
          </a:r>
          <a:endParaRPr lang="en-IN" sz="2100" kern="1200"/>
        </a:p>
      </dsp:txBody>
      <dsp:txXfrm>
        <a:off x="24588" y="45014"/>
        <a:ext cx="7037423" cy="45450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0"/>
          <a:ext cx="7086599" cy="52359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a:scene3d>
          <a:camera prst="orthographicFront"/>
          <a:lightRig rig="flat" dir="t"/>
        </a:scene3d>
      </dsp:spPr>
      <dsp:style>
        <a:lnRef idx="1">
          <a:schemeClr val="accent2"/>
        </a:lnRef>
        <a:fillRef idx="2">
          <a:schemeClr val="accent2"/>
        </a:fillRef>
        <a:effectRef idx="1">
          <a:schemeClr val="accent2"/>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mj-lt"/>
              <a:ea typeface="Times New Roman" panose="02020603050405020304" pitchFamily="18" charset="0"/>
              <a:cs typeface="Times New Roman" panose="02020603050405020304" pitchFamily="18" charset="0"/>
            </a:rPr>
            <a:t>PO12 : Life-long learning</a:t>
          </a:r>
          <a:endParaRPr lang="en-IN" sz="2000" kern="1200"/>
        </a:p>
      </dsp:txBody>
      <dsp:txXfrm>
        <a:off x="25560" y="25560"/>
        <a:ext cx="7035479" cy="47247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t>1</a:t>
            </a:fld>
            <a:endParaRPr lang="en-US"/>
          </a:p>
        </p:txBody>
      </p:sp>
      <p:sp>
        <p:nvSpPr>
          <p:cNvPr id="5" name="Date Placeholder 4"/>
          <p:cNvSpPr>
            <a:spLocks noGrp="1"/>
          </p:cNvSpPr>
          <p:nvPr>
            <p:ph type="dt" idx="1"/>
          </p:nvPr>
        </p:nvSpPr>
        <p:spPr/>
        <p:txBody>
          <a:bodyPr/>
          <a:lstStyle/>
          <a:p>
            <a:fld id="{BA9EFF5E-31BC-4416-B887-0EE95F37EEF3}" type="datetime1">
              <a:rPr lang="en-US" smtClean="0"/>
              <a:t>10/13/2025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910867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2719788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29303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4CB74-D919-C619-5B1D-FA5EC41DE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6CDED-0E0E-55F2-A489-0CF25C61DE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90C1AD4-DCFD-B3F5-F027-5AD7CE397FC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522492D2-DB12-3A60-3FA3-1F3672D58560}"/>
              </a:ext>
            </a:extLst>
          </p:cNvPr>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4156381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297052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3424384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757067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2812777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823650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3343307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53740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7770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89432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a:p>
        </p:txBody>
      </p:sp>
    </p:spTree>
    <p:extLst>
      <p:ext uri="{BB962C8B-B14F-4D97-AF65-F5344CB8AC3E}">
        <p14:creationId xmlns:p14="http://schemas.microsoft.com/office/powerpoint/2010/main" val="89943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3788792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3219819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4148245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1168230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1766110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41212204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1035731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2425D3-3439-404A-93A1-697D43ECE8AA}" type="slidenum">
              <a:rPr lang="en-IN" smtClean="0"/>
              <a:t>24</a:t>
            </a:fld>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2425D3-3439-404A-93A1-697D43ECE8AA}" type="slidenum">
              <a:rPr lang="en-IN" smtClean="0"/>
              <a:t>25</a:t>
            </a:fld>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1808C9D-D6D9-4FDA-BAD8-E0031CF6A547}" type="datetime1">
              <a:rPr lang="en-US" smtClean="0"/>
              <a:t>10/13/2025</a:t>
            </a:fld>
            <a:endParaRPr lang="en-US"/>
          </a:p>
        </p:txBody>
      </p:sp>
      <p:sp>
        <p:nvSpPr>
          <p:cNvPr id="5" name="Footer Placeholder 4"/>
          <p:cNvSpPr>
            <a:spLocks noGrp="1"/>
          </p:cNvSpPr>
          <p:nvPr>
            <p:ph type="ftr" sz="quarter" idx="11"/>
          </p:nvPr>
        </p:nvSpPr>
        <p:spPr/>
        <p:txBody>
          <a:bodyPr/>
          <a:lstStyle/>
          <a:p>
            <a:r>
              <a:rPr lang="en-US"/>
              <a:t>Roshni Afshan, Assistant Prof. (CSE (AIML))                   UNIT 03</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10F484-2DE5-4411-985C-99891A3B7574}" type="datetime1">
              <a:rPr lang="en-US" smtClean="0"/>
              <a:t>10/13/2025</a:t>
            </a:fld>
            <a:endParaRPr lang="en-US"/>
          </a:p>
        </p:txBody>
      </p:sp>
      <p:sp>
        <p:nvSpPr>
          <p:cNvPr id="5" name="Footer Placeholder 4"/>
          <p:cNvSpPr>
            <a:spLocks noGrp="1"/>
          </p:cNvSpPr>
          <p:nvPr>
            <p:ph type="ftr" sz="quarter" idx="11"/>
          </p:nvPr>
        </p:nvSpPr>
        <p:spPr/>
        <p:txBody>
          <a:bodyPr/>
          <a:lstStyle/>
          <a:p>
            <a:r>
              <a:rPr lang="en-US"/>
              <a:t>Roshni Afshan, Assistant Prof. (CSE (AIML))                   UNIT 03</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FBF1F-DB87-49A8-A7FB-FED62724C8EC}" type="datetime1">
              <a:rPr lang="en-US" smtClean="0"/>
              <a:t>10/13/2025</a:t>
            </a:fld>
            <a:endParaRPr lang="en-US"/>
          </a:p>
        </p:txBody>
      </p:sp>
      <p:sp>
        <p:nvSpPr>
          <p:cNvPr id="5" name="Footer Placeholder 4"/>
          <p:cNvSpPr>
            <a:spLocks noGrp="1"/>
          </p:cNvSpPr>
          <p:nvPr>
            <p:ph type="ftr" sz="quarter" idx="11"/>
          </p:nvPr>
        </p:nvSpPr>
        <p:spPr/>
        <p:txBody>
          <a:bodyPr/>
          <a:lstStyle/>
          <a:p>
            <a:r>
              <a:rPr lang="en-US"/>
              <a:t>Roshni Afshan, Assistant Prof. (CSE (AIML))                   UNIT 03</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171D88D-03D1-49C8-B11E-EB2D85D6AA84}" type="datetime1">
              <a:rPr lang="en-US" smtClean="0"/>
              <a:t>10/13/2025</a:t>
            </a:fld>
            <a:endParaRPr lang="en-US"/>
          </a:p>
        </p:txBody>
      </p:sp>
      <p:sp>
        <p:nvSpPr>
          <p:cNvPr id="6" name="Footer Placeholder 5"/>
          <p:cNvSpPr>
            <a:spLocks noGrp="1"/>
          </p:cNvSpPr>
          <p:nvPr>
            <p:ph type="ftr" sz="quarter" idx="11"/>
          </p:nvPr>
        </p:nvSpPr>
        <p:spPr/>
        <p:txBody>
          <a:bodyPr/>
          <a:lstStyle/>
          <a:p>
            <a:r>
              <a:rPr lang="en-US"/>
              <a:t>Roshni Afshan, Assistant Prof. (CSE (AIML))                   UNIT 03</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CAD8A2-A08A-483D-83F3-7432AFB18A6D}" type="datetime1">
              <a:rPr lang="en-US" smtClean="0"/>
              <a:t>10/13/2025</a:t>
            </a:fld>
            <a:endParaRPr lang="en-US"/>
          </a:p>
        </p:txBody>
      </p:sp>
      <p:sp>
        <p:nvSpPr>
          <p:cNvPr id="8" name="Footer Placeholder 7"/>
          <p:cNvSpPr>
            <a:spLocks noGrp="1"/>
          </p:cNvSpPr>
          <p:nvPr>
            <p:ph type="ftr" sz="quarter" idx="11"/>
          </p:nvPr>
        </p:nvSpPr>
        <p:spPr/>
        <p:txBody>
          <a:bodyPr/>
          <a:lstStyle/>
          <a:p>
            <a:r>
              <a:rPr lang="en-US"/>
              <a:t>Roshni Afshan, Assistant Prof. (CSE (AIML))                   UNIT 03</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0D53BD-BE18-45DD-95EB-172CFB8302B0}" type="datetime1">
              <a:rPr lang="en-US" smtClean="0"/>
              <a:t>10/13/2025</a:t>
            </a:fld>
            <a:endParaRPr lang="en-US"/>
          </a:p>
        </p:txBody>
      </p:sp>
      <p:sp>
        <p:nvSpPr>
          <p:cNvPr id="4" name="Footer Placeholder 3"/>
          <p:cNvSpPr>
            <a:spLocks noGrp="1"/>
          </p:cNvSpPr>
          <p:nvPr>
            <p:ph type="ftr" sz="quarter" idx="11"/>
          </p:nvPr>
        </p:nvSpPr>
        <p:spPr/>
        <p:txBody>
          <a:bodyPr/>
          <a:lstStyle/>
          <a:p>
            <a:r>
              <a:rPr lang="en-US"/>
              <a:t>Roshni Afshan, Assistant Prof. (CSE (AIML))                   UNIT 03</a:t>
            </a:r>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ED297-3258-4168-93D5-E3FB95DD65AD}" type="datetime1">
              <a:rPr lang="en-US" smtClean="0"/>
              <a:t>10/13/2025</a:t>
            </a:fld>
            <a:endParaRPr lang="en-US"/>
          </a:p>
        </p:txBody>
      </p:sp>
      <p:sp>
        <p:nvSpPr>
          <p:cNvPr id="3" name="Footer Placeholder 2"/>
          <p:cNvSpPr>
            <a:spLocks noGrp="1"/>
          </p:cNvSpPr>
          <p:nvPr>
            <p:ph type="ftr" sz="quarter" idx="11"/>
          </p:nvPr>
        </p:nvSpPr>
        <p:spPr/>
        <p:txBody>
          <a:bodyPr/>
          <a:lstStyle/>
          <a:p>
            <a:r>
              <a:rPr lang="en-US"/>
              <a:t>Roshni Afshan, Assistant Prof. (CSE (AIML))                   UNIT 03</a:t>
            </a:r>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4FDEE3-4789-4E8F-AF44-F79D6DC58938}" type="datetime1">
              <a:rPr lang="en-US" smtClean="0"/>
              <a:t>10/13/2025</a:t>
            </a:fld>
            <a:endParaRPr lang="en-US"/>
          </a:p>
        </p:txBody>
      </p:sp>
      <p:sp>
        <p:nvSpPr>
          <p:cNvPr id="6" name="Footer Placeholder 5"/>
          <p:cNvSpPr>
            <a:spLocks noGrp="1"/>
          </p:cNvSpPr>
          <p:nvPr>
            <p:ph type="ftr" sz="quarter" idx="11"/>
          </p:nvPr>
        </p:nvSpPr>
        <p:spPr/>
        <p:txBody>
          <a:bodyPr/>
          <a:lstStyle/>
          <a:p>
            <a:r>
              <a:rPr lang="en-US"/>
              <a:t>Roshni Afshan, Assistant Prof. (CSE (AIML))                   UNIT 03</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64B0B6-733A-40B6-9425-0546397BC416}" type="datetime1">
              <a:rPr lang="en-US" smtClean="0"/>
              <a:t>10/13/2025</a:t>
            </a:fld>
            <a:endParaRPr lang="en-US"/>
          </a:p>
        </p:txBody>
      </p:sp>
      <p:sp>
        <p:nvSpPr>
          <p:cNvPr id="6" name="Footer Placeholder 5"/>
          <p:cNvSpPr>
            <a:spLocks noGrp="1"/>
          </p:cNvSpPr>
          <p:nvPr>
            <p:ph type="ftr" sz="quarter" idx="11"/>
          </p:nvPr>
        </p:nvSpPr>
        <p:spPr/>
        <p:txBody>
          <a:bodyPr/>
          <a:lstStyle/>
          <a:p>
            <a:r>
              <a:rPr lang="en-US"/>
              <a:t>Roshni Afshan, Assistant Prof. (CSE (AIML))                   UNIT 03</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24DDE8-5EDE-49F9-B8B3-907CD8EC0E2F}" type="datetime1">
              <a:rPr lang="en-US" smtClean="0"/>
              <a:t>10/13/2025</a:t>
            </a:fld>
            <a:endParaRPr lang="en-US"/>
          </a:p>
        </p:txBody>
      </p:sp>
      <p:sp>
        <p:nvSpPr>
          <p:cNvPr id="5" name="Footer Placeholder 4"/>
          <p:cNvSpPr>
            <a:spLocks noGrp="1"/>
          </p:cNvSpPr>
          <p:nvPr>
            <p:ph type="ftr" sz="quarter" idx="11"/>
          </p:nvPr>
        </p:nvSpPr>
        <p:spPr/>
        <p:txBody>
          <a:bodyPr/>
          <a:lstStyle/>
          <a:p>
            <a:r>
              <a:rPr lang="en-US"/>
              <a:t>Roshni Afshan, Assistant Prof. (CSE (AIML))                   UNIT 03</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86A3B6-6F76-45A2-9CD2-03E86A9789EF}" type="datetime1">
              <a:rPr lang="en-US" smtClean="0"/>
              <a:t>10/13/2025</a:t>
            </a:fld>
            <a:endParaRPr lang="en-US"/>
          </a:p>
        </p:txBody>
      </p:sp>
      <p:sp>
        <p:nvSpPr>
          <p:cNvPr id="5" name="Footer Placeholder 4"/>
          <p:cNvSpPr>
            <a:spLocks noGrp="1"/>
          </p:cNvSpPr>
          <p:nvPr>
            <p:ph type="ftr" sz="quarter" idx="11"/>
          </p:nvPr>
        </p:nvSpPr>
        <p:spPr/>
        <p:txBody>
          <a:bodyPr/>
          <a:lstStyle/>
          <a:p>
            <a:r>
              <a:rPr lang="en-US"/>
              <a:t>Roshni Afshan, Assistant Prof. (CSE (AIML))                   UNIT 03</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B10CE-B317-473F-9F8A-D53B47E29CBA}" type="datetime1">
              <a:rPr lang="en-US" smtClean="0"/>
              <a:t>10/13/2025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Roshni Afshan, Assistant Prof. (CSE (AIML))                   UNIT 03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21" Type="http://schemas.openxmlformats.org/officeDocument/2006/relationships/diagramColors" Target="../diagrams/colors4.xml"/><Relationship Id="rId34" Type="http://schemas.openxmlformats.org/officeDocument/2006/relationships/diagramLayout" Target="../diagrams/layout7.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33" Type="http://schemas.openxmlformats.org/officeDocument/2006/relationships/diagramData" Target="../diagrams/data7.xml"/><Relationship Id="rId38" Type="http://schemas.openxmlformats.org/officeDocument/2006/relationships/image" Target="../media/image4.jpeg"/><Relationship Id="rId2" Type="http://schemas.openxmlformats.org/officeDocument/2006/relationships/notesSlide" Target="../notesSlides/notesSlide12.xml"/><Relationship Id="rId16" Type="http://schemas.openxmlformats.org/officeDocument/2006/relationships/diagramColors" Target="../diagrams/colors3.xml"/><Relationship Id="rId20" Type="http://schemas.openxmlformats.org/officeDocument/2006/relationships/diagramQuickStyle" Target="../diagrams/quickStyle4.xml"/><Relationship Id="rId29" Type="http://schemas.openxmlformats.org/officeDocument/2006/relationships/diagramLayout" Target="../diagrams/layout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32" Type="http://schemas.microsoft.com/office/2007/relationships/diagramDrawing" Target="../diagrams/drawing6.xml"/><Relationship Id="rId37" Type="http://schemas.microsoft.com/office/2007/relationships/diagramDrawing" Target="../diagrams/drawing7.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28" Type="http://schemas.openxmlformats.org/officeDocument/2006/relationships/diagramData" Target="../diagrams/data6.xml"/><Relationship Id="rId36" Type="http://schemas.openxmlformats.org/officeDocument/2006/relationships/diagramColors" Target="../diagrams/colors7.xml"/><Relationship Id="rId10" Type="http://schemas.openxmlformats.org/officeDocument/2006/relationships/diagramQuickStyle" Target="../diagrams/quickStyle2.xml"/><Relationship Id="rId19" Type="http://schemas.openxmlformats.org/officeDocument/2006/relationships/diagramLayout" Target="../diagrams/layout4.xml"/><Relationship Id="rId31" Type="http://schemas.openxmlformats.org/officeDocument/2006/relationships/diagramColors" Target="../diagrams/colors6.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 Id="rId30" Type="http://schemas.openxmlformats.org/officeDocument/2006/relationships/diagramQuickStyle" Target="../diagrams/quickStyle6.xml"/><Relationship Id="rId35" Type="http://schemas.openxmlformats.org/officeDocument/2006/relationships/diagramQuickStyle" Target="../diagrams/quickStyle7.xml"/><Relationship Id="rId8" Type="http://schemas.openxmlformats.org/officeDocument/2006/relationships/diagramData" Target="../diagrams/data2.xml"/><Relationship Id="rId3"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13" Type="http://schemas.openxmlformats.org/officeDocument/2006/relationships/diagramData" Target="../diagrams/data10.xml"/><Relationship Id="rId18" Type="http://schemas.openxmlformats.org/officeDocument/2006/relationships/diagramData" Target="../diagrams/data11.xml"/><Relationship Id="rId26" Type="http://schemas.openxmlformats.org/officeDocument/2006/relationships/diagramColors" Target="../diagrams/colors12.xml"/><Relationship Id="rId21" Type="http://schemas.openxmlformats.org/officeDocument/2006/relationships/diagramColors" Target="../diagrams/colors11.xml"/><Relationship Id="rId34" Type="http://schemas.openxmlformats.org/officeDocument/2006/relationships/diagramLayout" Target="../diagrams/layout14.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5" Type="http://schemas.openxmlformats.org/officeDocument/2006/relationships/diagramQuickStyle" Target="../diagrams/quickStyle12.xml"/><Relationship Id="rId33" Type="http://schemas.openxmlformats.org/officeDocument/2006/relationships/diagramData" Target="../diagrams/data14.xml"/><Relationship Id="rId38" Type="http://schemas.openxmlformats.org/officeDocument/2006/relationships/image" Target="../media/image4.jpeg"/><Relationship Id="rId2" Type="http://schemas.openxmlformats.org/officeDocument/2006/relationships/notesSlide" Target="../notesSlides/notesSlide13.xml"/><Relationship Id="rId16" Type="http://schemas.openxmlformats.org/officeDocument/2006/relationships/diagramColors" Target="../diagrams/colors10.xml"/><Relationship Id="rId20" Type="http://schemas.openxmlformats.org/officeDocument/2006/relationships/diagramQuickStyle" Target="../diagrams/quickStyle11.xml"/><Relationship Id="rId29" Type="http://schemas.openxmlformats.org/officeDocument/2006/relationships/diagramLayout" Target="../diagrams/layout13.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9.xml"/><Relationship Id="rId24" Type="http://schemas.openxmlformats.org/officeDocument/2006/relationships/diagramLayout" Target="../diagrams/layout12.xml"/><Relationship Id="rId32" Type="http://schemas.microsoft.com/office/2007/relationships/diagramDrawing" Target="../diagrams/drawing13.xml"/><Relationship Id="rId37" Type="http://schemas.microsoft.com/office/2007/relationships/diagramDrawing" Target="../diagrams/drawing14.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23" Type="http://schemas.openxmlformats.org/officeDocument/2006/relationships/diagramData" Target="../diagrams/data12.xml"/><Relationship Id="rId28" Type="http://schemas.openxmlformats.org/officeDocument/2006/relationships/diagramData" Target="../diagrams/data13.xml"/><Relationship Id="rId36" Type="http://schemas.openxmlformats.org/officeDocument/2006/relationships/diagramColors" Target="../diagrams/colors14.xml"/><Relationship Id="rId10" Type="http://schemas.openxmlformats.org/officeDocument/2006/relationships/diagramQuickStyle" Target="../diagrams/quickStyle9.xml"/><Relationship Id="rId19" Type="http://schemas.openxmlformats.org/officeDocument/2006/relationships/diagramLayout" Target="../diagrams/layout11.xml"/><Relationship Id="rId31" Type="http://schemas.openxmlformats.org/officeDocument/2006/relationships/diagramColors" Target="../diagrams/colors13.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 Id="rId27" Type="http://schemas.microsoft.com/office/2007/relationships/diagramDrawing" Target="../diagrams/drawing12.xml"/><Relationship Id="rId30" Type="http://schemas.openxmlformats.org/officeDocument/2006/relationships/diagramQuickStyle" Target="../diagrams/quickStyle13.xml"/><Relationship Id="rId35" Type="http://schemas.openxmlformats.org/officeDocument/2006/relationships/diagramQuickStyle" Target="../diagrams/quickStyle14.xml"/><Relationship Id="rId8" Type="http://schemas.openxmlformats.org/officeDocument/2006/relationships/diagramData" Target="../diagrams/data9.xml"/><Relationship Id="rId3"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p:cNvSpPr txBox="1"/>
          <p:nvPr/>
        </p:nvSpPr>
        <p:spPr>
          <a:xfrm>
            <a:off x="1108710" y="3599815"/>
            <a:ext cx="4474210" cy="56134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lstStyle/>
          <a:p>
            <a:pPr algn="ctr"/>
            <a:r>
              <a:rPr lang="en-US" sz="2800" b="1" kern="100">
                <a:solidFill>
                  <a:srgbClr val="000000"/>
                </a:solidFill>
                <a:latin typeface="Times New Roman" panose="02020603050405020304"/>
                <a:ea typeface="Calibri" panose="020F0502020204030204"/>
                <a:cs typeface="Times New Roman" panose="02020603050405020304"/>
                <a:sym typeface="+mn-ea"/>
              </a:rPr>
              <a:t>Supervised Learning</a:t>
            </a:r>
          </a:p>
        </p:txBody>
      </p:sp>
      <p:sp>
        <p:nvSpPr>
          <p:cNvPr id="15" name="Subtitle 2"/>
          <p:cNvSpPr txBox="1"/>
          <p:nvPr/>
        </p:nvSpPr>
        <p:spPr>
          <a:xfrm>
            <a:off x="715645" y="4578350"/>
            <a:ext cx="4993640" cy="1311275"/>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algn="ctr">
              <a:spcBef>
                <a:spcPct val="20000"/>
              </a:spcBef>
              <a:defRPr/>
            </a:pPr>
            <a:r>
              <a:rPr lang="en-US" sz="2400" b="1">
                <a:solidFill>
                  <a:schemeClr val="tx1"/>
                </a:solidFill>
                <a:latin typeface="Times New Roman" panose="02020603050405020304" pitchFamily="18" charset="0"/>
                <a:cs typeface="Times New Roman" panose="02020603050405020304" pitchFamily="18" charset="0"/>
              </a:rPr>
              <a:t>Course Details</a:t>
            </a:r>
          </a:p>
          <a:p>
            <a:pPr algn="ctr">
              <a:spcBef>
                <a:spcPct val="20000"/>
              </a:spcBef>
              <a:defRPr/>
            </a:pPr>
            <a:r>
              <a:rPr lang="en-US" sz="2400" b="1">
                <a:solidFill>
                  <a:schemeClr val="tx1"/>
                </a:solidFill>
                <a:latin typeface="Times New Roman" panose="02020603050405020304" pitchFamily="18" charset="0"/>
                <a:cs typeface="Times New Roman" panose="02020603050405020304" pitchFamily="18" charset="0"/>
              </a:rPr>
              <a:t>B-Tech 3</a:t>
            </a:r>
            <a:r>
              <a:rPr lang="en-US" sz="2400" b="1" baseline="30000">
                <a:solidFill>
                  <a:schemeClr val="tx1"/>
                </a:solidFill>
                <a:latin typeface="Times New Roman" panose="02020603050405020304" pitchFamily="18" charset="0"/>
                <a:cs typeface="Times New Roman" panose="02020603050405020304" pitchFamily="18" charset="0"/>
              </a:rPr>
              <a:t>rd</a:t>
            </a:r>
            <a:r>
              <a:rPr lang="en-US" sz="2400" b="1">
                <a:solidFill>
                  <a:schemeClr val="tx1"/>
                </a:solidFill>
                <a:latin typeface="Times New Roman" panose="02020603050405020304" pitchFamily="18" charset="0"/>
                <a:cs typeface="Times New Roman" panose="02020603050405020304" pitchFamily="18" charset="0"/>
              </a:rPr>
              <a:t> Sem. ONLINE &amp; Offline  </a:t>
            </a:r>
          </a:p>
        </p:txBody>
      </p:sp>
      <p:sp>
        <p:nvSpPr>
          <p:cNvPr id="16" name="Subtitle 2"/>
          <p:cNvSpPr>
            <a:spLocks noGrp="1"/>
          </p:cNvSpPr>
          <p:nvPr>
            <p:ph type="subTitle" idx="1"/>
          </p:nvPr>
        </p:nvSpPr>
        <p:spPr>
          <a:xfrm>
            <a:off x="1696720" y="1037590"/>
            <a:ext cx="9229725" cy="551815"/>
          </a:xfrm>
          <a:ln>
            <a:solidFill>
              <a:srgbClr val="C00000"/>
            </a:solidFill>
          </a:ln>
        </p:spPr>
        <p:style>
          <a:lnRef idx="2">
            <a:schemeClr val="accent5"/>
          </a:lnRef>
          <a:fillRef idx="1">
            <a:schemeClr val="lt1"/>
          </a:fillRef>
          <a:effectRef idx="0">
            <a:schemeClr val="accent5"/>
          </a:effectRef>
          <a:fontRef idx="minor">
            <a:schemeClr val="dk1"/>
          </a:fontRef>
        </p:style>
        <p:txBody>
          <a:bodyPr>
            <a:noAutofit/>
          </a:bodyPr>
          <a:lstStyle/>
          <a:p>
            <a:r>
              <a:rPr lang="en-US" sz="3200" b="1">
                <a:latin typeface="Times New Roman" panose="02020603050405020304" pitchFamily="18" charset="0"/>
                <a:cs typeface="Times New Roman" panose="02020603050405020304" pitchFamily="18" charset="0"/>
              </a:rPr>
              <a:t>Artificial Intelligence &amp; Machine Learning</a:t>
            </a:r>
          </a:p>
        </p:txBody>
      </p:sp>
      <p:sp>
        <p:nvSpPr>
          <p:cNvPr id="17" name="Title 1"/>
          <p:cNvSpPr txBox="1"/>
          <p:nvPr/>
        </p:nvSpPr>
        <p:spPr>
          <a:xfrm>
            <a:off x="2096013" y="0"/>
            <a:ext cx="10095987" cy="808990"/>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a:solidFill>
                  <a:schemeClr val="bg1"/>
                </a:solidFill>
                <a:latin typeface="Times New Roman" panose="02020603050405020304" pitchFamily="18" charset="0"/>
                <a:cs typeface="Times New Roman" panose="02020603050405020304" pitchFamily="18" charset="0"/>
              </a:rPr>
              <a:t>Noida Institute of Engineering and Technology, Greater Noida</a:t>
            </a:r>
          </a:p>
        </p:txBody>
      </p:sp>
      <p:pic>
        <p:nvPicPr>
          <p:cNvPr id="3" name="Picture 2"/>
          <p:cNvPicPr/>
          <p:nvPr/>
        </p:nvPicPr>
        <p:blipFill>
          <a:blip r:embed="rId3"/>
          <a:srcRect l="2963" t="30815" r="-830" b="31437"/>
          <a:stretch>
            <a:fillRect/>
          </a:stretch>
        </p:blipFill>
        <p:spPr>
          <a:xfrm>
            <a:off x="0" y="0"/>
            <a:ext cx="2097405" cy="808990"/>
          </a:xfrm>
          <a:prstGeom prst="rect">
            <a:avLst/>
          </a:prstGeom>
        </p:spPr>
      </p:pic>
      <p:sp>
        <p:nvSpPr>
          <p:cNvPr id="19" name="Subtitle 2"/>
          <p:cNvSpPr txBox="1"/>
          <p:nvPr/>
        </p:nvSpPr>
        <p:spPr>
          <a:xfrm>
            <a:off x="2228850" y="2379345"/>
            <a:ext cx="2117090" cy="513715"/>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lstStyle/>
          <a:p>
            <a:pPr algn="ctr">
              <a:spcBef>
                <a:spcPct val="20000"/>
              </a:spcBef>
              <a:defRPr/>
            </a:pPr>
            <a:r>
              <a:rPr lang="en-US" sz="2800" b="1">
                <a:solidFill>
                  <a:schemeClr val="tx1"/>
                </a:solidFill>
              </a:rPr>
              <a:t>Unit: 3</a:t>
            </a:r>
            <a:r>
              <a:rPr lang="en-US" sz="2800">
                <a:ln>
                  <a:solidFill>
                    <a:sysClr val="windowText" lastClr="000000"/>
                  </a:solidFill>
                </a:ln>
                <a:solidFill>
                  <a:schemeClr val="tx1"/>
                </a:solidFill>
              </a:rPr>
              <a:t> </a:t>
            </a:r>
          </a:p>
        </p:txBody>
      </p:sp>
      <p:sp>
        <p:nvSpPr>
          <p:cNvPr id="21" name="Subtitle 2"/>
          <p:cNvSpPr txBox="1"/>
          <p:nvPr/>
        </p:nvSpPr>
        <p:spPr>
          <a:xfrm>
            <a:off x="7250430" y="4388485"/>
            <a:ext cx="4364355" cy="154178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Autofit/>
          </a:bodyPr>
          <a:lstStyle/>
          <a:p>
            <a:pPr algn="ctr">
              <a:spcBef>
                <a:spcPct val="20000"/>
              </a:spcBef>
              <a:defRPr/>
            </a:pPr>
            <a:r>
              <a:rPr lang="en-US" sz="2400" b="1" dirty="0">
                <a:solidFill>
                  <a:schemeClr val="tx1"/>
                </a:solidFill>
                <a:latin typeface="Times New Roman"/>
                <a:cs typeface="Times New Roman"/>
              </a:rPr>
              <a:t>Mohini Chakarverti</a:t>
            </a:r>
            <a:endParaRPr lang="en-US" sz="2400" b="1" dirty="0">
              <a:solidFill>
                <a:schemeClr val="tx1"/>
              </a:solidFill>
              <a:latin typeface="Times New Roman" panose="02020603050405020304" pitchFamily="18" charset="0"/>
              <a:cs typeface="Times New Roman" panose="02020603050405020304" pitchFamily="18" charset="0"/>
            </a:endParaRPr>
          </a:p>
          <a:p>
            <a:pPr algn="ctr">
              <a:spcBef>
                <a:spcPct val="20000"/>
              </a:spcBef>
              <a:defRPr/>
            </a:pPr>
            <a:r>
              <a:rPr lang="en-US" sz="2400" b="1" dirty="0">
                <a:solidFill>
                  <a:schemeClr val="tx1"/>
                </a:solidFill>
                <a:latin typeface="Times New Roman"/>
                <a:cs typeface="Times New Roman"/>
              </a:rPr>
              <a:t>Assistant Professor </a:t>
            </a:r>
          </a:p>
          <a:p>
            <a:pPr algn="ctr">
              <a:spcBef>
                <a:spcPct val="20000"/>
              </a:spcBef>
              <a:defRPr/>
            </a:pPr>
            <a:r>
              <a:rPr lang="en-US" sz="2400" b="1" dirty="0">
                <a:solidFill>
                  <a:schemeClr val="tx1"/>
                </a:solidFill>
                <a:latin typeface="Times New Roman"/>
                <a:cs typeface="Times New Roman"/>
              </a:rPr>
              <a:t>Department of CSE(AIML) </a:t>
            </a:r>
          </a:p>
        </p:txBody>
      </p:sp>
      <p:pic>
        <p:nvPicPr>
          <p:cNvPr id="2" name="Picture 1" descr="A person wearing glasses and a red and orange dress&#10;&#10;AI-generated content may be incorrect.">
            <a:extLst>
              <a:ext uri="{FF2B5EF4-FFF2-40B4-BE49-F238E27FC236}">
                <a16:creationId xmlns:a16="http://schemas.microsoft.com/office/drawing/2014/main" id="{66C2A22F-3A3E-A76C-7733-D4E8C428BECE}"/>
              </a:ext>
            </a:extLst>
          </p:cNvPr>
          <p:cNvPicPr>
            <a:picLocks noChangeAspect="1"/>
          </p:cNvPicPr>
          <p:nvPr/>
        </p:nvPicPr>
        <p:blipFill>
          <a:blip r:embed="rId4"/>
          <a:stretch>
            <a:fillRect/>
          </a:stretch>
        </p:blipFill>
        <p:spPr>
          <a:xfrm>
            <a:off x="8335032" y="1809969"/>
            <a:ext cx="2038350" cy="2362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a:cs typeface="Calibri"/>
              </a:rPr>
              <a:t>Faculty Introduction</a:t>
            </a:r>
            <a:endParaRPr lang="en-US" sz="2800"/>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8" name="Table 17">
            <a:extLst>
              <a:ext uri="{FF2B5EF4-FFF2-40B4-BE49-F238E27FC236}">
                <a16:creationId xmlns:a16="http://schemas.microsoft.com/office/drawing/2014/main" id="{55140C81-AEE7-2420-4038-EF55691C1D41}"/>
              </a:ext>
            </a:extLst>
          </p:cNvPr>
          <p:cNvGraphicFramePr>
            <a:graphicFrameLocks noGrp="1"/>
          </p:cNvGraphicFramePr>
          <p:nvPr>
            <p:extLst>
              <p:ext uri="{D42A27DB-BD31-4B8C-83A1-F6EECF244321}">
                <p14:modId xmlns:p14="http://schemas.microsoft.com/office/powerpoint/2010/main" val="4097816908"/>
              </p:ext>
            </p:extLst>
          </p:nvPr>
        </p:nvGraphicFramePr>
        <p:xfrm>
          <a:off x="1900237" y="1947862"/>
          <a:ext cx="8391525" cy="2700611"/>
        </p:xfrm>
        <a:graphic>
          <a:graphicData uri="http://schemas.openxmlformats.org/drawingml/2006/table">
            <a:tbl>
              <a:tblPr bandRow="1">
                <a:tableStyleId>{5C22544A-7EE6-4342-B048-85BDC9FD1C3A}</a:tableStyleId>
              </a:tblPr>
              <a:tblGrid>
                <a:gridCol w="1809750">
                  <a:extLst>
                    <a:ext uri="{9D8B030D-6E8A-4147-A177-3AD203B41FA5}">
                      <a16:colId xmlns:a16="http://schemas.microsoft.com/office/drawing/2014/main" val="2106345043"/>
                    </a:ext>
                  </a:extLst>
                </a:gridCol>
                <a:gridCol w="6581775">
                  <a:extLst>
                    <a:ext uri="{9D8B030D-6E8A-4147-A177-3AD203B41FA5}">
                      <a16:colId xmlns:a16="http://schemas.microsoft.com/office/drawing/2014/main" val="695535554"/>
                    </a:ext>
                  </a:extLst>
                </a:gridCol>
              </a:tblGrid>
              <a:tr h="342416">
                <a:tc>
                  <a:txBody>
                    <a:bodyPr/>
                    <a:lstStyle/>
                    <a:p>
                      <a:pPr algn="l" fontAlgn="base"/>
                      <a:r>
                        <a:rPr lang="en-US" sz="2000" b="1" i="0" dirty="0">
                          <a:solidFill>
                            <a:srgbClr val="000000"/>
                          </a:solidFill>
                          <a:effectLst/>
                          <a:latin typeface="Calibri"/>
                        </a:rPr>
                        <a:t>Name</a:t>
                      </a:r>
                      <a:endParaRPr lang="en-US" b="1"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14288" cap="flat" cmpd="sng" algn="ctr">
                      <a:solidFill>
                        <a:srgbClr val="70AD47"/>
                      </a:solidFill>
                      <a:prstDash val="solid"/>
                      <a:round/>
                      <a:headEnd type="none" w="med" len="med"/>
                      <a:tailEnd type="none" w="med" len="med"/>
                    </a:lnB>
                    <a:noFill/>
                  </a:tcPr>
                </a:tc>
                <a:tc>
                  <a:txBody>
                    <a:bodyPr/>
                    <a:lstStyle/>
                    <a:p>
                      <a:pPr algn="l" fontAlgn="base"/>
                      <a:r>
                        <a:rPr lang="en-IN" sz="2000" b="1" i="0" dirty="0">
                          <a:solidFill>
                            <a:srgbClr val="000000"/>
                          </a:solidFill>
                          <a:effectLst/>
                          <a:latin typeface="Calibri"/>
                        </a:rPr>
                        <a:t>Mohini Chakarverti</a:t>
                      </a: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14288"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3259347396"/>
                  </a:ext>
                </a:extLst>
              </a:tr>
              <a:tr h="342416">
                <a:tc>
                  <a:txBody>
                    <a:bodyPr/>
                    <a:lstStyle/>
                    <a:p>
                      <a:pPr algn="l" fontAlgn="base"/>
                      <a:r>
                        <a:rPr lang="en-US" sz="2000" b="0" i="0" dirty="0">
                          <a:solidFill>
                            <a:srgbClr val="000000"/>
                          </a:solidFill>
                          <a:effectLst/>
                          <a:latin typeface="Calibri"/>
                        </a:rPr>
                        <a:t>Qualification</a:t>
                      </a:r>
                      <a:endParaRPr lang="en-US" b="0"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14288"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2000" b="0" i="0" u="none" strike="noStrike" noProof="0" dirty="0">
                          <a:solidFill>
                            <a:srgbClr val="000000"/>
                          </a:solidFill>
                          <a:effectLst/>
                          <a:latin typeface="+mn-lt"/>
                        </a:rPr>
                        <a:t>Ph.D.(Pursuing)</a:t>
                      </a: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14288"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1419813011"/>
                  </a:ext>
                </a:extLst>
              </a:tr>
              <a:tr h="342416">
                <a:tc>
                  <a:txBody>
                    <a:bodyPr/>
                    <a:lstStyle/>
                    <a:p>
                      <a:pPr algn="l" fontAlgn="base"/>
                      <a:r>
                        <a:rPr lang="en-US" sz="2000" b="0" i="0" dirty="0">
                          <a:solidFill>
                            <a:srgbClr val="000000"/>
                          </a:solidFill>
                          <a:effectLst/>
                          <a:latin typeface="Calibri"/>
                        </a:rPr>
                        <a:t>Designation</a:t>
                      </a:r>
                      <a:endParaRPr lang="en-US" b="0"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tc>
                  <a:txBody>
                    <a:bodyPr/>
                    <a:lstStyle/>
                    <a:p>
                      <a:pPr algn="l" fontAlgn="base"/>
                      <a:r>
                        <a:rPr lang="en-US" sz="2000" b="0" i="0" dirty="0">
                          <a:solidFill>
                            <a:srgbClr val="000000"/>
                          </a:solidFill>
                          <a:effectLst/>
                          <a:latin typeface="Calibri"/>
                        </a:rPr>
                        <a:t>Assistant Professor</a:t>
                      </a: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3160535922"/>
                  </a:ext>
                </a:extLst>
              </a:tr>
              <a:tr h="342416">
                <a:tc>
                  <a:txBody>
                    <a:bodyPr/>
                    <a:lstStyle/>
                    <a:p>
                      <a:pPr algn="l" fontAlgn="base"/>
                      <a:r>
                        <a:rPr lang="en-US" sz="2000" b="0" i="0" dirty="0">
                          <a:solidFill>
                            <a:srgbClr val="000000"/>
                          </a:solidFill>
                          <a:effectLst/>
                          <a:latin typeface="Calibri"/>
                        </a:rPr>
                        <a:t>Department</a:t>
                      </a:r>
                      <a:endParaRPr lang="en-US" b="0"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tc>
                  <a:txBody>
                    <a:bodyPr/>
                    <a:lstStyle/>
                    <a:p>
                      <a:pPr algn="l" fontAlgn="base"/>
                      <a:r>
                        <a:rPr lang="en-IN" sz="2000" b="0" i="0" dirty="0">
                          <a:solidFill>
                            <a:srgbClr val="000000"/>
                          </a:solidFill>
                          <a:effectLst/>
                          <a:latin typeface="Calibri"/>
                        </a:rPr>
                        <a:t>CSE-AIML</a:t>
                      </a: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2461800535"/>
                  </a:ext>
                </a:extLst>
              </a:tr>
              <a:tr h="342416">
                <a:tc>
                  <a:txBody>
                    <a:bodyPr/>
                    <a:lstStyle/>
                    <a:p>
                      <a:pPr algn="l" fontAlgn="base"/>
                      <a:r>
                        <a:rPr lang="en-US" sz="2000" b="0" i="0" dirty="0">
                          <a:solidFill>
                            <a:srgbClr val="000000"/>
                          </a:solidFill>
                          <a:effectLst/>
                          <a:latin typeface="Calibri"/>
                        </a:rPr>
                        <a:t>NIET Experience</a:t>
                      </a:r>
                      <a:endParaRPr lang="en-US" b="0"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tc>
                  <a:txBody>
                    <a:bodyPr/>
                    <a:lstStyle/>
                    <a:p>
                      <a:pPr lvl="0" algn="l">
                        <a:buNone/>
                      </a:pPr>
                      <a:r>
                        <a:rPr lang="en-US" sz="2000" b="0" i="0" dirty="0">
                          <a:solidFill>
                            <a:srgbClr val="000000"/>
                          </a:solidFill>
                          <a:effectLst/>
                          <a:latin typeface="Calibri"/>
                        </a:rPr>
                        <a:t>3 Years</a:t>
                      </a:r>
                      <a:endParaRPr lang="en-US" dirty="0"/>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30745346"/>
                  </a:ext>
                </a:extLst>
              </a:tr>
              <a:tr h="833711">
                <a:tc>
                  <a:txBody>
                    <a:bodyPr/>
                    <a:lstStyle/>
                    <a:p>
                      <a:pPr algn="l" fontAlgn="base"/>
                      <a:r>
                        <a:rPr lang="en-US" sz="2000" b="0" i="0" dirty="0">
                          <a:solidFill>
                            <a:srgbClr val="000000"/>
                          </a:solidFill>
                          <a:effectLst/>
                          <a:latin typeface="Calibri"/>
                        </a:rPr>
                        <a:t>Subject Taught</a:t>
                      </a:r>
                      <a:endParaRPr lang="en-US" b="0" i="0" dirty="0">
                        <a:solidFill>
                          <a:srgbClr val="000000"/>
                        </a:solidFill>
                        <a:effectLst/>
                        <a:latin typeface="Calibri"/>
                      </a:endParaRP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tc>
                  <a:txBody>
                    <a:bodyPr/>
                    <a:lstStyle/>
                    <a:p>
                      <a:pPr algn="just" fontAlgn="base"/>
                      <a:r>
                        <a:rPr lang="en-US" sz="2000" b="0" i="0" dirty="0">
                          <a:solidFill>
                            <a:srgbClr val="000000"/>
                          </a:solidFill>
                          <a:effectLst/>
                          <a:latin typeface="Calibri"/>
                        </a:rPr>
                        <a:t>Introduction to AI and ML,</a:t>
                      </a:r>
                    </a:p>
                  </a:txBody>
                  <a:tcPr marL="68580" marR="68580" marT="34290" marB="34290">
                    <a:lnL w="9525" cap="flat" cmpd="sng" algn="ctr">
                      <a:solidFill>
                        <a:srgbClr val="70AD47"/>
                      </a:solidFill>
                      <a:prstDash val="solid"/>
                      <a:round/>
                      <a:headEnd type="none" w="med" len="med"/>
                      <a:tailEnd type="none" w="med" len="med"/>
                    </a:lnL>
                    <a:lnR w="9525" cap="flat" cmpd="sng" algn="ctr">
                      <a:solidFill>
                        <a:srgbClr val="70AD47"/>
                      </a:solidFill>
                      <a:prstDash val="solid"/>
                      <a:round/>
                      <a:headEnd type="none" w="med" len="med"/>
                      <a:tailEnd type="none" w="med" len="med"/>
                    </a:lnR>
                    <a:lnT w="9525" cap="flat" cmpd="sng" algn="ctr">
                      <a:solidFill>
                        <a:srgbClr val="70AD47"/>
                      </a:solidFill>
                      <a:prstDash val="solid"/>
                      <a:round/>
                      <a:headEnd type="none" w="med" len="med"/>
                      <a:tailEnd type="none" w="med" len="med"/>
                    </a:lnT>
                    <a:lnB w="9525" cap="flat" cmpd="sng" algn="ctr">
                      <a:solidFill>
                        <a:srgbClr val="70AD47"/>
                      </a:solidFill>
                      <a:prstDash val="solid"/>
                      <a:round/>
                      <a:headEnd type="none" w="med" len="med"/>
                      <a:tailEnd type="none" w="med" len="med"/>
                    </a:lnB>
                    <a:noFill/>
                  </a:tcPr>
                </a:tc>
                <a:extLst>
                  <a:ext uri="{0D108BD9-81ED-4DB2-BD59-A6C34878D82A}">
                    <a16:rowId xmlns:a16="http://schemas.microsoft.com/office/drawing/2014/main" val="802733754"/>
                  </a:ext>
                </a:extLst>
              </a:tr>
            </a:tbl>
          </a:graphicData>
        </a:graphic>
      </p:graphicFrame>
    </p:spTree>
    <p:extLst>
      <p:ext uri="{BB962C8B-B14F-4D97-AF65-F5344CB8AC3E}">
        <p14:creationId xmlns:p14="http://schemas.microsoft.com/office/powerpoint/2010/main" val="1296927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a:cs typeface="Calibri"/>
              </a:rPr>
              <a:t>Evaluation Scheme</a:t>
            </a:r>
            <a:endParaRPr lang="en-US" sz="2800"/>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5" name="Table 4">
            <a:extLst>
              <a:ext uri="{FF2B5EF4-FFF2-40B4-BE49-F238E27FC236}">
                <a16:creationId xmlns:a16="http://schemas.microsoft.com/office/drawing/2014/main" id="{A7F9C854-B479-391C-C8C1-A9DD4B059B9C}"/>
              </a:ext>
            </a:extLst>
          </p:cNvPr>
          <p:cNvGraphicFramePr>
            <a:graphicFrameLocks noGrp="1"/>
          </p:cNvGraphicFramePr>
          <p:nvPr>
            <p:extLst>
              <p:ext uri="{D42A27DB-BD31-4B8C-83A1-F6EECF244321}">
                <p14:modId xmlns:p14="http://schemas.microsoft.com/office/powerpoint/2010/main" val="4106429983"/>
              </p:ext>
            </p:extLst>
          </p:nvPr>
        </p:nvGraphicFramePr>
        <p:xfrm>
          <a:off x="517584" y="589471"/>
          <a:ext cx="11239424" cy="6046470"/>
        </p:xfrm>
        <a:graphic>
          <a:graphicData uri="http://schemas.openxmlformats.org/drawingml/2006/table">
            <a:tbl>
              <a:tblPr bandRow="1">
                <a:tableStyleId>{5C22544A-7EE6-4342-B048-85BDC9FD1C3A}</a:tableStyleId>
              </a:tblPr>
              <a:tblGrid>
                <a:gridCol w="490836">
                  <a:extLst>
                    <a:ext uri="{9D8B030D-6E8A-4147-A177-3AD203B41FA5}">
                      <a16:colId xmlns:a16="http://schemas.microsoft.com/office/drawing/2014/main" val="1211476045"/>
                    </a:ext>
                  </a:extLst>
                </a:gridCol>
                <a:gridCol w="490836">
                  <a:extLst>
                    <a:ext uri="{9D8B030D-6E8A-4147-A177-3AD203B41FA5}">
                      <a16:colId xmlns:a16="http://schemas.microsoft.com/office/drawing/2014/main" val="468532989"/>
                    </a:ext>
                  </a:extLst>
                </a:gridCol>
                <a:gridCol w="540631">
                  <a:extLst>
                    <a:ext uri="{9D8B030D-6E8A-4147-A177-3AD203B41FA5}">
                      <a16:colId xmlns:a16="http://schemas.microsoft.com/office/drawing/2014/main" val="538487546"/>
                    </a:ext>
                  </a:extLst>
                </a:gridCol>
                <a:gridCol w="540631">
                  <a:extLst>
                    <a:ext uri="{9D8B030D-6E8A-4147-A177-3AD203B41FA5}">
                      <a16:colId xmlns:a16="http://schemas.microsoft.com/office/drawing/2014/main" val="3901124709"/>
                    </a:ext>
                  </a:extLst>
                </a:gridCol>
                <a:gridCol w="1949125">
                  <a:extLst>
                    <a:ext uri="{9D8B030D-6E8A-4147-A177-3AD203B41FA5}">
                      <a16:colId xmlns:a16="http://schemas.microsoft.com/office/drawing/2014/main" val="1217890662"/>
                    </a:ext>
                  </a:extLst>
                </a:gridCol>
                <a:gridCol w="441039">
                  <a:extLst>
                    <a:ext uri="{9D8B030D-6E8A-4147-A177-3AD203B41FA5}">
                      <a16:colId xmlns:a16="http://schemas.microsoft.com/office/drawing/2014/main" val="4102844423"/>
                    </a:ext>
                  </a:extLst>
                </a:gridCol>
                <a:gridCol w="441039">
                  <a:extLst>
                    <a:ext uri="{9D8B030D-6E8A-4147-A177-3AD203B41FA5}">
                      <a16:colId xmlns:a16="http://schemas.microsoft.com/office/drawing/2014/main" val="3564261122"/>
                    </a:ext>
                  </a:extLst>
                </a:gridCol>
                <a:gridCol w="441039">
                  <a:extLst>
                    <a:ext uri="{9D8B030D-6E8A-4147-A177-3AD203B41FA5}">
                      <a16:colId xmlns:a16="http://schemas.microsoft.com/office/drawing/2014/main" val="3981119708"/>
                    </a:ext>
                  </a:extLst>
                </a:gridCol>
                <a:gridCol w="576198">
                  <a:extLst>
                    <a:ext uri="{9D8B030D-6E8A-4147-A177-3AD203B41FA5}">
                      <a16:colId xmlns:a16="http://schemas.microsoft.com/office/drawing/2014/main" val="3923674139"/>
                    </a:ext>
                  </a:extLst>
                </a:gridCol>
                <a:gridCol w="576198">
                  <a:extLst>
                    <a:ext uri="{9D8B030D-6E8A-4147-A177-3AD203B41FA5}">
                      <a16:colId xmlns:a16="http://schemas.microsoft.com/office/drawing/2014/main" val="1315346813"/>
                    </a:ext>
                  </a:extLst>
                </a:gridCol>
                <a:gridCol w="576198">
                  <a:extLst>
                    <a:ext uri="{9D8B030D-6E8A-4147-A177-3AD203B41FA5}">
                      <a16:colId xmlns:a16="http://schemas.microsoft.com/office/drawing/2014/main" val="1377421499"/>
                    </a:ext>
                  </a:extLst>
                </a:gridCol>
                <a:gridCol w="576198">
                  <a:extLst>
                    <a:ext uri="{9D8B030D-6E8A-4147-A177-3AD203B41FA5}">
                      <a16:colId xmlns:a16="http://schemas.microsoft.com/office/drawing/2014/main" val="4222615615"/>
                    </a:ext>
                  </a:extLst>
                </a:gridCol>
                <a:gridCol w="576198">
                  <a:extLst>
                    <a:ext uri="{9D8B030D-6E8A-4147-A177-3AD203B41FA5}">
                      <a16:colId xmlns:a16="http://schemas.microsoft.com/office/drawing/2014/main" val="1286107774"/>
                    </a:ext>
                  </a:extLst>
                </a:gridCol>
                <a:gridCol w="533516">
                  <a:extLst>
                    <a:ext uri="{9D8B030D-6E8A-4147-A177-3AD203B41FA5}">
                      <a16:colId xmlns:a16="http://schemas.microsoft.com/office/drawing/2014/main" val="2349484126"/>
                    </a:ext>
                  </a:extLst>
                </a:gridCol>
                <a:gridCol w="533516">
                  <a:extLst>
                    <a:ext uri="{9D8B030D-6E8A-4147-A177-3AD203B41FA5}">
                      <a16:colId xmlns:a16="http://schemas.microsoft.com/office/drawing/2014/main" val="3939102175"/>
                    </a:ext>
                  </a:extLst>
                </a:gridCol>
                <a:gridCol w="419699">
                  <a:extLst>
                    <a:ext uri="{9D8B030D-6E8A-4147-A177-3AD203B41FA5}">
                      <a16:colId xmlns:a16="http://schemas.microsoft.com/office/drawing/2014/main" val="2926966081"/>
                    </a:ext>
                  </a:extLst>
                </a:gridCol>
                <a:gridCol w="512176">
                  <a:extLst>
                    <a:ext uri="{9D8B030D-6E8A-4147-A177-3AD203B41FA5}">
                      <a16:colId xmlns:a16="http://schemas.microsoft.com/office/drawing/2014/main" val="4261357908"/>
                    </a:ext>
                  </a:extLst>
                </a:gridCol>
                <a:gridCol w="448153">
                  <a:extLst>
                    <a:ext uri="{9D8B030D-6E8A-4147-A177-3AD203B41FA5}">
                      <a16:colId xmlns:a16="http://schemas.microsoft.com/office/drawing/2014/main" val="3372572606"/>
                    </a:ext>
                  </a:extLst>
                </a:gridCol>
                <a:gridCol w="576198">
                  <a:extLst>
                    <a:ext uri="{9D8B030D-6E8A-4147-A177-3AD203B41FA5}">
                      <a16:colId xmlns:a16="http://schemas.microsoft.com/office/drawing/2014/main" val="1924924452"/>
                    </a:ext>
                  </a:extLst>
                </a:gridCol>
              </a:tblGrid>
              <a:tr h="196016">
                <a:tc rowSpan="2">
                  <a:txBody>
                    <a:bodyPr/>
                    <a:lstStyle/>
                    <a:p>
                      <a:pPr lvl="0" algn="ctr">
                        <a:buNone/>
                      </a:pPr>
                      <a:endParaRPr lang="en-US" sz="1200" b="1">
                        <a:effectLst/>
                        <a:highlight>
                          <a:srgbClr val="FFFFFF"/>
                        </a:highlight>
                        <a:latin typeface="Times New Roman"/>
                      </a:endParaRPr>
                    </a:p>
                  </a:txBody>
                  <a:tcPr marL="36443" marR="36443" marT="9524" anchor="ctr">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rowSpan="2">
                  <a:txBody>
                    <a:bodyPr/>
                    <a:lstStyle/>
                    <a:p>
                      <a:pPr algn="ctr" fontAlgn="base"/>
                      <a:r>
                        <a:rPr lang="en-US" sz="1200" b="1" dirty="0">
                          <a:effectLst/>
                          <a:highlight>
                            <a:srgbClr val="FFFFFF"/>
                          </a:highlight>
                          <a:latin typeface="Times New Roman"/>
                        </a:rPr>
                        <a:t>Sl. No.</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rowSpan="2">
                  <a:txBody>
                    <a:bodyPr/>
                    <a:lstStyle/>
                    <a:p>
                      <a:pPr algn="ctr" fontAlgn="base"/>
                      <a:r>
                        <a:rPr lang="en-US" sz="1200" b="1" dirty="0">
                          <a:effectLst/>
                          <a:highlight>
                            <a:srgbClr val="FFFFFF"/>
                          </a:highlight>
                          <a:latin typeface="Times New Roman"/>
                        </a:rPr>
                        <a:t>Subject</a:t>
                      </a:r>
                      <a:endParaRPr lang="en-US" dirty="0">
                        <a:effectLst/>
                        <a:latin typeface="Times New Roman"/>
                      </a:endParaRPr>
                    </a:p>
                    <a:p>
                      <a:pPr algn="ctr" fontAlgn="base"/>
                      <a:r>
                        <a:rPr lang="en-US" sz="1200" b="1" dirty="0">
                          <a:effectLst/>
                          <a:highlight>
                            <a:srgbClr val="FFFFFF"/>
                          </a:highlight>
                          <a:latin typeface="Times New Roman"/>
                        </a:rPr>
                        <a:t>Codes</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rowSpan="2">
                  <a:txBody>
                    <a:bodyPr/>
                    <a:lstStyle/>
                    <a:p>
                      <a:pPr lvl="0" algn="ctr">
                        <a:buNone/>
                      </a:pPr>
                      <a:endParaRPr lang="en-US" sz="1200" b="1">
                        <a:effectLst/>
                        <a:highlight>
                          <a:srgbClr val="FFFFFF"/>
                        </a:highlight>
                        <a:latin typeface="Times New Roman"/>
                      </a:endParaRPr>
                    </a:p>
                  </a:txBody>
                  <a:tcPr marL="36443" marR="36443"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rowSpan="2">
                  <a:txBody>
                    <a:bodyPr/>
                    <a:lstStyle/>
                    <a:p>
                      <a:pPr algn="ctr" fontAlgn="base"/>
                      <a:r>
                        <a:rPr lang="en-US" sz="1200" b="1" dirty="0">
                          <a:effectLst/>
                          <a:highlight>
                            <a:srgbClr val="FFFFFF"/>
                          </a:highlight>
                          <a:latin typeface="Times New Roman"/>
                        </a:rPr>
                        <a:t>Subject</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4">
                  <a:txBody>
                    <a:bodyPr/>
                    <a:lstStyle/>
                    <a:p>
                      <a:pPr algn="ctr" fontAlgn="base"/>
                      <a:r>
                        <a:rPr lang="en-US" sz="1200" b="1" dirty="0">
                          <a:effectLst/>
                          <a:highlight>
                            <a:srgbClr val="FFFFFF"/>
                          </a:highlight>
                          <a:latin typeface="Times New Roman"/>
                        </a:rPr>
                        <a:t>Periods</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marL="36443" marR="36443" marT="9524" anchor="ctr">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b="1" dirty="0">
                        <a:effectLst/>
                        <a:highlight>
                          <a:srgbClr val="FFFFFF"/>
                        </a:highlight>
                        <a:latin typeface="Times New Roman"/>
                      </a:endParaRPr>
                    </a:p>
                  </a:txBody>
                  <a:tcPr marL="36443" marR="36443"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gridSpan="4">
                  <a:txBody>
                    <a:bodyPr/>
                    <a:lstStyle/>
                    <a:p>
                      <a:pPr algn="ctr" fontAlgn="base"/>
                      <a:r>
                        <a:rPr lang="en-US" sz="1200" b="1" dirty="0">
                          <a:effectLst/>
                          <a:highlight>
                            <a:srgbClr val="FFFFFF"/>
                          </a:highlight>
                          <a:latin typeface="Times New Roman"/>
                        </a:rPr>
                        <a:t>Evaluation Schemes</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ase"/>
                      <a:r>
                        <a:rPr lang="en-US" sz="1200" b="1" dirty="0">
                          <a:effectLst/>
                          <a:highlight>
                            <a:srgbClr val="FFFFFF"/>
                          </a:highlight>
                          <a:latin typeface="Times New Roman"/>
                        </a:rPr>
                        <a:t>End Sem</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rowSpan="2">
                  <a:txBody>
                    <a:bodyPr/>
                    <a:lstStyle/>
                    <a:p>
                      <a:pPr algn="ctr" fontAlgn="base"/>
                      <a:r>
                        <a:rPr lang="en-US" sz="1200" b="1" dirty="0">
                          <a:effectLst/>
                          <a:highlight>
                            <a:srgbClr val="FFFFFF"/>
                          </a:highlight>
                          <a:latin typeface="Times New Roman"/>
                        </a:rPr>
                        <a:t>Total</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rowSpan="2">
                  <a:txBody>
                    <a:bodyPr/>
                    <a:lstStyle/>
                    <a:p>
                      <a:pPr algn="ctr" fontAlgn="base"/>
                      <a:r>
                        <a:rPr lang="en-US" sz="1200" b="1" dirty="0">
                          <a:effectLst/>
                          <a:highlight>
                            <a:srgbClr val="FFFFFF"/>
                          </a:highlight>
                          <a:latin typeface="Times New Roman"/>
                        </a:rPr>
                        <a:t>Credit</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rowSpan="2">
                  <a:txBody>
                    <a:bodyPr/>
                    <a:lstStyle/>
                    <a:p>
                      <a:pPr algn="ctr" fontAlgn="base"/>
                      <a:r>
                        <a:rPr lang="en-US" sz="1200" b="1" dirty="0">
                          <a:effectLst/>
                          <a:highlight>
                            <a:srgbClr val="FFFFFF"/>
                          </a:highlight>
                          <a:latin typeface="Times New Roman"/>
                        </a:rPr>
                        <a:t>Category</a:t>
                      </a:r>
                      <a:endParaRPr lang="en-US" dirty="0">
                        <a:effectLst/>
                        <a:latin typeface="Times New Roman"/>
                      </a:endParaRPr>
                    </a:p>
                    <a:p>
                      <a:pPr algn="ctr" fontAlgn="base"/>
                      <a:r>
                        <a:rPr lang="en-US" sz="1200" b="1" dirty="0">
                          <a:effectLst/>
                          <a:highlight>
                            <a:srgbClr val="FFFFFF"/>
                          </a:highlight>
                          <a:latin typeface="Times New Roman"/>
                        </a:rPr>
                        <a:t>Type</a:t>
                      </a:r>
                      <a:endParaRPr lang="en-US" dirty="0">
                        <a:effectLst/>
                        <a:latin typeface="Times New Roman"/>
                      </a:endParaRPr>
                    </a:p>
                  </a:txBody>
                  <a:tcPr marL="36443" marR="36443" marT="95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2533885"/>
                  </a:ext>
                </a:extLst>
              </a:tr>
              <a:tr h="19601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base"/>
                      <a:r>
                        <a:rPr lang="en-US" sz="1200" b="1" dirty="0">
                          <a:effectLst/>
                          <a:highlight>
                            <a:srgbClr val="FFFFFF"/>
                          </a:highlight>
                          <a:latin typeface="Times New Roman"/>
                        </a:rPr>
                        <a:t>L</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200" b="1" dirty="0">
                        <a:effectLst/>
                        <a:highlight>
                          <a:srgbClr val="FFFFFF"/>
                        </a:highlight>
                        <a:latin typeface="Times New Roman"/>
                      </a:endParaRPr>
                    </a:p>
                  </a:txBody>
                  <a:tcPr marL="36443" marR="36443"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200" b="1" dirty="0">
                          <a:effectLst/>
                          <a:highlight>
                            <a:srgbClr val="FFFFFF"/>
                          </a:highlight>
                          <a:latin typeface="Times New Roman"/>
                        </a:rPr>
                        <a:t>T</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P</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200" b="1" dirty="0">
                        <a:effectLst/>
                        <a:highlight>
                          <a:srgbClr val="FFFFFF"/>
                        </a:highlight>
                        <a:latin typeface="Times New Roman"/>
                      </a:endParaRPr>
                    </a:p>
                  </a:txBody>
                  <a:tcPr marL="36443" marR="36443"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200" b="1" dirty="0">
                          <a:effectLst/>
                          <a:highlight>
                            <a:srgbClr val="FFFFFF"/>
                          </a:highlight>
                          <a:latin typeface="Times New Roman"/>
                        </a:rPr>
                        <a:t>CT</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TA</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TOTAL</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PS</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TE</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200" b="1" dirty="0">
                          <a:effectLst/>
                          <a:highlight>
                            <a:srgbClr val="FFFFFF"/>
                          </a:highlight>
                          <a:latin typeface="Times New Roman"/>
                        </a:rPr>
                        <a:t>PE</a:t>
                      </a:r>
                      <a:endParaRPr lang="en-US" dirty="0">
                        <a:effectLst/>
                        <a:latin typeface="Times New Roman"/>
                      </a:endParaRPr>
                    </a:p>
                  </a:txBody>
                  <a:tcPr marL="36443" marR="36443"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312552128"/>
                  </a:ext>
                </a:extLst>
              </a:tr>
              <a:tr h="266022">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1</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Statistics &amp; Probability</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1</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4</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BSC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39854563"/>
                  </a:ext>
                </a:extLst>
              </a:tr>
              <a:tr h="266022">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2</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Discrete Structures</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1</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4</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BSC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98418554"/>
                  </a:ext>
                </a:extLst>
              </a:tr>
              <a:tr h="406034">
                <a:tc>
                  <a:txBody>
                    <a:bodyPr/>
                    <a:lstStyle/>
                    <a:p>
                      <a:pPr lvl="0" algn="ctr">
                        <a:buNone/>
                      </a:pPr>
                      <a:endParaRPr lang="en-US" sz="1400" b="1">
                        <a:effectLst/>
                        <a:highlight>
                          <a:srgbClr val="FBE5D6"/>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BE5D6"/>
                    </a:solidFill>
                  </a:tcPr>
                </a:tc>
                <a:tc>
                  <a:txBody>
                    <a:bodyPr/>
                    <a:lstStyle/>
                    <a:p>
                      <a:pPr algn="ctr" fontAlgn="base"/>
                      <a:r>
                        <a:rPr lang="en-US" sz="1400" b="1" dirty="0">
                          <a:effectLst/>
                          <a:highlight>
                            <a:srgbClr val="FBE5D6"/>
                          </a:highlight>
                          <a:latin typeface="Times New Roman"/>
                        </a:rPr>
                        <a:t>3</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fontAlgn="auto"/>
                      <a:endParaRPr lang="en-US" sz="1800">
                        <a:effectLst/>
                        <a:highlight>
                          <a:srgbClr val="FBE5D6"/>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lvl="0">
                        <a:buNone/>
                      </a:pPr>
                      <a:endParaRPr lang="en-US" sz="1800">
                        <a:effectLst/>
                        <a:highlight>
                          <a:srgbClr val="FBE5D6"/>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BE5D6"/>
                    </a:solidFill>
                  </a:tcPr>
                </a:tc>
                <a:tc>
                  <a:txBody>
                    <a:bodyPr/>
                    <a:lstStyle/>
                    <a:p>
                      <a:pPr fontAlgn="base"/>
                      <a:r>
                        <a:rPr lang="en-US" sz="1400" b="1" dirty="0">
                          <a:effectLst/>
                          <a:highlight>
                            <a:srgbClr val="FBE5D6"/>
                          </a:highlight>
                          <a:latin typeface="Times New Roman"/>
                        </a:rPr>
                        <a:t>Artificial Intelligence &amp; Machine Learning</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lvl="0" algn="ctr">
                        <a:buNone/>
                      </a:pPr>
                      <a:endParaRPr lang="en-US" sz="1400" b="1" dirty="0">
                        <a:effectLst/>
                        <a:highlight>
                          <a:srgbClr val="FBE5D6"/>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BE5D6"/>
                    </a:solidFill>
                  </a:tcPr>
                </a:tc>
                <a:tc>
                  <a:txBody>
                    <a:bodyPr/>
                    <a:lstStyle/>
                    <a:p>
                      <a:pPr algn="ctr" fontAlgn="base"/>
                      <a:r>
                        <a:rPr lang="en-US" sz="1400" b="1" dirty="0">
                          <a:effectLst/>
                          <a:highlight>
                            <a:srgbClr val="FBE5D6"/>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lvl="0" algn="ctr">
                        <a:buNone/>
                      </a:pPr>
                      <a:endParaRPr lang="en-US" sz="1400" b="1" dirty="0">
                        <a:effectLst/>
                        <a:highlight>
                          <a:srgbClr val="FBE5D6"/>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BE5D6"/>
                    </a:solidFill>
                  </a:tcPr>
                </a:tc>
                <a:tc>
                  <a:txBody>
                    <a:bodyPr/>
                    <a:lstStyle/>
                    <a:p>
                      <a:pPr algn="ctr" fontAlgn="base"/>
                      <a:r>
                        <a:rPr lang="en-US" sz="1400" b="1" dirty="0">
                          <a:effectLst/>
                          <a:highlight>
                            <a:srgbClr val="FBE5D6"/>
                          </a:highlight>
                          <a:latin typeface="Times New Roman"/>
                        </a:rPr>
                        <a:t>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fontAlgn="auto"/>
                      <a:endParaRPr lang="en-US" sz="1800">
                        <a:effectLst/>
                        <a:highlight>
                          <a:srgbClr val="FBE5D6"/>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fontAlgn="auto"/>
                      <a:endParaRPr lang="en-US" sz="1800">
                        <a:effectLst/>
                        <a:highlight>
                          <a:srgbClr val="FBE5D6"/>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tc>
                  <a:txBody>
                    <a:bodyPr/>
                    <a:lstStyle/>
                    <a:p>
                      <a:pPr algn="ctr" fontAlgn="base"/>
                      <a:r>
                        <a:rPr lang="en-US" sz="1400" b="1" dirty="0">
                          <a:effectLst/>
                          <a:highlight>
                            <a:srgbClr val="FBE5D6"/>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BE5D6"/>
                    </a:solidFill>
                  </a:tcPr>
                </a:tc>
                <a:extLst>
                  <a:ext uri="{0D108BD9-81ED-4DB2-BD59-A6C34878D82A}">
                    <a16:rowId xmlns:a16="http://schemas.microsoft.com/office/drawing/2014/main" val="1736636316"/>
                  </a:ext>
                </a:extLst>
              </a:tr>
              <a:tr h="406034">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4</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Data Structures &amp; Algorithm-I</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338058"/>
                  </a:ext>
                </a:extLst>
              </a:tr>
              <a:tr h="406034">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5</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Logic Design and Computer Architecture</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03675488"/>
                  </a:ext>
                </a:extLst>
              </a:tr>
              <a:tr h="406034">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6</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Object Oriented Techniques using Java</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6</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3</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76941776"/>
                  </a:ext>
                </a:extLst>
              </a:tr>
              <a:tr h="406034">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7</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Artificial Intelligence &amp; Machine Learning Lab</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6047197"/>
                  </a:ext>
                </a:extLst>
              </a:tr>
              <a:tr h="406034">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8</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Data Structures &amp; Algorithm-I Lab</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4</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25</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25</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PCC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0020918"/>
                  </a:ext>
                </a:extLst>
              </a:tr>
              <a:tr h="266022">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9</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Internship Assessment- I</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PW</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01361463"/>
                  </a:ext>
                </a:extLst>
              </a:tr>
              <a:tr h="588050">
                <a:tc>
                  <a:txBody>
                    <a:bodyPr/>
                    <a:lstStyle/>
                    <a:p>
                      <a:pPr lvl="0" algn="ctr">
                        <a:buNone/>
                      </a:pPr>
                      <a:endParaRPr lang="en-US" sz="1400" b="1">
                        <a:effectLst/>
                        <a:highlight>
                          <a:srgbClr val="FFFFFF"/>
                        </a:highlight>
                        <a:latin typeface="Times New Roman"/>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10</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buNone/>
                      </a:pPr>
                      <a:endParaRPr lang="en-US" sz="1800">
                        <a:effectLst/>
                        <a:highlight>
                          <a:srgbClr val="FFFFFF"/>
                        </a:highlight>
                        <a:latin typeface="Arial"/>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AI &amp; Cyber Ethics / Environmental Science *(Non Crédit)</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400" b="1" dirty="0">
                        <a:effectLst/>
                        <a:highlight>
                          <a:srgbClr val="FFFFFF"/>
                        </a:highlight>
                        <a:latin typeface="Times New Roman"/>
                      </a:endParaRPr>
                    </a:p>
                  </a:txBody>
                  <a:tcPr marL="25146" marR="25146" marT="9524" anchor="ctr">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base"/>
                      <a:r>
                        <a:rPr lang="en-US" sz="1400" b="1" dirty="0">
                          <a:effectLst/>
                          <a:highlight>
                            <a:srgbClr val="FFFFFF"/>
                          </a:highlight>
                          <a:latin typeface="Times New Roman"/>
                        </a:rPr>
                        <a:t>  30</a:t>
                      </a:r>
                      <a:endParaRPr lang="en-US" dirty="0">
                        <a:effectLst/>
                        <a:latin typeface="Times New Roman"/>
                      </a:endParaRPr>
                    </a:p>
                  </a:txBody>
                  <a:tcPr marL="25146" marR="25146"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50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100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0</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NC</a:t>
                      </a:r>
                      <a:endParaRPr lang="en-US" dirty="0">
                        <a:effectLst/>
                        <a:latin typeface="Times New Roman"/>
                      </a:endParaRPr>
                    </a:p>
                  </a:txBody>
                  <a:tcPr marL="25146" marR="25146" marT="95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8321465"/>
                  </a:ext>
                </a:extLst>
              </a:tr>
              <a:tr h="406034">
                <a:tc>
                  <a:txBody>
                    <a:bodyPr/>
                    <a:lstStyle/>
                    <a:p>
                      <a:pPr lvl="0" algn="ctr">
                        <a:buNone/>
                      </a:pPr>
                      <a:endParaRPr lang="en-US" sz="1800">
                        <a:effectLst/>
                        <a:highlight>
                          <a:srgbClr val="FFFFFF"/>
                        </a:highlight>
                        <a:latin typeface="Arial"/>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a:effectLst/>
                        <a:highlight>
                          <a:srgbClr val="FFFFFF"/>
                        </a:highlight>
                        <a:latin typeface="Times New Roman"/>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MOOCs (For B.Tech. Hons. Degree)</a:t>
                      </a:r>
                      <a:endParaRPr lang="en-US" dirty="0">
                        <a:effectLst/>
                        <a:latin typeface="Times New Roman"/>
                      </a:endParaRPr>
                    </a:p>
                  </a:txBody>
                  <a:tcPr marL="36443" marR="36443" marT="9525" anchor="ctr">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dirty="0">
                        <a:effectLst/>
                        <a:highlight>
                          <a:srgbClr val="FFFFFF"/>
                        </a:highlight>
                        <a:latin typeface="Times New Roman"/>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dirty="0">
                        <a:effectLst/>
                        <a:highlight>
                          <a:srgbClr val="FFFFFF"/>
                        </a:highlight>
                        <a:latin typeface="Times New Roman"/>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4979878"/>
                  </a:ext>
                </a:extLst>
              </a:tr>
              <a:tr h="266022">
                <a:tc>
                  <a:txBody>
                    <a:bodyPr/>
                    <a:lstStyle/>
                    <a:p>
                      <a:pPr lvl="0" algn="ctr">
                        <a:buNone/>
                      </a:pPr>
                      <a:endParaRPr lang="en-US" sz="1800">
                        <a:effectLst/>
                        <a:highlight>
                          <a:srgbClr val="FFFFFF"/>
                        </a:highlight>
                        <a:latin typeface="Arial"/>
                      </a:endParaRPr>
                    </a:p>
                  </a:txBody>
                  <a:tcPr marL="36443" marR="36443" marT="9524" anchor="b">
                    <a:lnL w="9524">
                      <a:solidFill>
                        <a:srgbClr val="000000"/>
                      </a:solidFill>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a:effectLst/>
                        <a:highlight>
                          <a:srgbClr val="FFFFFF"/>
                        </a:highlight>
                        <a:latin typeface="Arial"/>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fontAlgn="base"/>
                      <a:r>
                        <a:rPr lang="en-US" sz="1400" b="1" dirty="0">
                          <a:effectLst/>
                          <a:highlight>
                            <a:srgbClr val="FFFFFF"/>
                          </a:highlight>
                          <a:latin typeface="Times New Roman"/>
                        </a:rPr>
                        <a:t>TOTAL</a:t>
                      </a:r>
                      <a:endParaRPr lang="en-US" dirty="0">
                        <a:effectLst/>
                        <a:latin typeface="Times New Roman"/>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dirty="0">
                        <a:effectLst/>
                        <a:highlight>
                          <a:srgbClr val="FFFFFF"/>
                        </a:highlight>
                        <a:latin typeface="Arial"/>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ctr">
                        <a:buNone/>
                      </a:pPr>
                      <a:endParaRPr lang="en-US" sz="1800" dirty="0">
                        <a:effectLst/>
                        <a:highlight>
                          <a:srgbClr val="FFFFFF"/>
                        </a:highlight>
                        <a:latin typeface="Arial"/>
                      </a:endParaRPr>
                    </a:p>
                  </a:txBody>
                  <a:tcPr marL="36443" marR="36443" marT="9524" anchor="b">
                    <a:lnL w="9525" cap="flat" cmpd="sng" algn="ctr">
                      <a:solidFill>
                        <a:srgbClr val="000000"/>
                      </a:solidFill>
                      <a:prstDash val="solid"/>
                      <a:round/>
                      <a:headEnd type="none" w="med" len="med"/>
                      <a:tailEnd type="none" w="med" len="med"/>
                    </a:lnL>
                    <a:lnR w="9524">
                      <a:solidFill>
                        <a:srgbClr val="000000"/>
                      </a:solidFill>
                    </a:lnR>
                    <a:lnT w="9524">
                      <a:solidFill>
                        <a:srgbClr val="000000"/>
                      </a:solidFill>
                    </a:lnT>
                    <a:lnB w="9524">
                      <a:solidFill>
                        <a:srgbClr val="000000"/>
                      </a:solidFill>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4"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Arial" panose="020B0604020202020204" pitchFamily="34" charset="0"/>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1100</a:t>
                      </a:r>
                      <a:endParaRPr lang="en-US" dirty="0">
                        <a:effectLst/>
                        <a:latin typeface="Times New Roman"/>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US" sz="1400" b="1" dirty="0">
                          <a:effectLst/>
                          <a:highlight>
                            <a:srgbClr val="FFFFFF"/>
                          </a:highlight>
                          <a:latin typeface="Times New Roman"/>
                        </a:rPr>
                        <a:t>24</a:t>
                      </a:r>
                      <a:endParaRPr lang="en-US" dirty="0">
                        <a:effectLst/>
                        <a:latin typeface="Times New Roman"/>
                      </a:endParaRPr>
                    </a:p>
                  </a:txBody>
                  <a:tcPr marL="36443" marR="36443" marT="95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auto"/>
                      <a:endParaRPr lang="en-US" sz="1800">
                        <a:effectLst/>
                        <a:highlight>
                          <a:srgbClr val="FFFFFF"/>
                        </a:highlight>
                        <a:latin typeface="Times New Roman" panose="02020603050405020304" pitchFamily="18" charset="0"/>
                      </a:endParaRPr>
                    </a:p>
                  </a:txBody>
                  <a:tcPr marL="36443" marR="36443" marT="95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05269560"/>
                  </a:ext>
                </a:extLst>
              </a:tr>
            </a:tbl>
          </a:graphicData>
        </a:graphic>
      </p:graphicFrame>
    </p:spTree>
    <p:extLst>
      <p:ext uri="{BB962C8B-B14F-4D97-AF65-F5344CB8AC3E}">
        <p14:creationId xmlns:p14="http://schemas.microsoft.com/office/powerpoint/2010/main" val="683742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Syllabus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p:cNvSpPr txBox="1"/>
          <p:nvPr/>
        </p:nvSpPr>
        <p:spPr>
          <a:xfrm>
            <a:off x="2026039" y="2058852"/>
            <a:ext cx="8413361" cy="2862322"/>
          </a:xfrm>
          <a:prstGeom prst="rect">
            <a:avLst/>
          </a:prstGeom>
        </p:spPr>
        <p:style>
          <a:lnRef idx="1">
            <a:schemeClr val="accent2"/>
          </a:lnRef>
          <a:fillRef idx="2">
            <a:schemeClr val="accent2"/>
          </a:fillRef>
          <a:effectRef idx="1">
            <a:schemeClr val="accent2"/>
          </a:effectRef>
          <a:fontRef idx="minor">
            <a:schemeClr val="dk1"/>
          </a:fontRef>
        </p:style>
        <p:txBody>
          <a:bodyPr wrap="square" lIns="91440" tIns="45720" rIns="91440" bIns="45720" rtlCol="0" anchor="t">
            <a:spAutoFit/>
          </a:bodyPr>
          <a:lstStyle/>
          <a:p>
            <a:r>
              <a:rPr lang="en-GB" b="1"/>
              <a:t>UNIT-1   Introduction to AI and Machine Learning</a:t>
            </a:r>
            <a:endParaRPr lang="en-US" b="1">
              <a:ea typeface="Calibri"/>
              <a:cs typeface="Calibri"/>
            </a:endParaRPr>
          </a:p>
          <a:p>
            <a:endParaRPr lang="en-GB" b="1"/>
          </a:p>
          <a:p>
            <a:r>
              <a:rPr lang="en-US">
                <a:solidFill>
                  <a:srgbClr val="444444"/>
                </a:solidFill>
                <a:latin typeface="Times New Roman"/>
                <a:ea typeface="Calibri"/>
                <a:cs typeface="Calibri"/>
              </a:rPr>
              <a:t>Introduction to AI and Intelligent agent, Different Approaches of AI, </a:t>
            </a:r>
          </a:p>
          <a:p>
            <a:r>
              <a:rPr lang="en-US">
                <a:solidFill>
                  <a:srgbClr val="444444"/>
                </a:solidFill>
                <a:latin typeface="Times New Roman"/>
                <a:ea typeface="Calibri"/>
                <a:cs typeface="Calibri"/>
              </a:rPr>
              <a:t>Problem Solving by searching Techniques: </a:t>
            </a:r>
          </a:p>
          <a:p>
            <a:r>
              <a:rPr lang="en-US">
                <a:solidFill>
                  <a:srgbClr val="444444"/>
                </a:solidFill>
                <a:latin typeface="Times New Roman"/>
                <a:ea typeface="Calibri"/>
                <a:cs typeface="Calibri"/>
              </a:rPr>
              <a:t>Uninformed search- BFS, DFS, Iterative deepening, Bidirectional search, </a:t>
            </a:r>
          </a:p>
          <a:p>
            <a:r>
              <a:rPr lang="en-US">
                <a:solidFill>
                  <a:srgbClr val="444444"/>
                </a:solidFill>
                <a:latin typeface="Times New Roman"/>
                <a:ea typeface="Calibri"/>
                <a:cs typeface="Calibri"/>
              </a:rPr>
              <a:t>Informed search- Iterative deepening, Bidirectional search, Heuristic search, Greedy Best First Search, A* search, Local Search Algorithms-Hill Climbing and Simulated Annealing Adversarial Search- </a:t>
            </a:r>
          </a:p>
          <a:p>
            <a:r>
              <a:rPr lang="en-US">
                <a:solidFill>
                  <a:srgbClr val="444444"/>
                </a:solidFill>
                <a:latin typeface="Times New Roman"/>
                <a:ea typeface="Calibri"/>
                <a:cs typeface="Calibri"/>
              </a:rPr>
              <a:t>Game Playing- minimax, alpha-beta pru</a:t>
            </a:r>
            <a:r>
              <a:rPr lang="en-US">
                <a:solidFill>
                  <a:srgbClr val="444444"/>
                </a:solidFill>
                <a:ea typeface="Calibri"/>
                <a:cs typeface="Calibri"/>
              </a:rPr>
              <a:t>ning, </a:t>
            </a:r>
          </a:p>
          <a:p>
            <a:r>
              <a:rPr lang="en-US">
                <a:solidFill>
                  <a:srgbClr val="444444"/>
                </a:solidFill>
                <a:ea typeface="Calibri"/>
                <a:cs typeface="Calibri"/>
              </a:rPr>
              <a:t>constraint satisfaction problems</a:t>
            </a:r>
            <a:endParaRPr lang="en-US">
              <a:ea typeface="Calibri"/>
              <a:cs typeface="Calibri"/>
            </a:endParaRPr>
          </a:p>
        </p:txBody>
      </p:sp>
    </p:spTree>
    <p:extLst>
      <p:ext uri="{BB962C8B-B14F-4D97-AF65-F5344CB8AC3E}">
        <p14:creationId xmlns:p14="http://schemas.microsoft.com/office/powerpoint/2010/main" val="4278920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D1C5-6DD5-052A-87B0-D08BEC9A164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D259079-8090-F8D7-0DD2-E5513C8E28EA}"/>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Syllabus</a:t>
            </a:r>
          </a:p>
        </p:txBody>
      </p:sp>
      <p:pic>
        <p:nvPicPr>
          <p:cNvPr id="2" name="Picture 1" descr="A black and red logo&#10;&#10;Description automatically generated">
            <a:extLst>
              <a:ext uri="{FF2B5EF4-FFF2-40B4-BE49-F238E27FC236}">
                <a16:creationId xmlns:a16="http://schemas.microsoft.com/office/drawing/2014/main" id="{E3A70235-125F-A562-2A03-5D24BD099F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a:extLst>
              <a:ext uri="{FF2B5EF4-FFF2-40B4-BE49-F238E27FC236}">
                <a16:creationId xmlns:a16="http://schemas.microsoft.com/office/drawing/2014/main" id="{E1D7F4A8-9776-91D2-BFD5-01B9C9E395D6}"/>
              </a:ext>
            </a:extLst>
          </p:cNvPr>
          <p:cNvSpPr txBox="1"/>
          <p:nvPr/>
        </p:nvSpPr>
        <p:spPr>
          <a:xfrm>
            <a:off x="2026039" y="2058852"/>
            <a:ext cx="8413361" cy="258532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a:t>UNIT-2   </a:t>
            </a:r>
            <a:r>
              <a:rPr lang="en-US" b="1"/>
              <a:t>Machine Learning &amp; Feature Engineering</a:t>
            </a:r>
            <a:endParaRPr lang="en-US"/>
          </a:p>
          <a:p>
            <a:endParaRPr lang="en-GB" b="1"/>
          </a:p>
          <a:p>
            <a:endParaRPr lang="en-GB"/>
          </a:p>
          <a:p>
            <a:r>
              <a:rPr lang="en-GB"/>
              <a:t>Introduction to Machine Learning, Types of Machine Learning, </a:t>
            </a:r>
            <a:endParaRPr lang="en-US"/>
          </a:p>
          <a:p>
            <a:r>
              <a:rPr lang="en-GB" b="1"/>
              <a:t>Feature Engineering</a:t>
            </a:r>
            <a:r>
              <a:rPr lang="en-GB"/>
              <a:t>: Features and their types, handing missing data,</a:t>
            </a:r>
          </a:p>
          <a:p>
            <a:r>
              <a:rPr lang="en-GB"/>
              <a:t> Dealing with categorical features, </a:t>
            </a:r>
            <a:endParaRPr lang="en-US"/>
          </a:p>
          <a:p>
            <a:r>
              <a:rPr lang="en-GB" b="1"/>
              <a:t>Working with features:</a:t>
            </a:r>
            <a:r>
              <a:rPr lang="en-GB"/>
              <a:t> Feature Scaling, Feature selection, </a:t>
            </a:r>
            <a:endParaRPr lang="en-US"/>
          </a:p>
          <a:p>
            <a:r>
              <a:rPr lang="en-GB" b="1"/>
              <a:t>Feature Extraction:</a:t>
            </a:r>
            <a:r>
              <a:rPr lang="en-GB"/>
              <a:t> Principal Component Analysis (PCA) algorithm</a:t>
            </a:r>
            <a:endParaRPr lang="en-US"/>
          </a:p>
          <a:p>
            <a:endParaRPr lang="en-US"/>
          </a:p>
        </p:txBody>
      </p:sp>
    </p:spTree>
    <p:extLst>
      <p:ext uri="{BB962C8B-B14F-4D97-AF65-F5344CB8AC3E}">
        <p14:creationId xmlns:p14="http://schemas.microsoft.com/office/powerpoint/2010/main" val="4063246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Syllabus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p:cNvSpPr txBox="1"/>
          <p:nvPr/>
        </p:nvSpPr>
        <p:spPr>
          <a:xfrm>
            <a:off x="2026039" y="2058852"/>
            <a:ext cx="8413361" cy="286232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a:t>UNIT-3   </a:t>
            </a:r>
            <a:r>
              <a:rPr lang="en-US" b="1"/>
              <a:t>Supervised Learning</a:t>
            </a:r>
            <a:endParaRPr lang="en-US"/>
          </a:p>
          <a:p>
            <a:endParaRPr lang="en-GB" b="1"/>
          </a:p>
          <a:p>
            <a:endParaRPr lang="en-GB"/>
          </a:p>
          <a:p>
            <a:r>
              <a:rPr lang="en-IN" b="1"/>
              <a:t>Regression &amp; Classification: </a:t>
            </a:r>
            <a:r>
              <a:rPr lang="en-IN"/>
              <a:t>Types of regression (Univariate, Multivariate, Polynomial), Mean Square Error, R square error, </a:t>
            </a:r>
            <a:endParaRPr lang="en-US"/>
          </a:p>
          <a:p>
            <a:r>
              <a:rPr lang="en-IN"/>
              <a:t>Logistic Regression</a:t>
            </a:r>
            <a:endParaRPr lang="en-US"/>
          </a:p>
          <a:p>
            <a:r>
              <a:rPr lang="en-US" b="1"/>
              <a:t>Regularization:</a:t>
            </a:r>
            <a:r>
              <a:rPr lang="en-US"/>
              <a:t> </a:t>
            </a:r>
            <a:r>
              <a:rPr lang="en-IN"/>
              <a:t>Bias and Variance, Overfitting and </a:t>
            </a:r>
            <a:r>
              <a:rPr lang="en-IN" err="1"/>
              <a:t>Underfitting</a:t>
            </a:r>
            <a:r>
              <a:rPr lang="en-IN"/>
              <a:t>, L1 and L2 Regularization, Regularized Linear Regression</a:t>
            </a:r>
            <a:endParaRPr lang="en-US"/>
          </a:p>
          <a:p>
            <a:r>
              <a:rPr lang="en-IN"/>
              <a:t>Decision Trees (ID3, C4.5, CART), Confusion matrix, k-folds cross-validation,</a:t>
            </a:r>
            <a:endParaRPr lang="en-US"/>
          </a:p>
          <a:p>
            <a:r>
              <a:rPr lang="en-IN"/>
              <a:t> K Nearest Neighbour, Support vector machine</a:t>
            </a:r>
            <a:endParaRPr lang="en-US"/>
          </a:p>
        </p:txBody>
      </p:sp>
    </p:spTree>
    <p:extLst>
      <p:ext uri="{BB962C8B-B14F-4D97-AF65-F5344CB8AC3E}">
        <p14:creationId xmlns:p14="http://schemas.microsoft.com/office/powerpoint/2010/main" val="980155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3483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Syllabus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p:cNvSpPr txBox="1"/>
          <p:nvPr/>
        </p:nvSpPr>
        <p:spPr>
          <a:xfrm>
            <a:off x="2026039" y="2058852"/>
            <a:ext cx="8413361"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a:t>UNIT-4   Unsupervised Machine Learning </a:t>
            </a:r>
          </a:p>
          <a:p>
            <a:endParaRPr lang="en-GB"/>
          </a:p>
          <a:p>
            <a:r>
              <a:rPr lang="en-IN"/>
              <a:t>Introduction to clustering, </a:t>
            </a:r>
            <a:r>
              <a:rPr lang="en-IN" b="1"/>
              <a:t>Types of clustering:</a:t>
            </a:r>
            <a:r>
              <a:rPr lang="en-IN"/>
              <a:t> </a:t>
            </a:r>
            <a:endParaRPr lang="en-US"/>
          </a:p>
          <a:p>
            <a:r>
              <a:rPr lang="en-IN"/>
              <a:t>K-means clustering, K-mode, K-</a:t>
            </a:r>
            <a:r>
              <a:rPr lang="en-IN" err="1"/>
              <a:t>medoid</a:t>
            </a:r>
            <a:r>
              <a:rPr lang="en-IN"/>
              <a:t>, hierarchical clustering, single-linkage, multiple linkage, AGNES and DIANA algorithms, Gaussian mixture models </a:t>
            </a:r>
            <a:endParaRPr lang="en-US"/>
          </a:p>
          <a:p>
            <a:r>
              <a:rPr lang="en-GB"/>
              <a:t>density based clustering, DBSCAN</a:t>
            </a:r>
            <a:endParaRPr lang="en-US"/>
          </a:p>
        </p:txBody>
      </p:sp>
    </p:spTree>
    <p:extLst>
      <p:ext uri="{BB962C8B-B14F-4D97-AF65-F5344CB8AC3E}">
        <p14:creationId xmlns:p14="http://schemas.microsoft.com/office/powerpoint/2010/main" val="433680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Syllabus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p:cNvSpPr txBox="1"/>
          <p:nvPr/>
        </p:nvSpPr>
        <p:spPr>
          <a:xfrm>
            <a:off x="2026039" y="2058852"/>
            <a:ext cx="8413361" cy="258532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dirty="0"/>
              <a:t>UNIT-5   Ensemble &amp; Reinforcement Learning</a:t>
            </a:r>
            <a:endParaRPr lang="en-US" dirty="0"/>
          </a:p>
          <a:p>
            <a:endParaRPr lang="en-GB"/>
          </a:p>
          <a:p>
            <a:r>
              <a:rPr lang="en-IN" b="1" dirty="0"/>
              <a:t>Probabilistic learning</a:t>
            </a:r>
            <a:endParaRPr lang="en-US" dirty="0"/>
          </a:p>
          <a:p>
            <a:r>
              <a:rPr lang="en-IN" dirty="0"/>
              <a:t>:Bayesian Learning, Naive Bayes Classifier, Bayesian belief networks</a:t>
            </a:r>
            <a:endParaRPr lang="en-US" dirty="0"/>
          </a:p>
          <a:p>
            <a:r>
              <a:rPr lang="en-GB" b="1" dirty="0"/>
              <a:t>Ensembles Learning</a:t>
            </a:r>
            <a:endParaRPr lang="en-US" dirty="0"/>
          </a:p>
          <a:p>
            <a:r>
              <a:rPr lang="en-IN" dirty="0"/>
              <a:t>Random Forest, Gradient Boosting, </a:t>
            </a:r>
            <a:r>
              <a:rPr lang="en-IN" dirty="0" err="1"/>
              <a:t>XGBoost</a:t>
            </a:r>
            <a:r>
              <a:rPr lang="en-IN" dirty="0"/>
              <a:t>.</a:t>
            </a:r>
            <a:endParaRPr lang="en-US" dirty="0"/>
          </a:p>
          <a:p>
            <a:r>
              <a:rPr lang="en-GB" b="1" dirty="0"/>
              <a:t>Reinforcement Learning:</a:t>
            </a:r>
            <a:r>
              <a:rPr lang="en-GB" dirty="0"/>
              <a:t> </a:t>
            </a:r>
            <a:endParaRPr lang="en-US" dirty="0"/>
          </a:p>
          <a:p>
            <a:r>
              <a:rPr lang="en-GB" dirty="0"/>
              <a:t>Introduction to reinforcement learning, models of reinforcement learning: Markov decision process,  Q-learning. </a:t>
            </a:r>
            <a:endParaRPr lang="en-US" dirty="0"/>
          </a:p>
        </p:txBody>
      </p:sp>
    </p:spTree>
    <p:extLst>
      <p:ext uri="{BB962C8B-B14F-4D97-AF65-F5344CB8AC3E}">
        <p14:creationId xmlns:p14="http://schemas.microsoft.com/office/powerpoint/2010/main" val="4102961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43001"/>
            <a:ext cx="8077200" cy="4525963"/>
          </a:xfrm>
        </p:spPr>
        <p:txBody>
          <a:bodyPr>
            <a:normAutofit lnSpcReduction="10000"/>
          </a:bodyPr>
          <a:lstStyle/>
          <a:p>
            <a:r>
              <a:rPr lang="en-US" sz="2400"/>
              <a:t>Maps and Navigation </a:t>
            </a:r>
          </a:p>
          <a:p>
            <a:r>
              <a:rPr lang="en-US" sz="2400"/>
              <a:t>Computer Vision</a:t>
            </a:r>
          </a:p>
          <a:p>
            <a:r>
              <a:rPr lang="en-US" sz="2400"/>
              <a:t>Facial Detection and Recognition</a:t>
            </a:r>
          </a:p>
          <a:p>
            <a:r>
              <a:rPr lang="en-US" sz="2400"/>
              <a:t>Text Editors or Autocorrect</a:t>
            </a:r>
          </a:p>
          <a:p>
            <a:r>
              <a:rPr lang="en-US" sz="2400"/>
              <a:t>Search and Recommendation Algorithms </a:t>
            </a:r>
          </a:p>
          <a:p>
            <a:r>
              <a:rPr lang="en-US" sz="2400" err="1"/>
              <a:t>Chatbots</a:t>
            </a:r>
            <a:endParaRPr lang="en-US" sz="2400"/>
          </a:p>
          <a:p>
            <a:r>
              <a:rPr lang="en-US" sz="2400"/>
              <a:t>Digital Assistants</a:t>
            </a:r>
          </a:p>
          <a:p>
            <a:r>
              <a:rPr lang="en-US" sz="2400"/>
              <a:t>Social Media</a:t>
            </a:r>
          </a:p>
          <a:p>
            <a:r>
              <a:rPr lang="en-US" sz="2400"/>
              <a:t>E-Payments</a:t>
            </a:r>
          </a:p>
          <a:p>
            <a:r>
              <a:rPr lang="en-US" sz="2400"/>
              <a:t>Digital Advertising</a:t>
            </a:r>
          </a:p>
        </p:txBody>
      </p:sp>
      <p:sp>
        <p:nvSpPr>
          <p:cNvPr id="8" name="Title 1"/>
          <p:cNvSpPr txBox="1">
            <a:spLocks/>
          </p:cNvSpPr>
          <p:nvPr/>
        </p:nvSpPr>
        <p:spPr>
          <a:xfrm>
            <a:off x="2895600" y="-3483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Branch Wise Applications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641079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1"/>
            <a:ext cx="10134600" cy="4525963"/>
          </a:xfrm>
        </p:spPr>
        <p:txBody>
          <a:bodyPr>
            <a:normAutofit/>
          </a:bodyPr>
          <a:lstStyle/>
          <a:p>
            <a:pPr algn="just"/>
            <a:r>
              <a:rPr lang="en-IN" sz="2000"/>
              <a:t>The objective of this course is to systematically formulate and design machine learning problems for various applications, apply artificial intelligence algorithms and problem-solving methods to real-world scenarios, optimize the resulting models, and report on their expected accuracy.</a:t>
            </a:r>
            <a:endParaRPr lang="en-US" sz="2000"/>
          </a:p>
          <a:p>
            <a:pPr marL="0" indent="0">
              <a:buNone/>
            </a:pPr>
            <a:endParaRPr lang="en-US" sz="2400"/>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Course Objectives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350661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Course Outcomes</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1524000"/>
            <a:ext cx="9956799" cy="3733800"/>
          </a:xfrm>
          <a:prstGeom prst="rect">
            <a:avLst/>
          </a:prstGeom>
        </p:spPr>
      </p:pic>
    </p:spTree>
    <p:extLst>
      <p:ext uri="{BB962C8B-B14F-4D97-AF65-F5344CB8AC3E}">
        <p14:creationId xmlns:p14="http://schemas.microsoft.com/office/powerpoint/2010/main" val="2126723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9639769C-859C-4B3D-A306-7CB7BFEFB437}"/>
              </a:ext>
            </a:extLst>
          </p:cNvPr>
          <p:cNvGraphicFramePr/>
          <p:nvPr/>
        </p:nvGraphicFramePr>
        <p:xfrm>
          <a:off x="2819400" y="990600"/>
          <a:ext cx="7391400" cy="611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82B6EEB3-4F7D-4058-90BF-7686C05591A5}"/>
              </a:ext>
            </a:extLst>
          </p:cNvPr>
          <p:cNvGraphicFramePr/>
          <p:nvPr/>
        </p:nvGraphicFramePr>
        <p:xfrm>
          <a:off x="2819400" y="1749491"/>
          <a:ext cx="7391400" cy="5987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a:extLst>
              <a:ext uri="{FF2B5EF4-FFF2-40B4-BE49-F238E27FC236}">
                <a16:creationId xmlns:a16="http://schemas.microsoft.com/office/drawing/2014/main" id="{7DDBDBF2-72B4-47F6-A244-B190878D7661}"/>
              </a:ext>
            </a:extLst>
          </p:cNvPr>
          <p:cNvGraphicFramePr/>
          <p:nvPr/>
        </p:nvGraphicFramePr>
        <p:xfrm>
          <a:off x="2819400" y="2511491"/>
          <a:ext cx="7391400" cy="59876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1" name="Diagram 10">
            <a:extLst>
              <a:ext uri="{FF2B5EF4-FFF2-40B4-BE49-F238E27FC236}">
                <a16:creationId xmlns:a16="http://schemas.microsoft.com/office/drawing/2014/main" id="{FF18B9EF-2226-465D-A86F-AEDC37127CE3}"/>
              </a:ext>
            </a:extLst>
          </p:cNvPr>
          <p:cNvGraphicFramePr/>
          <p:nvPr/>
        </p:nvGraphicFramePr>
        <p:xfrm>
          <a:off x="2819400" y="3287440"/>
          <a:ext cx="7391400" cy="59876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2" name="Diagram 11">
            <a:extLst>
              <a:ext uri="{FF2B5EF4-FFF2-40B4-BE49-F238E27FC236}">
                <a16:creationId xmlns:a16="http://schemas.microsoft.com/office/drawing/2014/main" id="{9879EC82-C476-479D-8C4F-E39117AEE719}"/>
              </a:ext>
            </a:extLst>
          </p:cNvPr>
          <p:cNvGraphicFramePr/>
          <p:nvPr/>
        </p:nvGraphicFramePr>
        <p:xfrm>
          <a:off x="2819400" y="4049440"/>
          <a:ext cx="7391399" cy="59876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13" name="Diagram 12">
            <a:extLst>
              <a:ext uri="{FF2B5EF4-FFF2-40B4-BE49-F238E27FC236}">
                <a16:creationId xmlns:a16="http://schemas.microsoft.com/office/drawing/2014/main" id="{E7000E0B-B671-48F3-B4D0-69245DF1D7B7}"/>
              </a:ext>
            </a:extLst>
          </p:cNvPr>
          <p:cNvGraphicFramePr/>
          <p:nvPr/>
        </p:nvGraphicFramePr>
        <p:xfrm>
          <a:off x="2819400" y="4811440"/>
          <a:ext cx="7391400" cy="598761"/>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graphicFrame>
        <p:nvGraphicFramePr>
          <p:cNvPr id="14" name="Diagram 13">
            <a:extLst>
              <a:ext uri="{FF2B5EF4-FFF2-40B4-BE49-F238E27FC236}">
                <a16:creationId xmlns:a16="http://schemas.microsoft.com/office/drawing/2014/main" id="{584BFB67-A290-4345-B380-C21BA1F5C217}"/>
              </a:ext>
            </a:extLst>
          </p:cNvPr>
          <p:cNvGraphicFramePr/>
          <p:nvPr/>
        </p:nvGraphicFramePr>
        <p:xfrm>
          <a:off x="2819400" y="5559491"/>
          <a:ext cx="7391400" cy="598761"/>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sp>
        <p:nvSpPr>
          <p:cNvPr id="15" name="Title 1"/>
          <p:cNvSpPr txBox="1">
            <a:spLocks/>
          </p:cNvSpPr>
          <p:nvPr/>
        </p:nvSpPr>
        <p:spPr>
          <a:xfrm>
            <a:off x="2895600" y="-3483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Program Outcomes</a:t>
            </a:r>
          </a:p>
        </p:txBody>
      </p:sp>
      <p:pic>
        <p:nvPicPr>
          <p:cNvPr id="16" name="Picture 15"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45715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9639769C-859C-4B3D-A306-7CB7BFEFB437}"/>
              </a:ext>
            </a:extLst>
          </p:cNvPr>
          <p:cNvGraphicFramePr/>
          <p:nvPr/>
        </p:nvGraphicFramePr>
        <p:xfrm>
          <a:off x="2743202" y="1066800"/>
          <a:ext cx="7086599" cy="5349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82B6EEB3-4F7D-4058-90BF-7686C05591A5}"/>
              </a:ext>
            </a:extLst>
          </p:cNvPr>
          <p:cNvGraphicFramePr/>
          <p:nvPr/>
        </p:nvGraphicFramePr>
        <p:xfrm>
          <a:off x="2743202" y="1824141"/>
          <a:ext cx="7086599" cy="5241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a:extLst>
              <a:ext uri="{FF2B5EF4-FFF2-40B4-BE49-F238E27FC236}">
                <a16:creationId xmlns:a16="http://schemas.microsoft.com/office/drawing/2014/main" id="{7DDBDBF2-72B4-47F6-A244-B190878D7661}"/>
              </a:ext>
            </a:extLst>
          </p:cNvPr>
          <p:cNvGraphicFramePr/>
          <p:nvPr/>
        </p:nvGraphicFramePr>
        <p:xfrm>
          <a:off x="2743202" y="2586141"/>
          <a:ext cx="7086599" cy="52411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1" name="Diagram 10">
            <a:extLst>
              <a:ext uri="{FF2B5EF4-FFF2-40B4-BE49-F238E27FC236}">
                <a16:creationId xmlns:a16="http://schemas.microsoft.com/office/drawing/2014/main" id="{FF18B9EF-2226-465D-A86F-AEDC37127CE3}"/>
              </a:ext>
            </a:extLst>
          </p:cNvPr>
          <p:cNvGraphicFramePr/>
          <p:nvPr/>
        </p:nvGraphicFramePr>
        <p:xfrm>
          <a:off x="2743202" y="3362090"/>
          <a:ext cx="7086599" cy="52411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2" name="Diagram 11">
            <a:extLst>
              <a:ext uri="{FF2B5EF4-FFF2-40B4-BE49-F238E27FC236}">
                <a16:creationId xmlns:a16="http://schemas.microsoft.com/office/drawing/2014/main" id="{9879EC82-C476-479D-8C4F-E39117AEE719}"/>
              </a:ext>
            </a:extLst>
          </p:cNvPr>
          <p:cNvGraphicFramePr/>
          <p:nvPr/>
        </p:nvGraphicFramePr>
        <p:xfrm>
          <a:off x="2743201" y="4124090"/>
          <a:ext cx="7086598" cy="52411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13" name="Diagram 12">
            <a:extLst>
              <a:ext uri="{FF2B5EF4-FFF2-40B4-BE49-F238E27FC236}">
                <a16:creationId xmlns:a16="http://schemas.microsoft.com/office/drawing/2014/main" id="{E7000E0B-B671-48F3-B4D0-69245DF1D7B7}"/>
              </a:ext>
            </a:extLst>
          </p:cNvPr>
          <p:cNvGraphicFramePr/>
          <p:nvPr/>
        </p:nvGraphicFramePr>
        <p:xfrm>
          <a:off x="2743202" y="4886090"/>
          <a:ext cx="7086599" cy="524111"/>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graphicFrame>
        <p:nvGraphicFramePr>
          <p:cNvPr id="14" name="Diagram 13">
            <a:extLst>
              <a:ext uri="{FF2B5EF4-FFF2-40B4-BE49-F238E27FC236}">
                <a16:creationId xmlns:a16="http://schemas.microsoft.com/office/drawing/2014/main" id="{584BFB67-A290-4345-B380-C21BA1F5C217}"/>
              </a:ext>
            </a:extLst>
          </p:cNvPr>
          <p:cNvGraphicFramePr/>
          <p:nvPr/>
        </p:nvGraphicFramePr>
        <p:xfrm>
          <a:off x="2743202" y="5634141"/>
          <a:ext cx="7086599" cy="524111"/>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pic>
        <p:nvPicPr>
          <p:cNvPr id="15" name="Picture 14"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6" name="Title 1"/>
          <p:cNvSpPr txBox="1">
            <a:spLocks/>
          </p:cNvSpPr>
          <p:nvPr/>
        </p:nvSpPr>
        <p:spPr>
          <a:xfrm>
            <a:off x="2895600" y="-3483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Program Outcomes</a:t>
            </a:r>
          </a:p>
        </p:txBody>
      </p:sp>
    </p:spTree>
    <p:extLst>
      <p:ext uri="{BB962C8B-B14F-4D97-AF65-F5344CB8AC3E}">
        <p14:creationId xmlns:p14="http://schemas.microsoft.com/office/powerpoint/2010/main" val="852732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12"/>
          <p:cNvGraphicFramePr>
            <a:graphicFrameLocks noGrp="1"/>
          </p:cNvGraphicFramePr>
          <p:nvPr>
            <p:ph idx="1"/>
          </p:nvPr>
        </p:nvGraphicFramePr>
        <p:xfrm>
          <a:off x="2274026" y="1846873"/>
          <a:ext cx="7643949" cy="3663481"/>
        </p:xfrm>
        <a:graphic>
          <a:graphicData uri="http://schemas.openxmlformats.org/drawingml/2006/table">
            <a:tbl>
              <a:tblPr firstRow="1" bandRow="1">
                <a:tableStyleId>{21E4AEA4-8DFA-4A89-87EB-49C32662AFE0}</a:tableStyleId>
              </a:tblPr>
              <a:tblGrid>
                <a:gridCol w="928704">
                  <a:extLst>
                    <a:ext uri="{9D8B030D-6E8A-4147-A177-3AD203B41FA5}">
                      <a16:colId xmlns:a16="http://schemas.microsoft.com/office/drawing/2014/main" val="20000"/>
                    </a:ext>
                  </a:extLst>
                </a:gridCol>
                <a:gridCol w="6715245">
                  <a:extLst>
                    <a:ext uri="{9D8B030D-6E8A-4147-A177-3AD203B41FA5}">
                      <a16:colId xmlns:a16="http://schemas.microsoft.com/office/drawing/2014/main" val="20001"/>
                    </a:ext>
                  </a:extLst>
                </a:gridCol>
              </a:tblGrid>
              <a:tr h="474661">
                <a:tc>
                  <a:txBody>
                    <a:bodyPr/>
                    <a:lstStyle/>
                    <a:p>
                      <a:pPr marL="0" marR="0" algn="l">
                        <a:lnSpc>
                          <a:spcPct val="115000"/>
                        </a:lnSpc>
                        <a:spcBef>
                          <a:spcPts val="0"/>
                        </a:spcBef>
                        <a:spcAft>
                          <a:spcPts val="0"/>
                        </a:spcAft>
                      </a:pPr>
                      <a:r>
                        <a:rPr lang="en-US" sz="1800"/>
                        <a:t>PSO1:</a:t>
                      </a:r>
                      <a:endParaRPr lang="en-US" sz="1800" b="0">
                        <a:solidFill>
                          <a:schemeClr val="tx1"/>
                        </a:solidFill>
                        <a:latin typeface="Times New Roman" pitchFamily="18" charset="0"/>
                        <a:ea typeface="Times New Roman"/>
                        <a:cs typeface="Times New Roman" pitchFamily="18" charset="0"/>
                      </a:endParaRPr>
                    </a:p>
                  </a:txBody>
                  <a:tcPr marL="68580" marR="68580" marT="0" marB="0" anchor="ctr"/>
                </a:tc>
                <a:tc>
                  <a:txBody>
                    <a:bodyPr/>
                    <a:lstStyle/>
                    <a:p>
                      <a:pPr marL="0" marR="0" algn="l">
                        <a:lnSpc>
                          <a:spcPct val="200000"/>
                        </a:lnSpc>
                        <a:spcBef>
                          <a:spcPts val="0"/>
                        </a:spcBef>
                        <a:spcAft>
                          <a:spcPts val="0"/>
                        </a:spcAft>
                      </a:pPr>
                      <a:r>
                        <a:rPr lang="en-US" sz="1800"/>
                        <a:t>Design and develop the Hardware and Software systems.</a:t>
                      </a:r>
                      <a:endParaRPr lang="en-US" sz="1800" b="0" i="0">
                        <a:solidFill>
                          <a:schemeClr val="tx1"/>
                        </a:solidFill>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786103">
                <a:tc>
                  <a:txBody>
                    <a:bodyPr/>
                    <a:lstStyle/>
                    <a:p>
                      <a:pPr marL="0" marR="0" algn="l">
                        <a:lnSpc>
                          <a:spcPct val="115000"/>
                        </a:lnSpc>
                        <a:spcBef>
                          <a:spcPts val="0"/>
                        </a:spcBef>
                        <a:spcAft>
                          <a:spcPts val="0"/>
                        </a:spcAft>
                      </a:pPr>
                      <a:r>
                        <a:rPr lang="en-US" sz="1800"/>
                        <a:t>PSO2:</a:t>
                      </a:r>
                      <a:endParaRPr lang="en-US" sz="1800" b="1">
                        <a:solidFill>
                          <a:schemeClr val="tx1"/>
                        </a:solidFill>
                        <a:latin typeface="Times New Roman" pitchFamily="18" charset="0"/>
                        <a:ea typeface="Times New Roman"/>
                        <a:cs typeface="Times New Roman" pitchFamily="18" charset="0"/>
                      </a:endParaRPr>
                    </a:p>
                  </a:txBody>
                  <a:tcPr marL="68580" marR="68580" marT="0" marB="0" anchor="ctr"/>
                </a:tc>
                <a:tc>
                  <a:txBody>
                    <a:bodyPr/>
                    <a:lstStyle/>
                    <a:p>
                      <a:pPr marL="0" marR="0" algn="l">
                        <a:lnSpc>
                          <a:spcPct val="150000"/>
                        </a:lnSpc>
                        <a:spcBef>
                          <a:spcPts val="0"/>
                        </a:spcBef>
                        <a:spcAft>
                          <a:spcPts val="0"/>
                        </a:spcAft>
                      </a:pPr>
                      <a:r>
                        <a:rPr lang="en-US" sz="1800"/>
                        <a:t>Understand the interdisciplinary computing techniques and an ability to apply them in the design of advanced computing.</a:t>
                      </a:r>
                      <a:endParaRPr lang="en-US" sz="1800" b="0" i="0">
                        <a:solidFill>
                          <a:schemeClr val="tx1"/>
                        </a:solidFill>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1"/>
                  </a:ext>
                </a:extLst>
              </a:tr>
              <a:tr h="1616614">
                <a:tc>
                  <a:txBody>
                    <a:bodyPr/>
                    <a:lstStyle/>
                    <a:p>
                      <a:pPr marL="0" marR="0" algn="l">
                        <a:lnSpc>
                          <a:spcPct val="115000"/>
                        </a:lnSpc>
                        <a:spcBef>
                          <a:spcPts val="0"/>
                        </a:spcBef>
                        <a:spcAft>
                          <a:spcPts val="0"/>
                        </a:spcAft>
                      </a:pPr>
                      <a:r>
                        <a:rPr lang="en-US" sz="1800"/>
                        <a:t>PSO3:</a:t>
                      </a:r>
                      <a:endParaRPr lang="en-US" sz="1800" b="1">
                        <a:solidFill>
                          <a:schemeClr val="tx1"/>
                        </a:solidFill>
                        <a:latin typeface="Times New Roman" pitchFamily="18" charset="0"/>
                        <a:ea typeface="Times New Roman"/>
                        <a:cs typeface="Times New Roman" pitchFamily="18" charset="0"/>
                      </a:endParaRPr>
                    </a:p>
                  </a:txBody>
                  <a:tcPr marL="68580" marR="68580" marT="0" marB="0" anchor="ctr"/>
                </a:tc>
                <a:tc>
                  <a:txBody>
                    <a:bodyPr/>
                    <a:lstStyle/>
                    <a:p>
                      <a:pPr marL="0" marR="0" algn="l">
                        <a:lnSpc>
                          <a:spcPct val="150000"/>
                        </a:lnSpc>
                        <a:spcBef>
                          <a:spcPts val="0"/>
                        </a:spcBef>
                        <a:spcAft>
                          <a:spcPts val="0"/>
                        </a:spcAft>
                      </a:pPr>
                      <a:r>
                        <a:rPr lang="en-US" sz="1800"/>
                        <a:t>Understand the programming methodology, software development paradigms, design and analysis of Algorithms, Operating Systems, Digital Logic Design, Theory of Computation, Discrete Mathematics, Compiler Design, etc.</a:t>
                      </a:r>
                      <a:endParaRPr lang="en-US" sz="1800" b="0" i="0">
                        <a:solidFill>
                          <a:schemeClr val="tx1"/>
                        </a:solidFill>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786103">
                <a:tc>
                  <a:txBody>
                    <a:bodyPr/>
                    <a:lstStyle/>
                    <a:p>
                      <a:pPr marL="0" marR="0" algn="l">
                        <a:lnSpc>
                          <a:spcPct val="115000"/>
                        </a:lnSpc>
                        <a:spcBef>
                          <a:spcPts val="0"/>
                        </a:spcBef>
                        <a:spcAft>
                          <a:spcPts val="0"/>
                        </a:spcAft>
                      </a:pPr>
                      <a:r>
                        <a:rPr lang="en-US" sz="1800"/>
                        <a:t>PSO4:</a:t>
                      </a:r>
                      <a:endParaRPr lang="en-US" sz="1800" b="1">
                        <a:solidFill>
                          <a:schemeClr val="tx1"/>
                        </a:solidFill>
                        <a:latin typeface="Times New Roman" pitchFamily="18" charset="0"/>
                        <a:ea typeface="Times New Roman"/>
                        <a:cs typeface="Times New Roman" pitchFamily="18" charset="0"/>
                      </a:endParaRPr>
                    </a:p>
                  </a:txBody>
                  <a:tcPr marL="68580" marR="68580" marT="0" marB="0" anchor="ctr"/>
                </a:tc>
                <a:tc>
                  <a:txBody>
                    <a:bodyPr/>
                    <a:lstStyle/>
                    <a:p>
                      <a:pPr marL="0" marR="0" algn="l">
                        <a:lnSpc>
                          <a:spcPct val="150000"/>
                        </a:lnSpc>
                        <a:spcBef>
                          <a:spcPts val="0"/>
                        </a:spcBef>
                        <a:spcAft>
                          <a:spcPts val="0"/>
                        </a:spcAft>
                      </a:pPr>
                      <a:r>
                        <a:rPr lang="en-US" sz="1800"/>
                        <a:t>To integrate &amp; manage the various phases/components of software development projects of society.</a:t>
                      </a:r>
                      <a:endParaRPr lang="en-US" sz="1800" b="0" i="0">
                        <a:solidFill>
                          <a:schemeClr val="tx1"/>
                        </a:solidFill>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3"/>
                  </a:ext>
                </a:extLst>
              </a:tr>
            </a:tbl>
          </a:graphicData>
        </a:graphic>
      </p:graphicFrame>
      <p:sp>
        <p:nvSpPr>
          <p:cNvPr id="9" name="TextBox 8"/>
          <p:cNvSpPr txBox="1"/>
          <p:nvPr/>
        </p:nvSpPr>
        <p:spPr>
          <a:xfrm>
            <a:off x="2514600" y="924972"/>
            <a:ext cx="7543800" cy="646331"/>
          </a:xfrm>
          <a:prstGeom prst="rect">
            <a:avLst/>
          </a:prstGeom>
          <a:noFill/>
        </p:spPr>
        <p:txBody>
          <a:bodyPr wrap="square" rtlCol="0">
            <a:spAutoFit/>
          </a:bodyPr>
          <a:lstStyle/>
          <a:p>
            <a:pPr algn="just"/>
            <a:r>
              <a:rPr lang="en-US">
                <a:latin typeface="+mj-lt"/>
                <a:cs typeface="Times New Roman" pitchFamily="18" charset="0"/>
              </a:rPr>
              <a:t>On successful completion of graduation degree the Computer Science &amp; </a:t>
            </a:r>
          </a:p>
          <a:p>
            <a:pPr algn="just"/>
            <a:r>
              <a:rPr lang="en-US">
                <a:latin typeface="+mj-lt"/>
                <a:cs typeface="Times New Roman" pitchFamily="18" charset="0"/>
              </a:rPr>
              <a:t>Engineering graduates will be able to:</a:t>
            </a:r>
          </a:p>
        </p:txBody>
      </p:sp>
      <p:sp>
        <p:nvSpPr>
          <p:cNvPr id="10" name="Title 1"/>
          <p:cNvSpPr txBox="1">
            <a:spLocks/>
          </p:cNvSpPr>
          <p:nvPr/>
        </p:nvSpPr>
        <p:spPr>
          <a:xfrm>
            <a:off x="2667000" y="78975"/>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Program Specific Outcomes</a:t>
            </a:r>
          </a:p>
        </p:txBody>
      </p:sp>
      <p:pic>
        <p:nvPicPr>
          <p:cNvPr id="11" name="Picture 10"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350708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nvGraphicFramePr>
        <p:xfrm>
          <a:off x="1828800" y="1161213"/>
          <a:ext cx="8763000" cy="4343743"/>
        </p:xfrm>
        <a:graphic>
          <a:graphicData uri="http://schemas.openxmlformats.org/drawingml/2006/table">
            <a:tbl>
              <a:tblPr firstRow="1" bandRow="1">
                <a:tableStyleId>{21E4AEA4-8DFA-4A89-87EB-49C32662AFE0}</a:tableStyleId>
              </a:tblPr>
              <a:tblGrid>
                <a:gridCol w="213360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765315">
                <a:tc>
                  <a:txBody>
                    <a:bodyPr/>
                    <a:lstStyle/>
                    <a:p>
                      <a:pPr marL="0" marR="0" algn="ctr">
                        <a:lnSpc>
                          <a:spcPct val="115000"/>
                        </a:lnSpc>
                        <a:spcBef>
                          <a:spcPts val="0"/>
                        </a:spcBef>
                        <a:spcAft>
                          <a:spcPts val="0"/>
                        </a:spcAft>
                      </a:pPr>
                      <a:r>
                        <a:rPr lang="en-US" sz="1800"/>
                        <a:t>Program Educational</a:t>
                      </a:r>
                      <a:r>
                        <a:rPr lang="en-US" sz="1800" baseline="0"/>
                        <a:t> Objectives</a:t>
                      </a:r>
                      <a:r>
                        <a:rPr lang="en-US" sz="1800"/>
                        <a:t> (PEOs)</a:t>
                      </a:r>
                      <a:endParaRPr lang="en-US" sz="1800" b="0">
                        <a:solidFill>
                          <a:schemeClr val="accent4">
                            <a:lumMod val="50000"/>
                          </a:schemeClr>
                        </a:solidFill>
                        <a:latin typeface="+mj-lt"/>
                        <a:ea typeface="Times New Roman"/>
                      </a:endParaRPr>
                    </a:p>
                  </a:txBody>
                  <a:tcPr marL="68580" marR="68580" marT="0" marB="0" anchor="ctr"/>
                </a:tc>
                <a:tc>
                  <a:txBody>
                    <a:bodyPr/>
                    <a:lstStyle/>
                    <a:p>
                      <a:pPr marL="0" marR="0" algn="ctr">
                        <a:lnSpc>
                          <a:spcPct val="115000"/>
                        </a:lnSpc>
                        <a:spcBef>
                          <a:spcPts val="0"/>
                        </a:spcBef>
                        <a:spcAft>
                          <a:spcPts val="0"/>
                        </a:spcAft>
                      </a:pPr>
                      <a:r>
                        <a:rPr lang="en-US" sz="1800"/>
                        <a:t>PEOs Description</a:t>
                      </a:r>
                      <a:endParaRPr lang="en-US" sz="1800" b="0">
                        <a:solidFill>
                          <a:schemeClr val="accent4">
                            <a:lumMod val="50000"/>
                          </a:schemeClr>
                        </a:solidFill>
                        <a:latin typeface="+mj-lt"/>
                        <a:ea typeface="Times New Roman"/>
                      </a:endParaRPr>
                    </a:p>
                  </a:txBody>
                  <a:tcPr marL="68580" marR="68580" marT="0" marB="0" anchor="ctr"/>
                </a:tc>
                <a:extLst>
                  <a:ext uri="{0D108BD9-81ED-4DB2-BD59-A6C34878D82A}">
                    <a16:rowId xmlns:a16="http://schemas.microsoft.com/office/drawing/2014/main" val="10000"/>
                  </a:ext>
                </a:extLst>
              </a:tr>
              <a:tr h="794366">
                <a:tc>
                  <a:txBody>
                    <a:bodyPr/>
                    <a:lstStyle/>
                    <a:p>
                      <a:pPr marL="0" marR="0" algn="ctr">
                        <a:lnSpc>
                          <a:spcPct val="115000"/>
                        </a:lnSpc>
                        <a:spcBef>
                          <a:spcPts val="0"/>
                        </a:spcBef>
                        <a:spcAft>
                          <a:spcPts val="0"/>
                        </a:spcAft>
                      </a:pPr>
                      <a:r>
                        <a:rPr lang="en-US" sz="1800"/>
                        <a:t>PEOs</a:t>
                      </a:r>
                      <a:endParaRPr lang="en-US" sz="1800" b="0">
                        <a:solidFill>
                          <a:schemeClr val="accent4">
                            <a:lumMod val="50000"/>
                          </a:schemeClr>
                        </a:solidFill>
                        <a:latin typeface="+mj-lt"/>
                        <a:ea typeface="Times New Roman"/>
                      </a:endParaRPr>
                    </a:p>
                  </a:txBody>
                  <a:tcPr marL="68580" marR="68580" marT="0" marB="0" anchor="ctr"/>
                </a:tc>
                <a:tc>
                  <a:txBody>
                    <a:bodyPr/>
                    <a:lstStyle/>
                    <a:p>
                      <a:pPr marL="68580" marR="0" algn="l">
                        <a:lnSpc>
                          <a:spcPct val="100000"/>
                        </a:lnSpc>
                        <a:spcBef>
                          <a:spcPts val="0"/>
                        </a:spcBef>
                        <a:spcAft>
                          <a:spcPts val="0"/>
                        </a:spcAft>
                      </a:pPr>
                      <a:r>
                        <a:rPr lang="en-US" sz="1800" kern="1200">
                          <a:effectLst/>
                        </a:rPr>
                        <a:t>To have an excellent scientific and engineering breadth so as to comprehend, analyze, design and provide sustainable solutions for real-life problems using state-of-the-art technologies.</a:t>
                      </a:r>
                      <a:endParaRPr lang="en-US" sz="1800" b="0" baseline="0">
                        <a:solidFill>
                          <a:schemeClr val="accent4">
                            <a:lumMod val="50000"/>
                          </a:schemeClr>
                        </a:solidFill>
                        <a:latin typeface="+mj-lt"/>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779806">
                <a:tc>
                  <a:txBody>
                    <a:bodyPr/>
                    <a:lstStyle/>
                    <a:p>
                      <a:pPr marL="0" marR="0" algn="ctr">
                        <a:lnSpc>
                          <a:spcPct val="115000"/>
                        </a:lnSpc>
                        <a:spcBef>
                          <a:spcPts val="0"/>
                        </a:spcBef>
                        <a:spcAft>
                          <a:spcPts val="0"/>
                        </a:spcAft>
                      </a:pPr>
                      <a:r>
                        <a:rPr lang="en-US" sz="1800"/>
                        <a:t>PEOs</a:t>
                      </a:r>
                      <a:endParaRPr lang="en-US" sz="1800" b="0">
                        <a:solidFill>
                          <a:schemeClr val="accent4">
                            <a:lumMod val="50000"/>
                          </a:schemeClr>
                        </a:solidFill>
                        <a:latin typeface="+mj-lt"/>
                        <a:ea typeface="Times New Roman"/>
                      </a:endParaRPr>
                    </a:p>
                  </a:txBody>
                  <a:tcPr marL="68580" marR="68580" marT="0" marB="0" anchor="ctr"/>
                </a:tc>
                <a:tc>
                  <a:txBody>
                    <a:bodyPr/>
                    <a:lstStyle/>
                    <a:p>
                      <a:pPr marL="68580" marR="0" algn="just">
                        <a:lnSpc>
                          <a:spcPct val="100000"/>
                        </a:lnSpc>
                        <a:spcBef>
                          <a:spcPts val="0"/>
                        </a:spcBef>
                        <a:spcAft>
                          <a:spcPts val="0"/>
                        </a:spcAft>
                      </a:pPr>
                      <a:r>
                        <a:rPr lang="en-US" sz="1800" kern="1200">
                          <a:effectLst/>
                        </a:rPr>
                        <a:t>To have a successful career in industries, to pursue higher studies or to support entrepreneurial endeavors and to face the global challenges.</a:t>
                      </a:r>
                      <a:endParaRPr lang="en-US" sz="1800" b="0">
                        <a:solidFill>
                          <a:schemeClr val="accent4">
                            <a:lumMod val="50000"/>
                          </a:schemeClr>
                        </a:solidFill>
                        <a:latin typeface="+mj-lt"/>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1059155">
                <a:tc>
                  <a:txBody>
                    <a:bodyPr/>
                    <a:lstStyle/>
                    <a:p>
                      <a:pPr marL="0" marR="0" algn="ctr">
                        <a:lnSpc>
                          <a:spcPct val="115000"/>
                        </a:lnSpc>
                        <a:spcBef>
                          <a:spcPts val="0"/>
                        </a:spcBef>
                        <a:spcAft>
                          <a:spcPts val="0"/>
                        </a:spcAft>
                      </a:pPr>
                      <a:r>
                        <a:rPr lang="en-US" sz="1800"/>
                        <a:t>PEOs</a:t>
                      </a:r>
                      <a:endParaRPr lang="en-US" sz="1800" b="0">
                        <a:solidFill>
                          <a:schemeClr val="accent4">
                            <a:lumMod val="50000"/>
                          </a:schemeClr>
                        </a:solidFill>
                        <a:latin typeface="+mj-lt"/>
                        <a:ea typeface="Times New Roman"/>
                      </a:endParaRPr>
                    </a:p>
                  </a:txBody>
                  <a:tcPr marL="68580" marR="68580" marT="0" marB="0" anchor="ctr"/>
                </a:tc>
                <a:tc>
                  <a:txBody>
                    <a:bodyPr/>
                    <a:lstStyle/>
                    <a:p>
                      <a:pPr marL="68580" marR="0" algn="just">
                        <a:lnSpc>
                          <a:spcPct val="100000"/>
                        </a:lnSpc>
                        <a:spcBef>
                          <a:spcPts val="0"/>
                        </a:spcBef>
                        <a:spcAft>
                          <a:spcPts val="0"/>
                        </a:spcAft>
                      </a:pPr>
                      <a:r>
                        <a:rPr lang="en-US" sz="1800" kern="1200">
                          <a:effectLst/>
                        </a:rPr>
                        <a:t>To have an effective communication skills, professional attitude, ethical values and a desire to learn specific knowledge in emerging trends, technologies for research, innovation and product    development and contribution to society.</a:t>
                      </a:r>
                      <a:endParaRPr lang="en-US" sz="1800" b="0">
                        <a:solidFill>
                          <a:schemeClr val="accent4">
                            <a:lumMod val="50000"/>
                          </a:schemeClr>
                        </a:solidFill>
                        <a:latin typeface="+mj-lt"/>
                        <a:ea typeface="Times New Roman"/>
                      </a:endParaRPr>
                    </a:p>
                  </a:txBody>
                  <a:tcPr marL="68580" marR="68580" marT="0" marB="0" anchor="ctr"/>
                </a:tc>
                <a:extLst>
                  <a:ext uri="{0D108BD9-81ED-4DB2-BD59-A6C34878D82A}">
                    <a16:rowId xmlns:a16="http://schemas.microsoft.com/office/drawing/2014/main" val="10003"/>
                  </a:ext>
                </a:extLst>
              </a:tr>
              <a:tr h="835228">
                <a:tc>
                  <a:txBody>
                    <a:bodyPr/>
                    <a:lstStyle/>
                    <a:p>
                      <a:pPr marL="0" marR="0" algn="ctr">
                        <a:lnSpc>
                          <a:spcPct val="115000"/>
                        </a:lnSpc>
                        <a:spcBef>
                          <a:spcPts val="0"/>
                        </a:spcBef>
                        <a:spcAft>
                          <a:spcPts val="0"/>
                        </a:spcAft>
                      </a:pPr>
                      <a:r>
                        <a:rPr lang="en-US" sz="1800"/>
                        <a:t>PEOs</a:t>
                      </a:r>
                      <a:endParaRPr lang="en-US" sz="1800" b="0">
                        <a:solidFill>
                          <a:schemeClr val="accent4">
                            <a:lumMod val="50000"/>
                          </a:schemeClr>
                        </a:solidFill>
                        <a:latin typeface="+mj-lt"/>
                        <a:ea typeface="Times New Roman"/>
                      </a:endParaRPr>
                    </a:p>
                  </a:txBody>
                  <a:tcPr marL="68580" marR="68580" marT="0" marB="0" anchor="ctr"/>
                </a:tc>
                <a:tc>
                  <a:txBody>
                    <a:bodyPr/>
                    <a:lstStyle/>
                    <a:p>
                      <a:pPr marL="67945" marR="0" algn="just">
                        <a:lnSpc>
                          <a:spcPct val="100000"/>
                        </a:lnSpc>
                        <a:spcBef>
                          <a:spcPts val="0"/>
                        </a:spcBef>
                        <a:spcAft>
                          <a:spcPts val="0"/>
                        </a:spcAft>
                      </a:pPr>
                      <a:r>
                        <a:rPr lang="en-US" sz="1800" kern="1200">
                          <a:effectLst/>
                        </a:rPr>
                        <a:t>To have life-long learning for up-skilling and re-skilling for successful professional career as engineer, scientist, entrepreneur and bureaucrat for betterment of society.</a:t>
                      </a:r>
                      <a:endParaRPr lang="en-US" sz="1800" b="0">
                        <a:solidFill>
                          <a:schemeClr val="accent4">
                            <a:lumMod val="50000"/>
                          </a:schemeClr>
                        </a:solidFill>
                        <a:latin typeface="+mj-lt"/>
                        <a:ea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Title 1"/>
          <p:cNvSpPr txBox="1">
            <a:spLocks/>
          </p:cNvSpPr>
          <p:nvPr/>
        </p:nvSpPr>
        <p:spPr>
          <a:xfrm>
            <a:off x="2895600" y="0"/>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Program Educational Objectives</a:t>
            </a:r>
          </a:p>
        </p:txBody>
      </p:sp>
      <p:pic>
        <p:nvPicPr>
          <p:cNvPr id="11" name="Picture 10"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52497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Question Paper Template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Content Placeholder 8">
            <a:extLst>
              <a:ext uri="{FF2B5EF4-FFF2-40B4-BE49-F238E27FC236}">
                <a16:creationId xmlns:a16="http://schemas.microsoft.com/office/drawing/2014/main" id="{0B77B11B-9C15-4679-A934-EBBF86AE34F6}"/>
              </a:ext>
            </a:extLst>
          </p:cNvPr>
          <p:cNvPicPr>
            <a:picLocks noGrp="1" noChangeAspect="1"/>
          </p:cNvPicPr>
          <p:nvPr>
            <p:ph idx="1"/>
          </p:nvPr>
        </p:nvPicPr>
        <p:blipFill>
          <a:blip r:embed="rId4"/>
          <a:stretch>
            <a:fillRect/>
          </a:stretch>
        </p:blipFill>
        <p:spPr>
          <a:xfrm>
            <a:off x="2743200" y="1843881"/>
            <a:ext cx="7391400" cy="3124200"/>
          </a:xfrm>
          <a:prstGeom prst="rect">
            <a:avLst/>
          </a:prstGeom>
        </p:spPr>
      </p:pic>
    </p:spTree>
    <p:extLst>
      <p:ext uri="{BB962C8B-B14F-4D97-AF65-F5344CB8AC3E}">
        <p14:creationId xmlns:p14="http://schemas.microsoft.com/office/powerpoint/2010/main" val="2478092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Question Paper Template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Content Placeholder 8">
            <a:extLst>
              <a:ext uri="{FF2B5EF4-FFF2-40B4-BE49-F238E27FC236}">
                <a16:creationId xmlns:a16="http://schemas.microsoft.com/office/drawing/2014/main" id="{F82AF081-83E9-40E3-85C9-062E3E753D2B}"/>
              </a:ext>
            </a:extLst>
          </p:cNvPr>
          <p:cNvPicPr>
            <a:picLocks noGrp="1" noChangeAspect="1"/>
          </p:cNvPicPr>
          <p:nvPr>
            <p:ph idx="1"/>
          </p:nvPr>
        </p:nvPicPr>
        <p:blipFill>
          <a:blip r:embed="rId4"/>
          <a:stretch>
            <a:fillRect/>
          </a:stretch>
        </p:blipFill>
        <p:spPr>
          <a:xfrm>
            <a:off x="1905000" y="1885198"/>
            <a:ext cx="8763000" cy="3041566"/>
          </a:xfrm>
          <a:prstGeom prst="rect">
            <a:avLst/>
          </a:prstGeom>
        </p:spPr>
      </p:pic>
    </p:spTree>
    <p:extLst>
      <p:ext uri="{BB962C8B-B14F-4D97-AF65-F5344CB8AC3E}">
        <p14:creationId xmlns:p14="http://schemas.microsoft.com/office/powerpoint/2010/main" val="2942372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Question Paper Template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Content Placeholder 8">
            <a:extLst>
              <a:ext uri="{FF2B5EF4-FFF2-40B4-BE49-F238E27FC236}">
                <a16:creationId xmlns:a16="http://schemas.microsoft.com/office/drawing/2014/main" id="{D6AD0FEF-91AB-4622-BD71-AF17C265451A}"/>
              </a:ext>
            </a:extLst>
          </p:cNvPr>
          <p:cNvPicPr>
            <a:picLocks noGrp="1" noChangeAspect="1"/>
          </p:cNvPicPr>
          <p:nvPr>
            <p:ph idx="1"/>
          </p:nvPr>
        </p:nvPicPr>
        <p:blipFill>
          <a:blip r:embed="rId4"/>
          <a:stretch>
            <a:fillRect/>
          </a:stretch>
        </p:blipFill>
        <p:spPr>
          <a:xfrm>
            <a:off x="1905000" y="1143001"/>
            <a:ext cx="8382000" cy="3530428"/>
          </a:xfrm>
          <a:prstGeom prst="rect">
            <a:avLst/>
          </a:prstGeom>
        </p:spPr>
      </p:pic>
    </p:spTree>
    <p:extLst>
      <p:ext uri="{BB962C8B-B14F-4D97-AF65-F5344CB8AC3E}">
        <p14:creationId xmlns:p14="http://schemas.microsoft.com/office/powerpoint/2010/main" val="101227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Question Paper Template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1" name="Content Placeholder 10">
            <a:extLst>
              <a:ext uri="{FF2B5EF4-FFF2-40B4-BE49-F238E27FC236}">
                <a16:creationId xmlns:a16="http://schemas.microsoft.com/office/drawing/2014/main" id="{D6AD0FEF-91AB-4622-BD71-AF17C265451A}"/>
              </a:ext>
            </a:extLst>
          </p:cNvPr>
          <p:cNvPicPr>
            <a:picLocks noGrp="1" noChangeAspect="1"/>
          </p:cNvPicPr>
          <p:nvPr>
            <p:ph idx="1"/>
          </p:nvPr>
        </p:nvPicPr>
        <p:blipFill>
          <a:blip r:embed="rId4"/>
          <a:stretch>
            <a:fillRect/>
          </a:stretch>
        </p:blipFill>
        <p:spPr>
          <a:xfrm>
            <a:off x="2447925" y="1905794"/>
            <a:ext cx="7296150" cy="3914775"/>
          </a:xfrm>
          <a:prstGeom prst="rect">
            <a:avLst/>
          </a:prstGeom>
        </p:spPr>
      </p:pic>
    </p:spTree>
    <p:extLst>
      <p:ext uri="{BB962C8B-B14F-4D97-AF65-F5344CB8AC3E}">
        <p14:creationId xmlns:p14="http://schemas.microsoft.com/office/powerpoint/2010/main" val="3897341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Question Paper Template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1" name="Content Placeholder 10">
            <a:extLst>
              <a:ext uri="{FF2B5EF4-FFF2-40B4-BE49-F238E27FC236}">
                <a16:creationId xmlns:a16="http://schemas.microsoft.com/office/drawing/2014/main" id="{CF080F34-6289-4751-AE3C-849A673B260C}"/>
              </a:ext>
            </a:extLst>
          </p:cNvPr>
          <p:cNvPicPr>
            <a:picLocks noGrp="1" noChangeAspect="1"/>
          </p:cNvPicPr>
          <p:nvPr>
            <p:ph idx="1"/>
          </p:nvPr>
        </p:nvPicPr>
        <p:blipFill>
          <a:blip r:embed="rId4"/>
          <a:stretch>
            <a:fillRect/>
          </a:stretch>
        </p:blipFill>
        <p:spPr>
          <a:xfrm>
            <a:off x="2683709" y="1600200"/>
            <a:ext cx="6824582" cy="4525963"/>
          </a:xfrm>
          <a:prstGeom prst="rect">
            <a:avLst/>
          </a:prstGeom>
        </p:spPr>
      </p:pic>
    </p:spTree>
    <p:extLst>
      <p:ext uri="{BB962C8B-B14F-4D97-AF65-F5344CB8AC3E}">
        <p14:creationId xmlns:p14="http://schemas.microsoft.com/office/powerpoint/2010/main" val="3875242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PREREQUISITE</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2"/>
          <p:cNvSpPr>
            <a:spLocks noGrp="1"/>
          </p:cNvSpPr>
          <p:nvPr>
            <p:ph idx="1"/>
          </p:nvPr>
        </p:nvSpPr>
        <p:spPr/>
        <p:txBody>
          <a:bodyPr/>
          <a:lstStyle/>
          <a:p>
            <a:pPr>
              <a:buNone/>
            </a:pPr>
            <a:r>
              <a:rPr lang="en-US" sz="3600" b="1"/>
              <a:t>Prerequisites:</a:t>
            </a:r>
            <a:endParaRPr lang="en-US"/>
          </a:p>
          <a:p>
            <a:r>
              <a:rPr lang="en-US"/>
              <a:t> Statistics.</a:t>
            </a:r>
          </a:p>
          <a:p>
            <a:r>
              <a:rPr lang="en-US"/>
              <a:t>Linear Algebra.</a:t>
            </a:r>
          </a:p>
          <a:p>
            <a:r>
              <a:rPr lang="en-US"/>
              <a:t>Calculus.</a:t>
            </a:r>
          </a:p>
          <a:p>
            <a:r>
              <a:rPr lang="en-US"/>
              <a:t>Probability.</a:t>
            </a:r>
          </a:p>
          <a:p>
            <a:r>
              <a:rPr lang="en-US"/>
              <a:t>Programming Languages.</a:t>
            </a:r>
          </a:p>
          <a:p>
            <a:endParaRPr lang="en-US"/>
          </a:p>
        </p:txBody>
      </p:sp>
    </p:spTree>
    <p:extLst>
      <p:ext uri="{BB962C8B-B14F-4D97-AF65-F5344CB8AC3E}">
        <p14:creationId xmlns:p14="http://schemas.microsoft.com/office/powerpoint/2010/main" val="3020439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a:t>Unit Content</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2"/>
          <p:cNvSpPr>
            <a:spLocks noGrp="1"/>
          </p:cNvSpPr>
          <p:nvPr>
            <p:ph idx="1"/>
          </p:nvPr>
        </p:nvSpPr>
        <p:spPr/>
        <p:txBody>
          <a:bodyPr>
            <a:normAutofit/>
          </a:bodyPr>
          <a:lstStyle/>
          <a:p>
            <a:pPr algn="just"/>
            <a:r>
              <a:rPr lang="en-GB" sz="2800"/>
              <a:t>Introduction to Machine Learning, </a:t>
            </a:r>
          </a:p>
          <a:p>
            <a:pPr algn="just"/>
            <a:r>
              <a:rPr lang="en-GB" sz="2800"/>
              <a:t>Types of Machine Learning, </a:t>
            </a:r>
            <a:endParaRPr lang="en-US" sz="2800"/>
          </a:p>
          <a:p>
            <a:pPr algn="just"/>
            <a:r>
              <a:rPr lang="en-GB" sz="2800" b="1"/>
              <a:t>Feature Engineering</a:t>
            </a:r>
            <a:r>
              <a:rPr lang="en-GB" sz="2800"/>
              <a:t>: Features and their types,</a:t>
            </a:r>
          </a:p>
          <a:p>
            <a:pPr algn="just"/>
            <a:r>
              <a:rPr lang="en-GB" sz="2800"/>
              <a:t> handing missing data, </a:t>
            </a:r>
          </a:p>
          <a:p>
            <a:pPr algn="just"/>
            <a:r>
              <a:rPr lang="en-GB" sz="2800"/>
              <a:t>Dealing with categorical features, </a:t>
            </a:r>
            <a:endParaRPr lang="en-US" sz="2800"/>
          </a:p>
          <a:p>
            <a:pPr algn="just"/>
            <a:r>
              <a:rPr lang="en-GB" sz="2800" b="1"/>
              <a:t>Working with features:</a:t>
            </a:r>
            <a:r>
              <a:rPr lang="en-GB" sz="2800"/>
              <a:t> Feature Scaling, </a:t>
            </a:r>
          </a:p>
          <a:p>
            <a:pPr algn="just"/>
            <a:r>
              <a:rPr lang="en-GB" sz="2800"/>
              <a:t>Feature selection, </a:t>
            </a:r>
            <a:endParaRPr lang="en-US" sz="2800"/>
          </a:p>
          <a:p>
            <a:pPr algn="just"/>
            <a:r>
              <a:rPr lang="en-GB" sz="2800" b="1"/>
              <a:t>Feature Extraction:</a:t>
            </a:r>
            <a:r>
              <a:rPr lang="en-GB" sz="2800"/>
              <a:t> Principal Component Analysis (PCA) algorithm</a:t>
            </a:r>
            <a:endParaRPr lang="en-US" sz="2800"/>
          </a:p>
        </p:txBody>
      </p:sp>
    </p:spTree>
    <p:extLst>
      <p:ext uri="{BB962C8B-B14F-4D97-AF65-F5344CB8AC3E}">
        <p14:creationId xmlns:p14="http://schemas.microsoft.com/office/powerpoint/2010/main" val="668310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GB"/>
              <a:t>Introduction to Machine Learning</a:t>
            </a:r>
            <a:endParaRPr lang="en-US"/>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2"/>
          <p:cNvSpPr>
            <a:spLocks noGrp="1"/>
          </p:cNvSpPr>
          <p:nvPr>
            <p:ph idx="1"/>
          </p:nvPr>
        </p:nvSpPr>
        <p:spPr>
          <a:xfrm>
            <a:off x="1905000" y="1568921"/>
            <a:ext cx="10972800" cy="4525963"/>
          </a:xfrm>
        </p:spPr>
        <p:txBody>
          <a:bodyPr>
            <a:normAutofit lnSpcReduction="10000"/>
          </a:bodyPr>
          <a:lstStyle/>
          <a:p>
            <a:pPr marL="12700" indent="0">
              <a:lnSpc>
                <a:spcPct val="150000"/>
              </a:lnSpc>
              <a:spcBef>
                <a:spcPts val="95"/>
              </a:spcBef>
              <a:buClr>
                <a:schemeClr val="tx1"/>
              </a:buClr>
              <a:buSzPct val="93181"/>
              <a:buNone/>
              <a:tabLst>
                <a:tab pos="286385" algn="l"/>
                <a:tab pos="287020" algn="l"/>
              </a:tabLst>
            </a:pPr>
            <a:r>
              <a:rPr lang="en-US" sz="1800" b="1"/>
              <a:t>Top minds in machine learning predict where AI is going in 2021 and Beyond </a:t>
            </a:r>
          </a:p>
          <a:p>
            <a:pPr marL="469900" indent="-457200">
              <a:lnSpc>
                <a:spcPct val="150000"/>
              </a:lnSpc>
              <a:spcBef>
                <a:spcPts val="95"/>
              </a:spcBef>
              <a:buClr>
                <a:schemeClr val="tx1"/>
              </a:buClr>
              <a:buSzPct val="93181"/>
              <a:buAutoNum type="arabicPeriod"/>
              <a:tabLst>
                <a:tab pos="286385" algn="l"/>
                <a:tab pos="287020" algn="l"/>
              </a:tabLst>
            </a:pPr>
            <a:endParaRPr lang="en-US" sz="4000"/>
          </a:p>
          <a:p>
            <a:pPr marL="287020" indent="-274320">
              <a:lnSpc>
                <a:spcPct val="150000"/>
              </a:lnSpc>
              <a:spcBef>
                <a:spcPts val="95"/>
              </a:spcBef>
              <a:buClr>
                <a:schemeClr val="tx1"/>
              </a:buClr>
              <a:buSzPct val="93181"/>
              <a:tabLst>
                <a:tab pos="286385" algn="l"/>
                <a:tab pos="287020" algn="l"/>
              </a:tabLst>
            </a:pPr>
            <a:endParaRPr lang="en-US" sz="4000"/>
          </a:p>
          <a:p>
            <a:pPr marL="287020" indent="-274320">
              <a:lnSpc>
                <a:spcPct val="150000"/>
              </a:lnSpc>
              <a:spcBef>
                <a:spcPts val="95"/>
              </a:spcBef>
              <a:buClr>
                <a:schemeClr val="tx1"/>
              </a:buClr>
              <a:buSzPct val="93181"/>
              <a:tabLst>
                <a:tab pos="286385" algn="l"/>
                <a:tab pos="287020" algn="l"/>
              </a:tabLst>
            </a:pPr>
            <a:endParaRPr lang="en-US" sz="4000"/>
          </a:p>
          <a:p>
            <a:pPr marL="287020" indent="-274320">
              <a:lnSpc>
                <a:spcPct val="150000"/>
              </a:lnSpc>
              <a:spcBef>
                <a:spcPts val="95"/>
              </a:spcBef>
              <a:buClr>
                <a:schemeClr val="tx1"/>
              </a:buClr>
              <a:buSzPct val="93181"/>
              <a:tabLst>
                <a:tab pos="286385" algn="l"/>
                <a:tab pos="287020" algn="l"/>
              </a:tabLst>
            </a:pPr>
            <a:endParaRPr lang="en-US" sz="4000"/>
          </a:p>
          <a:p>
            <a:pPr marL="287020" indent="-274320">
              <a:lnSpc>
                <a:spcPct val="150000"/>
              </a:lnSpc>
              <a:spcBef>
                <a:spcPts val="95"/>
              </a:spcBef>
              <a:buClr>
                <a:schemeClr val="tx1"/>
              </a:buClr>
              <a:buSzPct val="93181"/>
              <a:tabLst>
                <a:tab pos="286385" algn="l"/>
                <a:tab pos="287020" algn="l"/>
              </a:tabLst>
            </a:pPr>
            <a:r>
              <a:rPr lang="en-US" sz="1800"/>
              <a:t>AI is no </a:t>
            </a:r>
            <a:r>
              <a:rPr lang="en-US" sz="1900"/>
              <a:t>longer poised to change the world someday; it’s changing the world now. </a:t>
            </a:r>
          </a:p>
          <a:p>
            <a:pPr marL="287020" indent="-274320">
              <a:lnSpc>
                <a:spcPct val="150000"/>
              </a:lnSpc>
              <a:spcBef>
                <a:spcPts val="95"/>
              </a:spcBef>
              <a:buClr>
                <a:schemeClr val="tx1"/>
              </a:buClr>
              <a:buSzPct val="93181"/>
              <a:tabLst>
                <a:tab pos="286385" algn="l"/>
                <a:tab pos="287020" algn="l"/>
              </a:tabLst>
            </a:pPr>
            <a:endParaRPr lang="en-US" sz="4000"/>
          </a:p>
          <a:p>
            <a:endParaRPr lang="en-US"/>
          </a:p>
        </p:txBody>
      </p:sp>
      <p:pic>
        <p:nvPicPr>
          <p:cNvPr id="9" name="Picture 8">
            <a:extLst>
              <a:ext uri="{FF2B5EF4-FFF2-40B4-BE49-F238E27FC236}">
                <a16:creationId xmlns:a16="http://schemas.microsoft.com/office/drawing/2014/main" id="{1B4F6E34-E068-454E-AA64-0F4C20B9365F}"/>
              </a:ext>
            </a:extLst>
          </p:cNvPr>
          <p:cNvPicPr>
            <a:picLocks noChangeAspect="1"/>
          </p:cNvPicPr>
          <p:nvPr/>
        </p:nvPicPr>
        <p:blipFill>
          <a:blip r:embed="rId4"/>
          <a:stretch>
            <a:fillRect/>
          </a:stretch>
        </p:blipFill>
        <p:spPr>
          <a:xfrm>
            <a:off x="2895600" y="2133600"/>
            <a:ext cx="5963194" cy="3125708"/>
          </a:xfrm>
          <a:prstGeom prst="rect">
            <a:avLst/>
          </a:prstGeom>
        </p:spPr>
      </p:pic>
    </p:spTree>
    <p:extLst>
      <p:ext uri="{BB962C8B-B14F-4D97-AF65-F5344CB8AC3E}">
        <p14:creationId xmlns:p14="http://schemas.microsoft.com/office/powerpoint/2010/main" val="528656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p:nvPr/>
        </p:nvSpPr>
        <p:spPr>
          <a:xfrm>
            <a:off x="2509520" y="0"/>
            <a:ext cx="9681845" cy="720090"/>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1336675" marR="1323975"/>
            <a:r>
              <a:rPr lang="en-US" sz="2400" b="1" kern="0">
                <a:solidFill>
                  <a:schemeClr val="bg1"/>
                </a:solidFill>
                <a:latin typeface="Times New Roman" panose="02020603050405020304"/>
              </a:rPr>
              <a:t>Course</a:t>
            </a:r>
            <a:r>
              <a:rPr lang="en-US" sz="2400" b="1" kern="0" spc="-30">
                <a:solidFill>
                  <a:schemeClr val="bg1"/>
                </a:solidFill>
                <a:latin typeface="Times New Roman" panose="02020603050405020304"/>
              </a:rPr>
              <a:t> </a:t>
            </a:r>
            <a:r>
              <a:rPr lang="en-US" sz="2400" b="1" kern="0">
                <a:solidFill>
                  <a:schemeClr val="bg1"/>
                </a:solidFill>
                <a:latin typeface="Times New Roman" panose="02020603050405020304"/>
              </a:rPr>
              <a:t>Outcomes</a:t>
            </a:r>
            <a:r>
              <a:rPr lang="en-US" sz="2400" b="1" kern="0" spc="-25">
                <a:solidFill>
                  <a:schemeClr val="bg1"/>
                </a:solidFill>
                <a:latin typeface="Times New Roman" panose="02020603050405020304"/>
              </a:rPr>
              <a:t> </a:t>
            </a:r>
            <a:r>
              <a:rPr lang="en-US" sz="2400" b="1" kern="0">
                <a:solidFill>
                  <a:schemeClr val="bg1"/>
                </a:solidFill>
                <a:latin typeface="Times New Roman" panose="02020603050405020304"/>
              </a:rPr>
              <a:t>(CO)</a:t>
            </a:r>
          </a:p>
        </p:txBody>
      </p:sp>
      <p:graphicFrame>
        <p:nvGraphicFramePr>
          <p:cNvPr id="10" name="Table 9"/>
          <p:cNvGraphicFramePr>
            <a:graphicFrameLocks noGrp="1"/>
          </p:cNvGraphicFramePr>
          <p:nvPr>
            <p:custDataLst>
              <p:tags r:id="rId1"/>
            </p:custDataLst>
          </p:nvPr>
        </p:nvGraphicFramePr>
        <p:xfrm>
          <a:off x="904875" y="1000125"/>
          <a:ext cx="10727055" cy="4857106"/>
        </p:xfrm>
        <a:graphic>
          <a:graphicData uri="http://schemas.openxmlformats.org/drawingml/2006/table">
            <a:tbl>
              <a:tblPr/>
              <a:tblGrid>
                <a:gridCol w="702945">
                  <a:extLst>
                    <a:ext uri="{9D8B030D-6E8A-4147-A177-3AD203B41FA5}">
                      <a16:colId xmlns:a16="http://schemas.microsoft.com/office/drawing/2014/main" val="20000"/>
                    </a:ext>
                  </a:extLst>
                </a:gridCol>
                <a:gridCol w="4257675">
                  <a:extLst>
                    <a:ext uri="{9D8B030D-6E8A-4147-A177-3AD203B41FA5}">
                      <a16:colId xmlns:a16="http://schemas.microsoft.com/office/drawing/2014/main" val="20001"/>
                    </a:ext>
                  </a:extLst>
                </a:gridCol>
                <a:gridCol w="5151120">
                  <a:extLst>
                    <a:ext uri="{9D8B030D-6E8A-4147-A177-3AD203B41FA5}">
                      <a16:colId xmlns:a16="http://schemas.microsoft.com/office/drawing/2014/main" val="20002"/>
                    </a:ext>
                  </a:extLst>
                </a:gridCol>
                <a:gridCol w="615315">
                  <a:extLst>
                    <a:ext uri="{9D8B030D-6E8A-4147-A177-3AD203B41FA5}">
                      <a16:colId xmlns:a16="http://schemas.microsoft.com/office/drawing/2014/main" val="20003"/>
                    </a:ext>
                  </a:extLst>
                </a:gridCol>
              </a:tblGrid>
              <a:tr h="795655">
                <a:tc gridSpan="2">
                  <a:txBody>
                    <a:bodyPr/>
                    <a:lstStyle/>
                    <a:p>
                      <a:pPr marL="1336675" marR="1323975" algn="ctr">
                        <a:spcAft>
                          <a:spcPts val="0"/>
                        </a:spcAft>
                      </a:pPr>
                      <a:r>
                        <a:rPr lang="en-US" sz="1800" b="1" kern="0">
                          <a:solidFill>
                            <a:srgbClr val="000000"/>
                          </a:solidFill>
                          <a:latin typeface="Times New Roman" panose="02020603050405020304"/>
                        </a:rPr>
                        <a:t>Course</a:t>
                      </a:r>
                      <a:r>
                        <a:rPr lang="en-US" sz="1800" b="1" kern="0" spc="-30">
                          <a:solidFill>
                            <a:srgbClr val="000000"/>
                          </a:solidFill>
                          <a:latin typeface="Times New Roman" panose="02020603050405020304"/>
                        </a:rPr>
                        <a:t> </a:t>
                      </a:r>
                      <a:r>
                        <a:rPr lang="en-US" sz="1800" b="1" kern="0">
                          <a:solidFill>
                            <a:srgbClr val="000000"/>
                          </a:solidFill>
                          <a:latin typeface="Times New Roman" panose="02020603050405020304"/>
                        </a:rPr>
                        <a:t>Outcomes</a:t>
                      </a:r>
                      <a:r>
                        <a:rPr lang="en-US" sz="1800" b="1" kern="0" spc="-25">
                          <a:solidFill>
                            <a:srgbClr val="000000"/>
                          </a:solidFill>
                          <a:latin typeface="Times New Roman" panose="02020603050405020304"/>
                        </a:rPr>
                        <a:t> </a:t>
                      </a:r>
                      <a:r>
                        <a:rPr lang="en-US" sz="1800" b="1" kern="0">
                          <a:solidFill>
                            <a:srgbClr val="000000"/>
                          </a:solidFill>
                          <a:latin typeface="Times New Roman" panose="02020603050405020304"/>
                        </a:rPr>
                        <a:t>(CO)</a:t>
                      </a:r>
                    </a:p>
                  </a:txBody>
                  <a:tcPr marL="39996" marR="39996" marT="19998" marB="199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spcBef>
                          <a:spcPts val="55"/>
                        </a:spcBef>
                        <a:spcAft>
                          <a:spcPts val="0"/>
                        </a:spcAft>
                      </a:pPr>
                      <a:endParaRPr lang="en-US" sz="2800" kern="0">
                        <a:solidFill>
                          <a:srgbClr val="000000"/>
                        </a:solidFill>
                        <a:latin typeface="Times New Roman" panose="02020603050405020304"/>
                      </a:endParaRPr>
                    </a:p>
                    <a:p>
                      <a:pPr marL="917575" marR="99060" indent="-796290">
                        <a:spcAft>
                          <a:spcPts val="0"/>
                        </a:spcAft>
                      </a:pPr>
                      <a:r>
                        <a:rPr lang="en-US" sz="1800" b="1" kern="0">
                          <a:solidFill>
                            <a:srgbClr val="000000"/>
                          </a:solidFill>
                          <a:latin typeface="Times New Roman" panose="02020603050405020304"/>
                        </a:rPr>
                        <a:t>Bloom’s</a:t>
                      </a:r>
                      <a:r>
                        <a:rPr lang="en-US" sz="1800" b="1" kern="0" spc="-55">
                          <a:solidFill>
                            <a:srgbClr val="000000"/>
                          </a:solidFill>
                          <a:latin typeface="Times New Roman" panose="02020603050405020304"/>
                        </a:rPr>
                        <a:t> </a:t>
                      </a:r>
                      <a:r>
                        <a:rPr lang="en-US" sz="1800" b="1" kern="0">
                          <a:solidFill>
                            <a:srgbClr val="000000"/>
                          </a:solidFill>
                          <a:latin typeface="Times New Roman" panose="02020603050405020304"/>
                        </a:rPr>
                        <a:t>Knowledge</a:t>
                      </a:r>
                      <a:r>
                        <a:rPr lang="en-US" sz="1800" b="1" kern="0" spc="-75">
                          <a:solidFill>
                            <a:srgbClr val="000000"/>
                          </a:solidFill>
                          <a:latin typeface="Times New Roman" panose="02020603050405020304"/>
                        </a:rPr>
                        <a:t> </a:t>
                      </a:r>
                      <a:r>
                        <a:rPr lang="en-US" sz="1800" b="1" kern="0">
                          <a:solidFill>
                            <a:srgbClr val="000000"/>
                          </a:solidFill>
                          <a:latin typeface="Times New Roman" panose="02020603050405020304"/>
                        </a:rPr>
                        <a:t>Level</a:t>
                      </a:r>
                      <a:r>
                        <a:rPr lang="en-US" sz="1800" b="1" kern="0" spc="-335">
                          <a:solidFill>
                            <a:srgbClr val="000000"/>
                          </a:solidFill>
                          <a:latin typeface="Times New Roman" panose="02020603050405020304"/>
                        </a:rPr>
                        <a:t> </a:t>
                      </a:r>
                      <a:r>
                        <a:rPr lang="en-US" sz="1800" b="1" kern="0">
                          <a:solidFill>
                            <a:srgbClr val="000000"/>
                          </a:solidFill>
                          <a:latin typeface="Times New Roman" panose="02020603050405020304"/>
                        </a:rPr>
                        <a:t>(KL)</a:t>
                      </a:r>
                    </a:p>
                  </a:txBody>
                  <a:tcPr marL="39996" marR="39996" marT="19998" marB="199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0"/>
                  </a:ext>
                </a:extLst>
              </a:tr>
              <a:tr h="512445">
                <a:tc gridSpan="2">
                  <a:txBody>
                    <a:bodyPr/>
                    <a:lstStyle/>
                    <a:p>
                      <a:pPr>
                        <a:spcBef>
                          <a:spcPts val="55"/>
                        </a:spcBef>
                        <a:spcAft>
                          <a:spcPts val="0"/>
                        </a:spcAft>
                      </a:pPr>
                      <a:r>
                        <a:rPr lang="en-US" sz="1800" b="1" kern="0">
                          <a:latin typeface="Times New Roman" panose="02020603050405020304"/>
                        </a:rPr>
                        <a:t>Course outcome: </a:t>
                      </a:r>
                      <a:r>
                        <a:rPr lang="en-US" sz="1600" kern="0">
                          <a:latin typeface="Times New Roman" panose="02020603050405020304"/>
                        </a:rPr>
                        <a:t>After completion of this course students will be able to:</a:t>
                      </a:r>
                    </a:p>
                  </a:txBody>
                  <a:tcPr marL="39996" marR="39996" marT="19998" marB="199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spcBef>
                          <a:spcPts val="55"/>
                        </a:spcBef>
                        <a:spcAft>
                          <a:spcPts val="0"/>
                        </a:spcAft>
                      </a:pPr>
                      <a:endParaRPr lang="en-US" sz="2800" kern="0">
                        <a:solidFill>
                          <a:srgbClr val="000000"/>
                        </a:solidFill>
                        <a:latin typeface="Times New Roman" panose="02020603050405020304"/>
                      </a:endParaRPr>
                    </a:p>
                  </a:txBody>
                  <a:tcPr marL="39996" marR="39996" marT="19998" marB="199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570865">
                <a:tc>
                  <a:txBody>
                    <a:bodyPr/>
                    <a:lstStyle/>
                    <a:p>
                      <a:pPr marL="11430" algn="ctr">
                        <a:lnSpc>
                          <a:spcPts val="1340"/>
                        </a:lnSpc>
                        <a:spcAft>
                          <a:spcPts val="0"/>
                        </a:spcAft>
                      </a:pPr>
                      <a:r>
                        <a:rPr lang="en-US" sz="1600" kern="0">
                          <a:solidFill>
                            <a:srgbClr val="000000"/>
                          </a:solidFill>
                          <a:latin typeface="Times New Roman" panose="02020603050405020304"/>
                        </a:rPr>
                        <a:t>CO 1</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12065">
                        <a:spcAft>
                          <a:spcPts val="0"/>
                        </a:spcAft>
                      </a:pPr>
                      <a:r>
                        <a:rPr lang="en-US" sz="1600" kern="0">
                          <a:latin typeface="Times New Roman" panose="02020603050405020304"/>
                        </a:rPr>
                        <a:t>Choose and apply the most suitable search algorithm for a given problem to find the goal state.</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8890" algn="ctr">
                        <a:lnSpc>
                          <a:spcPts val="1340"/>
                        </a:lnSpc>
                        <a:spcAft>
                          <a:spcPts val="0"/>
                        </a:spcAft>
                      </a:pPr>
                      <a:r>
                        <a:rPr lang="en-US" sz="1600" kern="0">
                          <a:solidFill>
                            <a:srgbClr val="000000"/>
                          </a:solidFill>
                          <a:latin typeface="Times New Roman" panose="02020603050405020304"/>
                        </a:rPr>
                        <a:t>K3</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3245">
                <a:tc>
                  <a:txBody>
                    <a:bodyPr/>
                    <a:lstStyle/>
                    <a:p>
                      <a:pPr marL="11430" algn="ctr">
                        <a:lnSpc>
                          <a:spcPts val="1340"/>
                        </a:lnSpc>
                        <a:spcAft>
                          <a:spcPts val="0"/>
                        </a:spcAft>
                      </a:pPr>
                      <a:r>
                        <a:rPr lang="en-US" sz="1600" kern="0">
                          <a:solidFill>
                            <a:srgbClr val="000000"/>
                          </a:solidFill>
                          <a:latin typeface="Times New Roman" panose="02020603050405020304"/>
                        </a:rPr>
                        <a:t>CO2</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12065">
                        <a:lnSpc>
                          <a:spcPts val="1340"/>
                        </a:lnSpc>
                        <a:spcBef>
                          <a:spcPts val="10"/>
                        </a:spcBef>
                        <a:spcAft>
                          <a:spcPts val="0"/>
                        </a:spcAft>
                      </a:pPr>
                      <a:r>
                        <a:rPr lang="en-US" sz="1600" kern="0">
                          <a:solidFill>
                            <a:srgbClr val="000000"/>
                          </a:solidFill>
                          <a:latin typeface="Times New Roman" panose="02020603050405020304"/>
                        </a:rPr>
                        <a:t>Comprehend and apply feature engineering and data visualization concepts.  </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8890" algn="ctr">
                        <a:lnSpc>
                          <a:spcPts val="1340"/>
                        </a:lnSpc>
                        <a:spcAft>
                          <a:spcPts val="0"/>
                        </a:spcAft>
                      </a:pPr>
                      <a:r>
                        <a:rPr lang="en-US" sz="1600" kern="0">
                          <a:solidFill>
                            <a:srgbClr val="000000"/>
                          </a:solidFill>
                          <a:latin typeface="Times New Roman" panose="02020603050405020304"/>
                        </a:rPr>
                        <a:t>K3</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7065">
                <a:tc>
                  <a:txBody>
                    <a:bodyPr/>
                    <a:lstStyle/>
                    <a:p>
                      <a:pPr marL="11430" algn="ctr">
                        <a:lnSpc>
                          <a:spcPts val="1360"/>
                        </a:lnSpc>
                        <a:spcAft>
                          <a:spcPts val="0"/>
                        </a:spcAft>
                      </a:pPr>
                      <a:r>
                        <a:rPr lang="en-US" sz="1600" kern="0">
                          <a:solidFill>
                            <a:srgbClr val="000000"/>
                          </a:solidFill>
                          <a:latin typeface="Times New Roman" panose="02020603050405020304"/>
                        </a:rPr>
                        <a:t>CO3</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12065">
                        <a:spcAft>
                          <a:spcPts val="0"/>
                        </a:spcAft>
                      </a:pPr>
                      <a:r>
                        <a:rPr lang="en-US" sz="1600" kern="0">
                          <a:latin typeface="Times New Roman" panose="02020603050405020304"/>
                        </a:rPr>
                        <a:t>Critically analyze the strengths and weaknesses of various regression and classification algorithms.</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8890" algn="ctr">
                        <a:lnSpc>
                          <a:spcPts val="1360"/>
                        </a:lnSpc>
                        <a:spcAft>
                          <a:spcPts val="0"/>
                        </a:spcAft>
                      </a:pPr>
                      <a:r>
                        <a:rPr lang="en-US" sz="1600" kern="0">
                          <a:solidFill>
                            <a:srgbClr val="000000"/>
                          </a:solidFill>
                          <a:latin typeface="Times New Roman" panose="02020603050405020304"/>
                        </a:rPr>
                        <a:t>K5</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060">
                <a:tc>
                  <a:txBody>
                    <a:bodyPr/>
                    <a:lstStyle/>
                    <a:p>
                      <a:pPr marL="11430" algn="ctr">
                        <a:lnSpc>
                          <a:spcPts val="1360"/>
                        </a:lnSpc>
                        <a:spcAft>
                          <a:spcPts val="0"/>
                        </a:spcAft>
                      </a:pPr>
                      <a:r>
                        <a:rPr lang="en-US" sz="1600" kern="0">
                          <a:solidFill>
                            <a:srgbClr val="000000"/>
                          </a:solidFill>
                          <a:latin typeface="Times New Roman" panose="02020603050405020304"/>
                        </a:rPr>
                        <a:t>CO4</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12065">
                        <a:lnSpc>
                          <a:spcPts val="1340"/>
                        </a:lnSpc>
                        <a:spcBef>
                          <a:spcPts val="10"/>
                        </a:spcBef>
                        <a:spcAft>
                          <a:spcPts val="0"/>
                        </a:spcAft>
                      </a:pPr>
                      <a:r>
                        <a:rPr lang="en-US" sz="1600" kern="0">
                          <a:latin typeface="Times New Roman" panose="02020603050405020304"/>
                        </a:rPr>
                        <a:t>Develop approaches that incorporates appropriate clustering algorithms to solve a specific data clustering problem.</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8890" algn="ctr">
                        <a:lnSpc>
                          <a:spcPts val="1360"/>
                        </a:lnSpc>
                        <a:spcAft>
                          <a:spcPts val="0"/>
                        </a:spcAft>
                      </a:pPr>
                      <a:r>
                        <a:rPr lang="en-US" sz="1600" kern="0">
                          <a:solidFill>
                            <a:srgbClr val="000000"/>
                          </a:solidFill>
                          <a:latin typeface="Times New Roman" panose="02020603050405020304"/>
                        </a:rPr>
                        <a:t>K3</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060">
                <a:tc>
                  <a:txBody>
                    <a:bodyPr/>
                    <a:lstStyle/>
                    <a:p>
                      <a:pPr marL="11430" algn="ctr">
                        <a:lnSpc>
                          <a:spcPts val="1360"/>
                        </a:lnSpc>
                        <a:spcAft>
                          <a:spcPts val="0"/>
                        </a:spcAft>
                      </a:pPr>
                      <a:r>
                        <a:rPr lang="en-US" sz="1600" kern="0">
                          <a:solidFill>
                            <a:srgbClr val="000000"/>
                          </a:solidFill>
                          <a:latin typeface="Times New Roman" panose="02020603050405020304"/>
                        </a:rPr>
                        <a:t>CO5</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12065">
                        <a:lnSpc>
                          <a:spcPts val="1340"/>
                        </a:lnSpc>
                        <a:spcBef>
                          <a:spcPts val="10"/>
                        </a:spcBef>
                        <a:spcAft>
                          <a:spcPts val="0"/>
                        </a:spcAft>
                      </a:pPr>
                      <a:r>
                        <a:rPr lang="en-US" sz="1600" kern="0">
                          <a:latin typeface="Times New Roman" panose="02020603050405020304"/>
                        </a:rPr>
                        <a:t>Analyze the efficiency using the ensemble learning techniques, probabilistic learning and reinforcement learning algorithms.</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8890" algn="ctr">
                        <a:lnSpc>
                          <a:spcPts val="1360"/>
                        </a:lnSpc>
                        <a:spcAft>
                          <a:spcPts val="0"/>
                        </a:spcAft>
                      </a:pPr>
                      <a:r>
                        <a:rPr lang="en-US" sz="1600" kern="0">
                          <a:solidFill>
                            <a:srgbClr val="000000"/>
                          </a:solidFill>
                          <a:latin typeface="Times New Roman" panose="02020603050405020304"/>
                        </a:rPr>
                        <a:t>K4</a:t>
                      </a:r>
                    </a:p>
                  </a:txBody>
                  <a:tcPr marL="39996" marR="39996" marT="19998" marB="1999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4" name="Picture 3"/>
          <p:cNvPicPr/>
          <p:nvPr/>
        </p:nvPicPr>
        <p:blipFill>
          <a:blip r:embed="rId4"/>
          <a:srcRect l="2963" t="30815" r="-830" b="31437"/>
          <a:stretch>
            <a:fillRect/>
          </a:stretch>
        </p:blipFill>
        <p:spPr>
          <a:xfrm>
            <a:off x="0" y="0"/>
            <a:ext cx="2097405" cy="8089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p:nvPr/>
        </p:nvSpPr>
        <p:spPr>
          <a:xfrm>
            <a:off x="2509520" y="0"/>
            <a:ext cx="9681845" cy="731520"/>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8255" algn="ctr">
              <a:spcBef>
                <a:spcPts val="70"/>
              </a:spcBef>
            </a:pPr>
            <a:r>
              <a:rPr lang="en-IN" sz="2400" b="1">
                <a:solidFill>
                  <a:schemeClr val="bg1"/>
                </a:solidFill>
              </a:rPr>
              <a:t>Syllabus</a:t>
            </a:r>
          </a:p>
        </p:txBody>
      </p:sp>
      <p:graphicFrame>
        <p:nvGraphicFramePr>
          <p:cNvPr id="9" name="Table 8"/>
          <p:cNvGraphicFramePr>
            <a:graphicFrameLocks noGrp="1"/>
          </p:cNvGraphicFramePr>
          <p:nvPr>
            <p:custDataLst>
              <p:tags r:id="rId1"/>
            </p:custDataLst>
          </p:nvPr>
        </p:nvGraphicFramePr>
        <p:xfrm>
          <a:off x="837565" y="838835"/>
          <a:ext cx="10698480" cy="5487670"/>
        </p:xfrm>
        <a:graphic>
          <a:graphicData uri="http://schemas.openxmlformats.org/drawingml/2006/table">
            <a:tbl>
              <a:tblPr/>
              <a:tblGrid>
                <a:gridCol w="521970">
                  <a:extLst>
                    <a:ext uri="{9D8B030D-6E8A-4147-A177-3AD203B41FA5}">
                      <a16:colId xmlns:a16="http://schemas.microsoft.com/office/drawing/2014/main" val="20000"/>
                    </a:ext>
                  </a:extLst>
                </a:gridCol>
                <a:gridCol w="956691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460375">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Module</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Lectures</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70635">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Unit-I</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Introduction to AI and problem-solving methods</a:t>
                      </a:r>
                    </a:p>
                    <a:p>
                      <a:pPr algn="just">
                        <a:lnSpc>
                          <a:spcPct val="106000"/>
                        </a:lnSpc>
                        <a:spcAft>
                          <a:spcPts val="0"/>
                        </a:spcAft>
                      </a:pPr>
                      <a:r>
                        <a:rPr lang="en-US" sz="1200" kern="100">
                          <a:solidFill>
                            <a:srgbClr val="000000"/>
                          </a:solidFill>
                          <a:latin typeface="Times New Roman" panose="02020603050405020304"/>
                          <a:ea typeface="Calibri" panose="020F0502020204030204"/>
                          <a:cs typeface="Times New Roman" panose="02020603050405020304"/>
                        </a:rPr>
                        <a:t>Introduction to AI and Intelligent agent, Different Approaches of AI, Problem Solving by searching Techniques: </a:t>
                      </a:r>
                      <a:r>
                        <a:rPr lang="en-US" sz="1200" b="1" kern="100">
                          <a:solidFill>
                            <a:srgbClr val="000000"/>
                          </a:solidFill>
                          <a:latin typeface="Times New Roman" panose="02020603050405020304"/>
                          <a:ea typeface="Calibri" panose="020F0502020204030204"/>
                          <a:cs typeface="Times New Roman" panose="02020603050405020304"/>
                        </a:rPr>
                        <a:t>Uninformed search</a:t>
                      </a:r>
                      <a:r>
                        <a:rPr lang="en-US" sz="1200" kern="100">
                          <a:solidFill>
                            <a:srgbClr val="000000"/>
                          </a:solidFill>
                          <a:latin typeface="Times New Roman" panose="02020603050405020304"/>
                          <a:ea typeface="Calibri" panose="020F0502020204030204"/>
                          <a:cs typeface="Times New Roman" panose="02020603050405020304"/>
                        </a:rPr>
                        <a:t>- BFS, DFS, Iterative deepening, Bi directional search, </a:t>
                      </a:r>
                      <a:endParaRPr lang="en-US" sz="1200" kern="100">
                        <a:latin typeface="+mn-lt"/>
                        <a:cs typeface="Times New Roman" panose="02020603050405020304"/>
                      </a:endParaRPr>
                    </a:p>
                    <a:p>
                      <a:pPr algn="just">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Informed search-</a:t>
                      </a:r>
                      <a:r>
                        <a:rPr lang="en-US" sz="1200" kern="100">
                          <a:solidFill>
                            <a:srgbClr val="000000"/>
                          </a:solidFill>
                          <a:latin typeface="Times New Roman" panose="02020603050405020304"/>
                          <a:ea typeface="Calibri" panose="020F0502020204030204"/>
                          <a:cs typeface="Times New Roman" panose="02020603050405020304"/>
                        </a:rPr>
                        <a:t> Iterative deepening, Bi directional search, Heuristic search, Greedy Best First Search, A</a:t>
                      </a:r>
                      <a:r>
                        <a:rPr lang="en-US" sz="1200" kern="100" baseline="30000">
                          <a:solidFill>
                            <a:srgbClr val="000000"/>
                          </a:solidFill>
                          <a:latin typeface="Times New Roman" panose="02020603050405020304"/>
                          <a:ea typeface="Calibri" panose="020F0502020204030204"/>
                          <a:cs typeface="Times New Roman" panose="02020603050405020304"/>
                        </a:rPr>
                        <a:t>* </a:t>
                      </a:r>
                      <a:r>
                        <a:rPr lang="en-US" sz="1200" kern="100">
                          <a:solidFill>
                            <a:srgbClr val="000000"/>
                          </a:solidFill>
                          <a:latin typeface="Times New Roman" panose="02020603050405020304"/>
                          <a:ea typeface="Calibri" panose="020F0502020204030204"/>
                          <a:cs typeface="Times New Roman" panose="02020603050405020304"/>
                        </a:rPr>
                        <a:t> search, </a:t>
                      </a:r>
                      <a:r>
                        <a:rPr lang="en-US" sz="1200" b="1" kern="100">
                          <a:solidFill>
                            <a:srgbClr val="000000"/>
                          </a:solidFill>
                          <a:latin typeface="Times New Roman" panose="02020603050405020304"/>
                          <a:ea typeface="Calibri" panose="020F0502020204030204"/>
                          <a:cs typeface="Times New Roman" panose="02020603050405020304"/>
                        </a:rPr>
                        <a:t>Local Search Algorithms-</a:t>
                      </a:r>
                      <a:r>
                        <a:rPr lang="en-US" sz="1200" kern="100">
                          <a:latin typeface="+mn-lt"/>
                          <a:cs typeface="Times New Roman" panose="02020603050405020304"/>
                        </a:rPr>
                        <a:t> </a:t>
                      </a:r>
                      <a:r>
                        <a:rPr lang="en-US" sz="1200" kern="100">
                          <a:solidFill>
                            <a:srgbClr val="000000"/>
                          </a:solidFill>
                          <a:latin typeface="Times New Roman" panose="02020603050405020304"/>
                          <a:ea typeface="Calibri" panose="020F0502020204030204"/>
                          <a:cs typeface="Times New Roman" panose="02020603050405020304"/>
                        </a:rPr>
                        <a:t>Hill Climbing and Simulated Annealing</a:t>
                      </a:r>
                      <a:endParaRPr lang="en-US" sz="1200" kern="100">
                        <a:latin typeface="+mn-lt"/>
                        <a:cs typeface="Times New Roman" panose="02020603050405020304"/>
                      </a:endParaRPr>
                    </a:p>
                    <a:p>
                      <a:pPr algn="just">
                        <a:lnSpc>
                          <a:spcPct val="106000"/>
                        </a:lnSpc>
                        <a:spcAft>
                          <a:spcPts val="0"/>
                        </a:spcAft>
                      </a:pPr>
                      <a:r>
                        <a:rPr lang="en-US" sz="1200" b="1" kern="100" err="1">
                          <a:solidFill>
                            <a:srgbClr val="000000"/>
                          </a:solidFill>
                          <a:latin typeface="Times New Roman" panose="02020603050405020304"/>
                          <a:ea typeface="Calibri" panose="020F0502020204030204"/>
                          <a:cs typeface="Times New Roman" panose="02020603050405020304"/>
                        </a:rPr>
                        <a:t>Adversial</a:t>
                      </a:r>
                      <a:r>
                        <a:rPr lang="en-US" sz="1200" b="1" kern="100">
                          <a:solidFill>
                            <a:srgbClr val="000000"/>
                          </a:solidFill>
                          <a:latin typeface="Times New Roman" panose="02020603050405020304"/>
                          <a:ea typeface="Calibri" panose="020F0502020204030204"/>
                          <a:cs typeface="Times New Roman" panose="02020603050405020304"/>
                        </a:rPr>
                        <a:t> Search- </a:t>
                      </a:r>
                      <a:r>
                        <a:rPr lang="en-US" sz="1200" kern="100">
                          <a:solidFill>
                            <a:srgbClr val="000000"/>
                          </a:solidFill>
                          <a:latin typeface="Times New Roman" panose="02020603050405020304"/>
                          <a:ea typeface="Calibri" panose="020F0502020204030204"/>
                          <a:cs typeface="Times New Roman" panose="02020603050405020304"/>
                        </a:rPr>
                        <a:t>Game Playing- </a:t>
                      </a:r>
                      <a:r>
                        <a:rPr lang="en-US" sz="1200" kern="100" err="1">
                          <a:solidFill>
                            <a:srgbClr val="000000"/>
                          </a:solidFill>
                          <a:latin typeface="Times New Roman" panose="02020603050405020304"/>
                          <a:ea typeface="Calibri" panose="020F0502020204030204"/>
                          <a:cs typeface="Times New Roman" panose="02020603050405020304"/>
                        </a:rPr>
                        <a:t>minimax</a:t>
                      </a:r>
                      <a:r>
                        <a:rPr lang="en-US" sz="1200" kern="100">
                          <a:solidFill>
                            <a:srgbClr val="000000"/>
                          </a:solidFill>
                          <a:latin typeface="Times New Roman" panose="02020603050405020304"/>
                          <a:ea typeface="Calibri" panose="020F0502020204030204"/>
                          <a:cs typeface="Times New Roman" panose="02020603050405020304"/>
                        </a:rPr>
                        <a:t>, alpha-beta pruning, constraint satisfaction problems</a:t>
                      </a:r>
                      <a:endParaRPr lang="en-US" sz="1200" kern="100">
                        <a:latin typeface="+mn-lt"/>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6000"/>
                        </a:lnSpc>
                        <a:spcAft>
                          <a:spcPts val="0"/>
                        </a:spcAft>
                      </a:pPr>
                      <a:endParaRPr lang="en-US" sz="1200" kern="100">
                        <a:latin typeface="Calibri" panose="020F0502020204030204"/>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7725">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Unit-II</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Machine Learning &amp; Feature Engineering</a:t>
                      </a:r>
                    </a:p>
                    <a:p>
                      <a:pPr algn="just">
                        <a:lnSpc>
                          <a:spcPct val="106000"/>
                        </a:lnSpc>
                        <a:spcAft>
                          <a:spcPts val="0"/>
                        </a:spcAft>
                      </a:pPr>
                      <a:r>
                        <a:rPr lang="en-US" sz="1200" kern="100">
                          <a:solidFill>
                            <a:srgbClr val="000000"/>
                          </a:solidFill>
                          <a:latin typeface="Times New Roman" panose="02020603050405020304"/>
                          <a:ea typeface="Calibri" panose="020F0502020204030204"/>
                          <a:cs typeface="Times New Roman" panose="02020603050405020304"/>
                        </a:rPr>
                        <a:t>Introduction to Machine Learning, Types of Machine Learning, </a:t>
                      </a:r>
                      <a:r>
                        <a:rPr lang="en-US" sz="1200" b="1" kern="100">
                          <a:solidFill>
                            <a:srgbClr val="000000"/>
                          </a:solidFill>
                          <a:latin typeface="Times New Roman" panose="02020603050405020304"/>
                          <a:ea typeface="Calibri" panose="020F0502020204030204"/>
                          <a:cs typeface="Times New Roman" panose="02020603050405020304"/>
                        </a:rPr>
                        <a:t>Feature Engineering</a:t>
                      </a:r>
                      <a:r>
                        <a:rPr lang="en-US" sz="1200" kern="100">
                          <a:solidFill>
                            <a:srgbClr val="000000"/>
                          </a:solidFill>
                          <a:latin typeface="Times New Roman" panose="02020603050405020304"/>
                          <a:ea typeface="Calibri" panose="020F0502020204030204"/>
                          <a:cs typeface="Times New Roman" panose="02020603050405020304"/>
                        </a:rPr>
                        <a:t>: Features and their types, handing missing data, Dealing with categorical features,</a:t>
                      </a:r>
                      <a:r>
                        <a:rPr lang="en-US" sz="1200" kern="100">
                          <a:solidFill>
                            <a:srgbClr val="000000"/>
                          </a:solidFill>
                          <a:latin typeface="+mn-lt"/>
                          <a:cs typeface="Times New Roman" panose="02020603050405020304"/>
                        </a:rPr>
                        <a:t> </a:t>
                      </a:r>
                      <a:r>
                        <a:rPr lang="en-US" sz="1200" b="1" kern="100">
                          <a:solidFill>
                            <a:srgbClr val="000000"/>
                          </a:solidFill>
                          <a:latin typeface="Times New Roman" panose="02020603050405020304"/>
                          <a:ea typeface="Calibri" panose="020F0502020204030204"/>
                          <a:cs typeface="Times New Roman" panose="02020603050405020304"/>
                        </a:rPr>
                        <a:t>Working with features:</a:t>
                      </a:r>
                      <a:r>
                        <a:rPr lang="en-US" sz="1200" kern="100">
                          <a:solidFill>
                            <a:srgbClr val="000000"/>
                          </a:solidFill>
                          <a:latin typeface="Times New Roman" panose="02020603050405020304"/>
                          <a:ea typeface="Calibri" panose="020F0502020204030204"/>
                          <a:cs typeface="Times New Roman" panose="02020603050405020304"/>
                        </a:rPr>
                        <a:t> Feature Scaling, Feature selection, </a:t>
                      </a:r>
                      <a:r>
                        <a:rPr lang="en-US" sz="1200" b="1" kern="100">
                          <a:solidFill>
                            <a:srgbClr val="000000"/>
                          </a:solidFill>
                          <a:latin typeface="Times New Roman" panose="02020603050405020304"/>
                          <a:ea typeface="Calibri" panose="020F0502020204030204"/>
                          <a:cs typeface="Times New Roman" panose="02020603050405020304"/>
                        </a:rPr>
                        <a:t>Feature Extraction:</a:t>
                      </a:r>
                      <a:r>
                        <a:rPr lang="en-US" sz="1200" kern="100">
                          <a:solidFill>
                            <a:srgbClr val="000000"/>
                          </a:solidFill>
                          <a:latin typeface="Times New Roman" panose="02020603050405020304"/>
                          <a:ea typeface="Calibri" panose="020F0502020204030204"/>
                          <a:cs typeface="Times New Roman" panose="02020603050405020304"/>
                        </a:rPr>
                        <a:t> Principal Component Analysis (PCA) algorithm</a:t>
                      </a:r>
                      <a:endParaRPr lang="en-US" sz="1200" kern="100">
                        <a:latin typeface="+mn-lt"/>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6000"/>
                        </a:lnSpc>
                        <a:spcAft>
                          <a:spcPts val="0"/>
                        </a:spcAft>
                      </a:pPr>
                      <a:endParaRPr lang="en-US" sz="1200" kern="100">
                        <a:latin typeface="Calibri" panose="020F0502020204030204"/>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50620">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 III</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Supervised Learning</a:t>
                      </a:r>
                    </a:p>
                    <a:p>
                      <a:pPr algn="just">
                        <a:spcAft>
                          <a:spcPts val="0"/>
                        </a:spcAft>
                      </a:pPr>
                      <a:r>
                        <a:rPr lang="en-US" sz="1200" b="1" kern="0">
                          <a:solidFill>
                            <a:srgbClr val="000000"/>
                          </a:solidFill>
                          <a:latin typeface="Times New Roman" panose="02020603050405020304"/>
                          <a:ea typeface="Calibri" panose="020F0502020204030204"/>
                        </a:rPr>
                        <a:t>Regression &amp; Classification: </a:t>
                      </a:r>
                      <a:r>
                        <a:rPr lang="en-US" sz="1200" kern="0">
                          <a:solidFill>
                            <a:srgbClr val="000000"/>
                          </a:solidFill>
                          <a:latin typeface="Times New Roman" panose="02020603050405020304"/>
                          <a:ea typeface="Calibri" panose="020F0502020204030204"/>
                        </a:rPr>
                        <a:t>Types of regression (</a:t>
                      </a:r>
                      <a:r>
                        <a:rPr lang="en-US" sz="1200" kern="0" err="1">
                          <a:solidFill>
                            <a:srgbClr val="000000"/>
                          </a:solidFill>
                          <a:latin typeface="Times New Roman" panose="02020603050405020304"/>
                          <a:ea typeface="Calibri" panose="020F0502020204030204"/>
                        </a:rPr>
                        <a:t>Univariate</a:t>
                      </a:r>
                      <a:r>
                        <a:rPr lang="en-US" sz="1200" kern="0">
                          <a:solidFill>
                            <a:srgbClr val="000000"/>
                          </a:solidFill>
                          <a:latin typeface="Times New Roman" panose="02020603050405020304"/>
                          <a:ea typeface="Calibri" panose="020F0502020204030204"/>
                        </a:rPr>
                        <a:t>, Multivariate, Polynomial), Mean Square Error, R square error, Logistic Regression,</a:t>
                      </a:r>
                      <a:r>
                        <a:rPr lang="en-US" sz="1200" kern="0" baseline="0">
                          <a:solidFill>
                            <a:srgbClr val="000000"/>
                          </a:solidFill>
                          <a:latin typeface="Times New Roman" panose="02020603050405020304"/>
                          <a:ea typeface="Calibri" panose="020F0502020204030204"/>
                        </a:rPr>
                        <a:t> </a:t>
                      </a:r>
                      <a:r>
                        <a:rPr lang="en-US" sz="1200" b="1" kern="100">
                          <a:solidFill>
                            <a:srgbClr val="000000"/>
                          </a:solidFill>
                          <a:latin typeface="Times New Roman" panose="02020603050405020304"/>
                          <a:ea typeface="Calibri" panose="020F0502020204030204"/>
                          <a:cs typeface="Times New Roman" panose="02020603050405020304"/>
                        </a:rPr>
                        <a:t>Regularization:</a:t>
                      </a:r>
                      <a:r>
                        <a:rPr lang="en-US" sz="1200" kern="100">
                          <a:solidFill>
                            <a:srgbClr val="000000"/>
                          </a:solidFill>
                          <a:latin typeface="Times New Roman" panose="02020603050405020304"/>
                          <a:ea typeface="Calibri" panose="020F0502020204030204"/>
                          <a:cs typeface="Times New Roman" panose="02020603050405020304"/>
                        </a:rPr>
                        <a:t> </a:t>
                      </a:r>
                      <a:r>
                        <a:rPr lang="en-US" sz="1200" kern="0">
                          <a:solidFill>
                            <a:srgbClr val="000000"/>
                          </a:solidFill>
                          <a:latin typeface="Times New Roman" panose="02020603050405020304"/>
                          <a:ea typeface="Calibri" panose="020F0502020204030204"/>
                          <a:cs typeface="Times New Roman" panose="02020603050405020304"/>
                        </a:rPr>
                        <a:t>Bias and Variance, </a:t>
                      </a:r>
                      <a:r>
                        <a:rPr lang="en-US" sz="1200" kern="0" err="1">
                          <a:solidFill>
                            <a:srgbClr val="000000"/>
                          </a:solidFill>
                          <a:latin typeface="Times New Roman" panose="02020603050405020304"/>
                          <a:ea typeface="Calibri" panose="020F0502020204030204"/>
                          <a:cs typeface="Times New Roman" panose="02020603050405020304"/>
                        </a:rPr>
                        <a:t>Overfitting</a:t>
                      </a:r>
                      <a:r>
                        <a:rPr lang="en-US" sz="1200" kern="0">
                          <a:solidFill>
                            <a:srgbClr val="000000"/>
                          </a:solidFill>
                          <a:latin typeface="Times New Roman" panose="02020603050405020304"/>
                          <a:ea typeface="Calibri" panose="020F0502020204030204"/>
                          <a:cs typeface="Times New Roman" panose="02020603050405020304"/>
                        </a:rPr>
                        <a:t> and </a:t>
                      </a:r>
                      <a:r>
                        <a:rPr lang="en-US" sz="1200" kern="0" err="1">
                          <a:solidFill>
                            <a:srgbClr val="000000"/>
                          </a:solidFill>
                          <a:latin typeface="Times New Roman" panose="02020603050405020304"/>
                          <a:ea typeface="Calibri" panose="020F0502020204030204"/>
                          <a:cs typeface="Times New Roman" panose="02020603050405020304"/>
                        </a:rPr>
                        <a:t>Underfitting</a:t>
                      </a:r>
                      <a:r>
                        <a:rPr lang="en-US" sz="1200" kern="0">
                          <a:solidFill>
                            <a:srgbClr val="000000"/>
                          </a:solidFill>
                          <a:latin typeface="Times New Roman" panose="02020603050405020304"/>
                          <a:ea typeface="Calibri" panose="020F0502020204030204"/>
                          <a:cs typeface="Times New Roman" panose="02020603050405020304"/>
                        </a:rPr>
                        <a:t>, L1 and L2 Regularization, Regularized Linear Regression, </a:t>
                      </a:r>
                      <a:r>
                        <a:rPr lang="en-US" sz="1200" kern="0">
                          <a:solidFill>
                            <a:srgbClr val="000000"/>
                          </a:solidFill>
                          <a:latin typeface="Times New Roman" panose="02020603050405020304"/>
                          <a:ea typeface="Calibri" panose="020F0502020204030204"/>
                        </a:rPr>
                        <a:t>Decision Trees (ID3, C4.5, CART), Confusion matrix, k-folds cross-validation,</a:t>
                      </a:r>
                      <a:r>
                        <a:rPr lang="en-US" sz="1200" kern="0">
                          <a:solidFill>
                            <a:srgbClr val="000000"/>
                          </a:solidFill>
                          <a:latin typeface="Times New Roman" panose="02020603050405020304"/>
                          <a:ea typeface="Calibri" panose="020F0502020204030204"/>
                          <a:cs typeface="Times New Roman" panose="02020603050405020304"/>
                        </a:rPr>
                        <a:t> K Nearest </a:t>
                      </a:r>
                      <a:r>
                        <a:rPr lang="en-US" sz="1200" kern="0" err="1">
                          <a:solidFill>
                            <a:srgbClr val="000000"/>
                          </a:solidFill>
                          <a:latin typeface="Times New Roman" panose="02020603050405020304"/>
                          <a:ea typeface="Calibri" panose="020F0502020204030204"/>
                          <a:cs typeface="Times New Roman" panose="02020603050405020304"/>
                        </a:rPr>
                        <a:t>Neighbour</a:t>
                      </a:r>
                      <a:r>
                        <a:rPr lang="en-US" sz="1200" kern="0">
                          <a:solidFill>
                            <a:srgbClr val="000000"/>
                          </a:solidFill>
                          <a:latin typeface="Times New Roman" panose="02020603050405020304"/>
                          <a:ea typeface="Calibri" panose="020F0502020204030204"/>
                          <a:cs typeface="Times New Roman" panose="02020603050405020304"/>
                        </a:rPr>
                        <a:t>, Support vector machine.</a:t>
                      </a:r>
                      <a:endParaRPr lang="en-US" sz="1200" kern="100">
                        <a:latin typeface="+mn-lt"/>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a:latin typeface="Calibri" panose="020F0502020204030204"/>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2480">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 IV</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Unsupervised Machine Learning</a:t>
                      </a:r>
                    </a:p>
                    <a:p>
                      <a:pPr algn="just">
                        <a:spcAft>
                          <a:spcPts val="0"/>
                        </a:spcAft>
                      </a:pPr>
                      <a:r>
                        <a:rPr lang="en-US" sz="1200" kern="0">
                          <a:solidFill>
                            <a:srgbClr val="000000"/>
                          </a:solidFill>
                          <a:latin typeface="Times New Roman" panose="02020603050405020304"/>
                          <a:ea typeface="Calibri" panose="020F0502020204030204"/>
                        </a:rPr>
                        <a:t>Introduction to clustering, </a:t>
                      </a:r>
                      <a:r>
                        <a:rPr lang="en-US" sz="1200" b="1" kern="0">
                          <a:solidFill>
                            <a:srgbClr val="000000"/>
                          </a:solidFill>
                          <a:latin typeface="Times New Roman" panose="02020603050405020304"/>
                          <a:ea typeface="Calibri" panose="020F0502020204030204"/>
                        </a:rPr>
                        <a:t>Types of clustering:</a:t>
                      </a:r>
                      <a:r>
                        <a:rPr lang="en-US" sz="1200" kern="0">
                          <a:solidFill>
                            <a:srgbClr val="000000"/>
                          </a:solidFill>
                          <a:latin typeface="Times New Roman" panose="02020603050405020304"/>
                          <a:ea typeface="Calibri" panose="020F0502020204030204"/>
                        </a:rPr>
                        <a:t> K-means clustering, K-mode, K-</a:t>
                      </a:r>
                      <a:r>
                        <a:rPr lang="en-US" sz="1200" kern="0" err="1">
                          <a:solidFill>
                            <a:srgbClr val="000000"/>
                          </a:solidFill>
                          <a:latin typeface="Times New Roman" panose="02020603050405020304"/>
                          <a:ea typeface="Calibri" panose="020F0502020204030204"/>
                        </a:rPr>
                        <a:t>medoid</a:t>
                      </a:r>
                      <a:r>
                        <a:rPr lang="en-US" sz="1200" kern="0">
                          <a:solidFill>
                            <a:srgbClr val="000000"/>
                          </a:solidFill>
                          <a:latin typeface="Times New Roman" panose="02020603050405020304"/>
                          <a:ea typeface="Calibri" panose="020F0502020204030204"/>
                        </a:rPr>
                        <a:t>, hierarchical clustering, single-linkage, multiple linkage, AGNES and DIANA algorithms, Gaussian mixture models density based clustering, DBSCAN</a:t>
                      </a:r>
                      <a:endParaRPr lang="en-US" sz="1200">
                        <a:solidFill>
                          <a:srgbClr val="000000"/>
                        </a:solidFill>
                        <a:latin typeface="Times New Roman" panose="02020603050405020304"/>
                        <a:ea typeface="Calibri" panose="020F0502020204030204"/>
                      </a:endParaRPr>
                    </a:p>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 </a:t>
                      </a:r>
                      <a:endParaRPr lang="en-US" sz="1200" kern="100">
                        <a:latin typeface="Calibri" panose="020F0502020204030204"/>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a:solidFill>
                          <a:srgbClr val="000000"/>
                        </a:solidFill>
                        <a:latin typeface="Times New Roman" panose="02020603050405020304"/>
                        <a:ea typeface="Calibri" panose="020F05020202040302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65835">
                <a:tc>
                  <a:txBody>
                    <a:bodyPr/>
                    <a:lstStyle/>
                    <a:p>
                      <a:pPr algn="ct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Unit V</a:t>
                      </a:r>
                      <a:endParaRPr lang="en-US" sz="1200" kern="100">
                        <a:latin typeface="Calibri" panose="020F0502020204030204"/>
                        <a:cs typeface="Times New Roman" panose="02020603050405020304"/>
                      </a:endParaRPr>
                    </a:p>
                  </a:txBody>
                  <a:tcPr marL="29842" marR="29842" marT="19895" marB="1989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6000"/>
                        </a:lnSpc>
                        <a:spcAft>
                          <a:spcPts val="0"/>
                        </a:spcAft>
                      </a:pPr>
                      <a:r>
                        <a:rPr lang="en-US" sz="1200" b="1" kern="100">
                          <a:solidFill>
                            <a:srgbClr val="000000"/>
                          </a:solidFill>
                          <a:latin typeface="Times New Roman" panose="02020603050405020304"/>
                          <a:ea typeface="Calibri" panose="020F0502020204030204"/>
                          <a:cs typeface="Times New Roman" panose="02020603050405020304"/>
                        </a:rPr>
                        <a:t>Ensemble &amp; Reinforcement Learning</a:t>
                      </a:r>
                    </a:p>
                    <a:p>
                      <a:pPr algn="just">
                        <a:spcAft>
                          <a:spcPts val="0"/>
                        </a:spcAft>
                      </a:pPr>
                      <a:r>
                        <a:rPr lang="en-US" sz="1200" b="1" kern="0">
                          <a:solidFill>
                            <a:srgbClr val="000000"/>
                          </a:solidFill>
                          <a:latin typeface="Times New Roman" panose="02020603050405020304"/>
                          <a:ea typeface="Calibri" panose="020F0502020204030204"/>
                        </a:rPr>
                        <a:t>Probabilistic learning:</a:t>
                      </a:r>
                      <a:r>
                        <a:rPr lang="en-US" sz="1200" b="1" kern="0" baseline="0">
                          <a:solidFill>
                            <a:srgbClr val="000000"/>
                          </a:solidFill>
                          <a:latin typeface="Times New Roman" panose="02020603050405020304"/>
                          <a:ea typeface="Calibri" panose="020F0502020204030204"/>
                        </a:rPr>
                        <a:t> </a:t>
                      </a:r>
                      <a:r>
                        <a:rPr lang="en-US" sz="1200" kern="0">
                          <a:solidFill>
                            <a:srgbClr val="000000"/>
                          </a:solidFill>
                          <a:latin typeface="Times New Roman" panose="02020603050405020304"/>
                          <a:ea typeface="Calibri" panose="020F0502020204030204"/>
                        </a:rPr>
                        <a:t>Bayesian Learning, Naive </a:t>
                      </a:r>
                      <a:r>
                        <a:rPr lang="en-US" sz="1200" kern="0" err="1">
                          <a:solidFill>
                            <a:srgbClr val="000000"/>
                          </a:solidFill>
                          <a:latin typeface="Times New Roman" panose="02020603050405020304"/>
                          <a:ea typeface="Calibri" panose="020F0502020204030204"/>
                        </a:rPr>
                        <a:t>Bayes</a:t>
                      </a:r>
                      <a:r>
                        <a:rPr lang="en-US" sz="1200" kern="0">
                          <a:solidFill>
                            <a:srgbClr val="000000"/>
                          </a:solidFill>
                          <a:latin typeface="Times New Roman" panose="02020603050405020304"/>
                          <a:ea typeface="Calibri" panose="020F0502020204030204"/>
                        </a:rPr>
                        <a:t> Classifier, Bayesian belief networks, </a:t>
                      </a:r>
                      <a:r>
                        <a:rPr lang="en-US" sz="1200" b="1" kern="100">
                          <a:solidFill>
                            <a:srgbClr val="000000"/>
                          </a:solidFill>
                          <a:latin typeface="Times New Roman" panose="02020603050405020304"/>
                          <a:ea typeface="Calibri" panose="020F0502020204030204"/>
                          <a:cs typeface="Times New Roman" panose="02020603050405020304"/>
                        </a:rPr>
                        <a:t>Ensembles Learning: </a:t>
                      </a:r>
                      <a:r>
                        <a:rPr lang="en-US" sz="1200" kern="0">
                          <a:solidFill>
                            <a:srgbClr val="000000"/>
                          </a:solidFill>
                          <a:latin typeface="Times New Roman" panose="02020603050405020304"/>
                          <a:ea typeface="Calibri" panose="020F0502020204030204"/>
                        </a:rPr>
                        <a:t>Random Forest, Gradient Boosting, </a:t>
                      </a:r>
                      <a:r>
                        <a:rPr lang="en-US" sz="1200" kern="0" err="1">
                          <a:solidFill>
                            <a:srgbClr val="000000"/>
                          </a:solidFill>
                          <a:latin typeface="Times New Roman" panose="02020603050405020304"/>
                          <a:ea typeface="Calibri" panose="020F0502020204030204"/>
                        </a:rPr>
                        <a:t>XGBoost</a:t>
                      </a:r>
                      <a:r>
                        <a:rPr lang="en-US" sz="1200" kern="0">
                          <a:solidFill>
                            <a:srgbClr val="000000"/>
                          </a:solidFill>
                          <a:latin typeface="Times New Roman" panose="02020603050405020304"/>
                          <a:ea typeface="Calibri" panose="020F0502020204030204"/>
                        </a:rPr>
                        <a:t>., </a:t>
                      </a:r>
                      <a:r>
                        <a:rPr lang="en-US" sz="1200" b="1" kern="100">
                          <a:solidFill>
                            <a:srgbClr val="000000"/>
                          </a:solidFill>
                          <a:latin typeface="Times New Roman" panose="02020603050405020304"/>
                          <a:ea typeface="Calibri" panose="020F0502020204030204"/>
                          <a:cs typeface="Times New Roman" panose="02020603050405020304"/>
                        </a:rPr>
                        <a:t>Reinforcement Learning:</a:t>
                      </a:r>
                      <a:r>
                        <a:rPr lang="en-US" sz="1200" kern="100">
                          <a:solidFill>
                            <a:srgbClr val="000000"/>
                          </a:solidFill>
                          <a:latin typeface="+mn-lt"/>
                          <a:cs typeface="Times New Roman" panose="02020603050405020304"/>
                        </a:rPr>
                        <a:t> </a:t>
                      </a:r>
                      <a:r>
                        <a:rPr lang="en-US" sz="1200" kern="0">
                          <a:solidFill>
                            <a:srgbClr val="000000"/>
                          </a:solidFill>
                          <a:latin typeface="Times New Roman" panose="02020603050405020304"/>
                          <a:ea typeface="Calibri" panose="020F0502020204030204"/>
                        </a:rPr>
                        <a:t>Introduction to reinforcement learning, models of reinforcement learning: Markov decision process,  Q-learning. </a:t>
                      </a:r>
                      <a:endParaRPr lang="en-US" sz="1200">
                        <a:solidFill>
                          <a:srgbClr val="000000"/>
                        </a:solidFill>
                        <a:latin typeface="Times New Roman" panose="02020603050405020304"/>
                        <a:ea typeface="Calibri" panose="020F0502020204030204"/>
                      </a:endParaRPr>
                    </a:p>
                    <a:p>
                      <a:pPr>
                        <a:lnSpc>
                          <a:spcPct val="106000"/>
                        </a:lnSpc>
                        <a:spcAft>
                          <a:spcPts val="0"/>
                        </a:spcAft>
                      </a:pPr>
                      <a:endParaRPr lang="en-US" sz="1200" kern="100">
                        <a:latin typeface="Calibri" panose="020F0502020204030204"/>
                        <a:cs typeface="Times New Roman" panose="020206030504050203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a:solidFill>
                          <a:srgbClr val="000000"/>
                        </a:solidFill>
                        <a:latin typeface="Times New Roman" panose="02020603050405020304"/>
                        <a:ea typeface="Calibri" panose="020F0502020204030204"/>
                      </a:endParaRPr>
                    </a:p>
                  </a:txBody>
                  <a:tcPr marL="29842" marR="29842" marT="19895" marB="198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4" name="Picture 3"/>
          <p:cNvPicPr/>
          <p:nvPr/>
        </p:nvPicPr>
        <p:blipFill>
          <a:blip r:embed="rId4"/>
          <a:srcRect l="2963" t="30815" r="-830" b="31437"/>
          <a:stretch>
            <a:fillRect/>
          </a:stretch>
        </p:blipFill>
        <p:spPr>
          <a:xfrm>
            <a:off x="0" y="0"/>
            <a:ext cx="2097405" cy="8089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custDataLst>
              <p:tags r:id="rId1"/>
            </p:custDataLst>
          </p:nvPr>
        </p:nvGraphicFramePr>
        <p:xfrm>
          <a:off x="454660" y="1216025"/>
          <a:ext cx="11189970" cy="3522980"/>
        </p:xfrm>
        <a:graphic>
          <a:graphicData uri="http://schemas.openxmlformats.org/drawingml/2006/table">
            <a:tbl>
              <a:tblPr firstRow="1" firstCol="1" bandRow="1">
                <a:tableStyleId>{BDBED569-4797-4DF1-A0F4-6AAB3CD982D8}</a:tableStyleId>
              </a:tblPr>
              <a:tblGrid>
                <a:gridCol w="2073275">
                  <a:extLst>
                    <a:ext uri="{9D8B030D-6E8A-4147-A177-3AD203B41FA5}">
                      <a16:colId xmlns:a16="http://schemas.microsoft.com/office/drawing/2014/main" val="20000"/>
                    </a:ext>
                  </a:extLst>
                </a:gridCol>
                <a:gridCol w="733552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tblGrid>
              <a:tr h="420370">
                <a:tc gridSpan="3">
                  <a:txBody>
                    <a:bodyPr/>
                    <a:lstStyle/>
                    <a:p>
                      <a:pPr marL="0" marR="0" algn="ctr">
                        <a:lnSpc>
                          <a:spcPct val="115000"/>
                        </a:lnSpc>
                        <a:spcBef>
                          <a:spcPts val="0"/>
                        </a:spcBef>
                        <a:spcAft>
                          <a:spcPts val="0"/>
                        </a:spcAft>
                        <a:tabLst>
                          <a:tab pos="1533525" algn="l"/>
                        </a:tabLst>
                      </a:pPr>
                      <a:endParaRPr lang="en-US" sz="2400" b="1">
                        <a:effectLst/>
                        <a:latin typeface="Times New Roman" panose="02020603050405020304" pitchFamily="18" charset="0"/>
                        <a:ea typeface="Calibri" panose="020F0502020204030204" charset="0"/>
                        <a:cs typeface="Times New Roman" panose="02020603050405020304" pitchFamily="18" charset="0"/>
                      </a:endParaRPr>
                    </a:p>
                  </a:txBody>
                  <a:tcPr marL="38576" marR="38576" marT="0" marB="0"/>
                </a:tc>
                <a:tc hMerge="1">
                  <a:txBody>
                    <a:bodyPr/>
                    <a:lstStyle/>
                    <a:p>
                      <a:endParaRPr lang="en-US"/>
                    </a:p>
                  </a:txBody>
                  <a:tcPr/>
                </a:tc>
                <a:tc hMerge="1">
                  <a:txBody>
                    <a:bodyPr/>
                    <a:lstStyle/>
                    <a:p>
                      <a:endParaRPr lang="en-US"/>
                    </a:p>
                  </a:txBody>
                  <a:tcPr marL="51435" marR="51435" marT="0" marB="0"/>
                </a:tc>
                <a:extLst>
                  <a:ext uri="{0D108BD9-81ED-4DB2-BD59-A6C34878D82A}">
                    <a16:rowId xmlns:a16="http://schemas.microsoft.com/office/drawing/2014/main" val="10000"/>
                  </a:ext>
                </a:extLst>
              </a:tr>
              <a:tr h="595630">
                <a:tc>
                  <a:txBody>
                    <a:bodyPr/>
                    <a:lstStyle/>
                    <a:p>
                      <a:pPr algn="l">
                        <a:lnSpc>
                          <a:spcPct val="115000"/>
                        </a:lnSpc>
                        <a:spcAft>
                          <a:spcPts val="1000"/>
                        </a:spcAft>
                        <a:tabLst>
                          <a:tab pos="1533525" algn="l"/>
                        </a:tabLst>
                      </a:pPr>
                      <a:r>
                        <a:rPr lang="en-US" sz="2400" b="1">
                          <a:solidFill>
                            <a:schemeClr val="tx1"/>
                          </a:solidFill>
                          <a:effectLst/>
                          <a:latin typeface="Times New Roman" panose="02020603050405020304" pitchFamily="18" charset="0"/>
                          <a:cs typeface="Times New Roman" panose="02020603050405020304" pitchFamily="18" charset="0"/>
                        </a:rPr>
                        <a:t>UNIT-III</a:t>
                      </a:r>
                      <a:endParaRPr lang="en-IN" sz="2400" b="1">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txBody>
                  <a:tcPr marL="38576" marR="38576" marT="0" marB="0" anchor="ctr"/>
                </a:tc>
                <a:tc>
                  <a:txBody>
                    <a:bodyPr/>
                    <a:lstStyle/>
                    <a:p>
                      <a:pPr>
                        <a:lnSpc>
                          <a:spcPct val="106000"/>
                        </a:lnSpc>
                        <a:spcAft>
                          <a:spcPts val="0"/>
                        </a:spcAft>
                      </a:pPr>
                      <a:r>
                        <a:rPr lang="en-US" sz="2400" b="1" kern="100">
                          <a:solidFill>
                            <a:srgbClr val="000000"/>
                          </a:solidFill>
                          <a:latin typeface="Times New Roman" panose="02020603050405020304"/>
                          <a:ea typeface="Calibri" panose="020F0502020204030204"/>
                          <a:cs typeface="Times New Roman" panose="02020603050405020304"/>
                          <a:sym typeface="+mn-ea"/>
                        </a:rPr>
                        <a:t>Supervised Learning</a:t>
                      </a:r>
                      <a:endParaRPr lang="en-US" sz="2400" b="1" kern="100">
                        <a:solidFill>
                          <a:srgbClr val="000000"/>
                        </a:solidFill>
                        <a:latin typeface="Times New Roman" panose="02020603050405020304"/>
                        <a:ea typeface="Calibri" panose="020F0502020204030204"/>
                        <a:cs typeface="Times New Roman" panose="02020603050405020304"/>
                      </a:endParaRPr>
                    </a:p>
                  </a:txBody>
                  <a:tcPr marL="38576" marR="38576" marT="0" marB="0" anchor="ctr"/>
                </a:tc>
                <a:tc>
                  <a:txBody>
                    <a:bodyPr/>
                    <a:lstStyle/>
                    <a:p>
                      <a:pPr algn="l">
                        <a:lnSpc>
                          <a:spcPct val="115000"/>
                        </a:lnSpc>
                        <a:spcAft>
                          <a:spcPts val="1000"/>
                        </a:spcAft>
                        <a:tabLst>
                          <a:tab pos="1533525" algn="l"/>
                        </a:tabLst>
                      </a:pPr>
                      <a:r>
                        <a:rPr lang="en-US" sz="2400" b="1">
                          <a:effectLst/>
                          <a:latin typeface="Times New Roman" panose="02020603050405020304" pitchFamily="18" charset="0"/>
                          <a:cs typeface="Times New Roman" panose="02020603050405020304" pitchFamily="18" charset="0"/>
                        </a:rPr>
                        <a:t>     8 Hours</a:t>
                      </a:r>
                      <a:endParaRPr lang="en-IN" sz="2400">
                        <a:effectLst/>
                        <a:latin typeface="Times New Roman" panose="02020603050405020304" pitchFamily="18" charset="0"/>
                        <a:ea typeface="Calibri" panose="020F0502020204030204" charset="0"/>
                        <a:cs typeface="Times New Roman" panose="02020603050405020304" pitchFamily="18" charset="0"/>
                      </a:endParaRPr>
                    </a:p>
                  </a:txBody>
                  <a:tcPr marL="38576" marR="38576" marT="0" marB="0" anchor="ctr"/>
                </a:tc>
                <a:extLst>
                  <a:ext uri="{0D108BD9-81ED-4DB2-BD59-A6C34878D82A}">
                    <a16:rowId xmlns:a16="http://schemas.microsoft.com/office/drawing/2014/main" val="10001"/>
                  </a:ext>
                </a:extLst>
              </a:tr>
              <a:tr h="2506980">
                <a:tc gridSpan="3">
                  <a:txBody>
                    <a:bodyPr/>
                    <a:lstStyle/>
                    <a:p>
                      <a:pPr>
                        <a:lnSpc>
                          <a:spcPct val="106000"/>
                        </a:lnSpc>
                        <a:spcAft>
                          <a:spcPts val="0"/>
                        </a:spcAft>
                      </a:pPr>
                      <a:r>
                        <a:rPr lang="en-US" sz="2400" kern="0">
                          <a:solidFill>
                            <a:srgbClr val="000000"/>
                          </a:solidFill>
                          <a:latin typeface="Times New Roman" panose="02020603050405020304"/>
                          <a:ea typeface="Calibri" panose="020F0502020204030204"/>
                          <a:sym typeface="+mn-ea"/>
                        </a:rPr>
                        <a:t>Regression &amp; Classification: Types of regression (</a:t>
                      </a:r>
                      <a:r>
                        <a:rPr lang="en-US" sz="2400" kern="0" err="1">
                          <a:solidFill>
                            <a:srgbClr val="000000"/>
                          </a:solidFill>
                          <a:latin typeface="Times New Roman" panose="02020603050405020304"/>
                          <a:ea typeface="Calibri" panose="020F0502020204030204"/>
                          <a:sym typeface="+mn-ea"/>
                        </a:rPr>
                        <a:t>Univariate</a:t>
                      </a:r>
                      <a:r>
                        <a:rPr lang="en-US" sz="2400" kern="0">
                          <a:solidFill>
                            <a:srgbClr val="000000"/>
                          </a:solidFill>
                          <a:latin typeface="Times New Roman" panose="02020603050405020304"/>
                          <a:ea typeface="Calibri" panose="020F0502020204030204"/>
                          <a:sym typeface="+mn-ea"/>
                        </a:rPr>
                        <a:t>, Multivariate, Polynomial), Mean Square Error, R square error, Logistic Regression, </a:t>
                      </a:r>
                      <a:r>
                        <a:rPr lang="en-US" sz="2400" kern="100">
                          <a:solidFill>
                            <a:srgbClr val="000000"/>
                          </a:solidFill>
                          <a:latin typeface="Times New Roman" panose="02020603050405020304"/>
                          <a:ea typeface="Calibri" panose="020F0502020204030204"/>
                          <a:cs typeface="Times New Roman" panose="02020603050405020304"/>
                          <a:sym typeface="+mn-ea"/>
                        </a:rPr>
                        <a:t>Regularization: </a:t>
                      </a:r>
                      <a:r>
                        <a:rPr lang="en-US" sz="2400" kern="0">
                          <a:solidFill>
                            <a:srgbClr val="000000"/>
                          </a:solidFill>
                          <a:latin typeface="Times New Roman" panose="02020603050405020304"/>
                          <a:ea typeface="Calibri" panose="020F0502020204030204"/>
                          <a:cs typeface="Times New Roman" panose="02020603050405020304"/>
                          <a:sym typeface="+mn-ea"/>
                        </a:rPr>
                        <a:t>Bias and Variance, </a:t>
                      </a:r>
                      <a:r>
                        <a:rPr lang="en-US" sz="2400" kern="0" err="1">
                          <a:solidFill>
                            <a:srgbClr val="000000"/>
                          </a:solidFill>
                          <a:latin typeface="Times New Roman" panose="02020603050405020304"/>
                          <a:ea typeface="Calibri" panose="020F0502020204030204"/>
                          <a:cs typeface="Times New Roman" panose="02020603050405020304"/>
                          <a:sym typeface="+mn-ea"/>
                        </a:rPr>
                        <a:t>Overfitting</a:t>
                      </a:r>
                      <a:r>
                        <a:rPr lang="en-US" sz="2400" kern="0">
                          <a:solidFill>
                            <a:srgbClr val="000000"/>
                          </a:solidFill>
                          <a:latin typeface="Times New Roman" panose="02020603050405020304"/>
                          <a:ea typeface="Calibri" panose="020F0502020204030204"/>
                          <a:cs typeface="Times New Roman" panose="02020603050405020304"/>
                          <a:sym typeface="+mn-ea"/>
                        </a:rPr>
                        <a:t> and </a:t>
                      </a:r>
                      <a:r>
                        <a:rPr lang="en-US" sz="2400" kern="0" err="1">
                          <a:solidFill>
                            <a:srgbClr val="000000"/>
                          </a:solidFill>
                          <a:latin typeface="Times New Roman" panose="02020603050405020304"/>
                          <a:ea typeface="Calibri" panose="020F0502020204030204"/>
                          <a:cs typeface="Times New Roman" panose="02020603050405020304"/>
                          <a:sym typeface="+mn-ea"/>
                        </a:rPr>
                        <a:t>Underfitting</a:t>
                      </a:r>
                      <a:r>
                        <a:rPr lang="en-US" sz="2400" kern="0">
                          <a:solidFill>
                            <a:srgbClr val="000000"/>
                          </a:solidFill>
                          <a:latin typeface="Times New Roman" panose="02020603050405020304"/>
                          <a:ea typeface="Calibri" panose="020F0502020204030204"/>
                          <a:cs typeface="Times New Roman" panose="02020603050405020304"/>
                          <a:sym typeface="+mn-ea"/>
                        </a:rPr>
                        <a:t>, L1 and L2 Regularization, Regularized Linear Regression, </a:t>
                      </a:r>
                      <a:r>
                        <a:rPr lang="en-US" sz="2400" kern="0">
                          <a:solidFill>
                            <a:srgbClr val="000000"/>
                          </a:solidFill>
                          <a:latin typeface="Times New Roman" panose="02020603050405020304"/>
                          <a:ea typeface="Calibri" panose="020F0502020204030204"/>
                          <a:sym typeface="+mn-ea"/>
                        </a:rPr>
                        <a:t>Decision Trees (ID3, C4.5, CART), Confusion matrix, k-folds cross-validation,</a:t>
                      </a:r>
                      <a:r>
                        <a:rPr lang="en-US" sz="2400" kern="0">
                          <a:solidFill>
                            <a:srgbClr val="000000"/>
                          </a:solidFill>
                          <a:latin typeface="Times New Roman" panose="02020603050405020304"/>
                          <a:ea typeface="Calibri" panose="020F0502020204030204"/>
                          <a:cs typeface="Times New Roman" panose="02020603050405020304"/>
                          <a:sym typeface="+mn-ea"/>
                        </a:rPr>
                        <a:t> K Nearest </a:t>
                      </a:r>
                      <a:r>
                        <a:rPr lang="en-US" sz="2400" kern="0" err="1">
                          <a:solidFill>
                            <a:srgbClr val="000000"/>
                          </a:solidFill>
                          <a:latin typeface="Times New Roman" panose="02020603050405020304"/>
                          <a:ea typeface="Calibri" panose="020F0502020204030204"/>
                          <a:cs typeface="Times New Roman" panose="02020603050405020304"/>
                          <a:sym typeface="+mn-ea"/>
                        </a:rPr>
                        <a:t>Neighbour</a:t>
                      </a:r>
                      <a:r>
                        <a:rPr lang="en-US" sz="2400" kern="0">
                          <a:solidFill>
                            <a:srgbClr val="000000"/>
                          </a:solidFill>
                          <a:latin typeface="Times New Roman" panose="02020603050405020304"/>
                          <a:ea typeface="Calibri" panose="020F0502020204030204"/>
                          <a:cs typeface="Times New Roman" panose="02020603050405020304"/>
                          <a:sym typeface="+mn-ea"/>
                        </a:rPr>
                        <a:t>, Support vector machine.</a:t>
                      </a:r>
                      <a:endParaRPr lang="en-US" sz="2400" kern="100">
                        <a:latin typeface="+mn-lt"/>
                        <a:cs typeface="Times New Roman" panose="02020603050405020304"/>
                      </a:endParaRPr>
                    </a:p>
                  </a:txBody>
                  <a:tcPr marL="38576" marR="38576" marT="0" marB="0"/>
                </a:tc>
                <a:tc hMerge="1">
                  <a:txBody>
                    <a:bodyPr/>
                    <a:lstStyle/>
                    <a:p>
                      <a:endParaRPr lang="en-US"/>
                    </a:p>
                  </a:txBody>
                  <a:tcPr/>
                </a:tc>
                <a:tc hMerge="1">
                  <a:txBody>
                    <a:bodyPr/>
                    <a:lstStyle/>
                    <a:p>
                      <a:endParaRPr lang="en-US"/>
                    </a:p>
                  </a:txBody>
                  <a:tcPr marL="51435" marR="51435" marT="0" marB="0"/>
                </a:tc>
                <a:extLst>
                  <a:ext uri="{0D108BD9-81ED-4DB2-BD59-A6C34878D82A}">
                    <a16:rowId xmlns:a16="http://schemas.microsoft.com/office/drawing/2014/main" val="10002"/>
                  </a:ext>
                </a:extLst>
              </a:tr>
            </a:tbl>
          </a:graphicData>
        </a:graphic>
      </p:graphicFrame>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pitchFamily="18" charset="0"/>
                <a:cs typeface="Times New Roman" panose="02020603050405020304" pitchFamily="18" charset="0"/>
              </a:rPr>
              <a:t>Course Contents / Syllabus</a:t>
            </a:r>
          </a:p>
        </p:txBody>
      </p:sp>
      <p:pic>
        <p:nvPicPr>
          <p:cNvPr id="2" name="Picture 1"/>
          <p:cNvPicPr/>
          <p:nvPr/>
        </p:nvPicPr>
        <p:blipFill>
          <a:blip r:embed="rId4"/>
          <a:srcRect l="2963" t="30815" r="-830" b="31437"/>
          <a:stretch>
            <a:fillRect/>
          </a:stretch>
        </p:blipFill>
        <p:spPr>
          <a:xfrm>
            <a:off x="0" y="0"/>
            <a:ext cx="2097405" cy="8089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Regression </a:t>
            </a:r>
            <a:endParaRPr lang="en-US" sz="3000" b="1" kern="0">
              <a:solidFill>
                <a:schemeClr val="bg1"/>
              </a:solidFill>
              <a:latin typeface="Times New Roman" panose="02020603050405020304"/>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r>
              <a:rPr lang="en-US" sz="2700">
                <a:sym typeface="+mn-ea"/>
              </a:rPr>
              <a:t>Regression is a supervised learning technique which helps in finding the correlation between variables and enables us to predict the continuous output variable based on the one or more predictor variables.</a:t>
            </a:r>
            <a:endParaRPr lang="en-US" sz="2700"/>
          </a:p>
          <a:p>
            <a:r>
              <a:rPr lang="en-US" sz="2700"/>
              <a:t>Regression refers to a type of predictive modeling technique used to estimate the relationships among variables. </a:t>
            </a:r>
          </a:p>
          <a:p>
            <a:r>
              <a:rPr lang="en-US" sz="2700"/>
              <a:t>It involves predicting a continuous outcome variable based on one or more predictor variables (features).</a:t>
            </a:r>
          </a:p>
          <a:p>
            <a:r>
              <a:rPr lang="en-US" sz="2700"/>
              <a:t>It is a statistical method to model the relationship between a dependent (target) and independent (predictor) variables with one or more independent variables. </a:t>
            </a:r>
          </a:p>
          <a:p>
            <a:r>
              <a:rPr lang="en-US" sz="2700"/>
              <a:t>It predicts continuous/real values such as temperature, age, salary, price, etc.</a:t>
            </a:r>
          </a:p>
          <a:p>
            <a:r>
              <a:rPr lang="en-US" sz="2700"/>
              <a:t>It is mainly used for prediction, forecasting, time series modeling, and determining the causal-effect relationship between variables.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Regression </a:t>
            </a:r>
            <a:endParaRPr lang="en-US" sz="3000" b="1" kern="0">
              <a:solidFill>
                <a:schemeClr val="bg1"/>
              </a:solidFill>
              <a:latin typeface="Times New Roman" panose="02020603050405020304"/>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r>
              <a:rPr lang="en-US" sz="2700" b="1" i="1"/>
              <a:t>"Regression shows a line or curve that passes through all the datapoints on target-predictor graph in such a way that the vertical distance between the datapoints and the regression line is minimum." </a:t>
            </a:r>
          </a:p>
        </p:txBody>
      </p:sp>
      <p:pic>
        <p:nvPicPr>
          <p:cNvPr id="9" name="Picture 8"/>
          <p:cNvPicPr>
            <a:picLocks noChangeAspect="1"/>
          </p:cNvPicPr>
          <p:nvPr/>
        </p:nvPicPr>
        <p:blipFill>
          <a:blip r:embed="rId4"/>
          <a:stretch>
            <a:fillRect/>
          </a:stretch>
        </p:blipFill>
        <p:spPr>
          <a:xfrm>
            <a:off x="1450975" y="2040255"/>
            <a:ext cx="9525000" cy="44386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Terminologies Related to the Regression Analysis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4170045"/>
          </a:xfrm>
        </p:spPr>
        <p:txBody>
          <a:bodyPr>
            <a:noAutofit/>
          </a:bodyPr>
          <a:lstStyle/>
          <a:p>
            <a:r>
              <a:rPr lang="en-US" sz="3200" b="1" i="1"/>
              <a:t>Dependent Variable: </a:t>
            </a:r>
            <a:r>
              <a:rPr lang="en-US" sz="3200" i="1"/>
              <a:t>The main factor in Regression analysis which we want to predict or understand is called the dependent variable. It is also called target variable.</a:t>
            </a:r>
          </a:p>
          <a:p>
            <a:r>
              <a:rPr lang="en-US" sz="3200" b="1" i="1"/>
              <a:t>Independent Variable: </a:t>
            </a:r>
            <a:r>
              <a:rPr lang="en-US" sz="3200" i="1"/>
              <a:t>The factors which affect the dependent variables or which are used to predict the values of the dependent variables are called independent variable, also called as a predictor.</a:t>
            </a:r>
          </a:p>
          <a:p>
            <a:r>
              <a:rPr lang="en-US" sz="3200" b="1" i="1"/>
              <a:t>Outliers: </a:t>
            </a:r>
            <a:r>
              <a:rPr lang="en-US" sz="3200" i="1"/>
              <a:t>Outlier is an observation which contains either very low value or very high value in comparison to other observed values. An outlier may hamper the result, so it should be avoided.</a:t>
            </a:r>
          </a:p>
          <a:p>
            <a:pPr marL="0" indent="0">
              <a:buNone/>
            </a:pPr>
            <a:endParaRPr lang="en-US" sz="3200" i="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Terminologies Related to the Regression Analysis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algn="just"/>
            <a:r>
              <a:rPr lang="en-US" sz="3200" b="1" i="1"/>
              <a:t>Multicollinearity: </a:t>
            </a:r>
            <a:r>
              <a:rPr lang="en-US" sz="3200" i="1"/>
              <a:t>If the independent variables are highly correlated with each other than other variables, then such condition is called Multicollinearity. It should not be present in the dataset, because it creates problem while ranking the most affecting variable.</a:t>
            </a:r>
          </a:p>
          <a:p>
            <a:pPr algn="just"/>
            <a:r>
              <a:rPr lang="en-US" sz="3200" b="1" i="1"/>
              <a:t>Underfitting and Overfitting:</a:t>
            </a:r>
            <a:r>
              <a:rPr lang="en-US" sz="3200" i="1"/>
              <a:t> If our algorithm works well with the training dataset but not well with test dataset, then such problem is called Overfitting. And if our algorithm does not perform well even with training dataset, then such problem is called underfitting.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Types of Regression </a:t>
            </a:r>
            <a:endParaRPr lang="en-US" sz="3000" b="1" kern="0">
              <a:solidFill>
                <a:schemeClr val="bg1"/>
              </a:solidFill>
              <a:latin typeface="Times New Roman" panose="02020603050405020304"/>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9" name="Picture 8"/>
          <p:cNvPicPr>
            <a:picLocks noChangeAspect="1"/>
          </p:cNvPicPr>
          <p:nvPr/>
        </p:nvPicPr>
        <p:blipFill>
          <a:blip r:embed="rId4"/>
          <a:srcRect t="21220"/>
          <a:stretch>
            <a:fillRect/>
          </a:stretch>
        </p:blipFill>
        <p:spPr>
          <a:xfrm>
            <a:off x="578485" y="1292860"/>
            <a:ext cx="11280775" cy="465391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Type of Regression: </a:t>
            </a:r>
            <a:r>
              <a:rPr lang="en-US" sz="3000" b="1" i="1">
                <a:solidFill>
                  <a:schemeClr val="bg1"/>
                </a:solidFill>
                <a:sym typeface="+mn-ea"/>
              </a:rPr>
              <a:t>Univariate</a:t>
            </a:r>
            <a:r>
              <a:rPr lang="en-US" sz="3000" b="1" kern="0">
                <a:solidFill>
                  <a:schemeClr val="bg1"/>
                </a:solidFill>
                <a:latin typeface="Times New Roman" panose="02020603050405020304"/>
                <a:ea typeface="Calibri" panose="020F0502020204030204"/>
                <a:sym typeface="+mn-ea"/>
              </a:rPr>
              <a:t> </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r>
              <a:rPr lang="en-US" b="1" i="1"/>
              <a:t>Univariate regression</a:t>
            </a:r>
            <a:r>
              <a:rPr lang="en-US" i="1"/>
              <a:t> refers to a statistical technique that analyzes the relationship between a single independent variable (predictor) and a single dependent variable (outcome). The goal is to model how changes in the independent variable affect the dependent variable.</a:t>
            </a:r>
          </a:p>
          <a:p>
            <a:r>
              <a:rPr lang="en-US" b="1" i="1">
                <a:solidFill>
                  <a:srgbClr val="C00000"/>
                </a:solidFill>
              </a:rPr>
              <a:t>Simple Linear Regression</a:t>
            </a:r>
            <a:endParaRPr lang="en-US" i="1">
              <a:solidFill>
                <a:srgbClr val="C00000"/>
              </a:solidFill>
            </a:endParaRPr>
          </a:p>
          <a:p>
            <a:pPr marL="0" indent="0" algn="ctr">
              <a:buNone/>
            </a:pPr>
            <a:r>
              <a:rPr lang="en-US" sz="3200" b="1" i="1"/>
              <a:t>Y=a+bX+ϵ</a:t>
            </a:r>
          </a:p>
          <a:p>
            <a:pPr marL="0" indent="0" algn="ctr">
              <a:buNone/>
            </a:pPr>
            <a:r>
              <a:rPr lang="en-US" b="1" i="1"/>
              <a:t>Use Case:</a:t>
            </a:r>
            <a:r>
              <a:rPr lang="en-US" i="1"/>
              <a:t> </a:t>
            </a:r>
            <a:r>
              <a:rPr lang="en-US" b="1" i="1">
                <a:solidFill>
                  <a:srgbClr val="002060"/>
                </a:solidFill>
              </a:rPr>
              <a:t>Predicting outcomes like sales based on advertising spend</a:t>
            </a:r>
          </a:p>
          <a:p>
            <a:r>
              <a:rPr lang="en-US" b="1" i="1">
                <a:solidFill>
                  <a:srgbClr val="C00000"/>
                </a:solidFill>
              </a:rPr>
              <a:t>Polynomial Regression</a:t>
            </a:r>
          </a:p>
          <a:p>
            <a:pPr marL="0" indent="0" algn="ctr">
              <a:buNone/>
            </a:pPr>
            <a:r>
              <a:rPr lang="en-US" sz="3200" b="1" i="1"/>
              <a:t>Y=a+b</a:t>
            </a:r>
            <a:r>
              <a:rPr lang="en-US" sz="3200" b="1" i="1" baseline="-25000"/>
              <a:t>1</a:t>
            </a:r>
            <a:r>
              <a:rPr lang="en-US" sz="3200" b="1" i="1"/>
              <a:t> X+b</a:t>
            </a:r>
            <a:r>
              <a:rPr lang="en-US" sz="3200" b="1" i="1" baseline="-25000"/>
              <a:t>2</a:t>
            </a:r>
            <a:r>
              <a:rPr lang="en-US" sz="3200" b="1" i="1"/>
              <a:t> X</a:t>
            </a:r>
            <a:r>
              <a:rPr lang="en-US" sz="3200" b="1" i="1" baseline="30000"/>
              <a:t>2</a:t>
            </a:r>
            <a:r>
              <a:rPr lang="en-US" sz="3200" b="1" i="1"/>
              <a:t>+b</a:t>
            </a:r>
            <a:r>
              <a:rPr lang="en-US" sz="3200" b="1" i="1" baseline="-25000"/>
              <a:t>3</a:t>
            </a:r>
            <a:r>
              <a:rPr lang="en-US" sz="3200" b="1" i="1"/>
              <a:t> X</a:t>
            </a:r>
            <a:r>
              <a:rPr lang="en-US" sz="3200" b="1" i="1" baseline="30000"/>
              <a:t>3</a:t>
            </a:r>
            <a:r>
              <a:rPr lang="en-US" sz="3200" b="1" i="1"/>
              <a:t>+...+b</a:t>
            </a:r>
            <a:r>
              <a:rPr lang="en-US" sz="3200" b="1" i="1" baseline="-25000"/>
              <a:t>n</a:t>
            </a:r>
            <a:r>
              <a:rPr lang="en-US" sz="3200" b="1" i="1"/>
              <a:t> X</a:t>
            </a:r>
            <a:r>
              <a:rPr lang="en-US" sz="3200" b="1" i="1" baseline="30000"/>
              <a:t>n</a:t>
            </a:r>
            <a:r>
              <a:rPr lang="en-US" sz="3200" b="1" i="1"/>
              <a:t> +ϵ</a:t>
            </a:r>
          </a:p>
          <a:p>
            <a:pPr marL="0" indent="0" algn="ctr">
              <a:buNone/>
            </a:pPr>
            <a:r>
              <a:rPr lang="en-US" b="1" i="1"/>
              <a:t>Use Case:</a:t>
            </a:r>
            <a:r>
              <a:rPr lang="en-US" i="1"/>
              <a:t> </a:t>
            </a:r>
            <a:r>
              <a:rPr lang="en-US" b="1" i="1">
                <a:solidFill>
                  <a:srgbClr val="002060"/>
                </a:solidFill>
              </a:rPr>
              <a:t>Modeling relationships where the effect of the independent variable changes at different levels, such as growth patterns that are quadratic.</a:t>
            </a:r>
          </a:p>
          <a:p>
            <a:endParaRPr lang="en-US" b="1" i="1" baseline="30000">
              <a:solidFill>
                <a:srgbClr val="00206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Type of Regression: </a:t>
            </a:r>
            <a:r>
              <a:rPr lang="en-US" sz="3000" b="1" i="1">
                <a:solidFill>
                  <a:schemeClr val="bg1"/>
                </a:solidFill>
                <a:sym typeface="+mn-ea"/>
              </a:rPr>
              <a:t>Univariate</a:t>
            </a:r>
            <a:r>
              <a:rPr lang="en-US" sz="3000" b="1" kern="0">
                <a:solidFill>
                  <a:schemeClr val="bg1"/>
                </a:solidFill>
                <a:latin typeface="Times New Roman" panose="02020603050405020304"/>
                <a:ea typeface="Calibri" panose="020F0502020204030204"/>
                <a:sym typeface="+mn-ea"/>
              </a:rPr>
              <a:t> </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r>
              <a:rPr lang="en-US" b="1" i="1">
                <a:solidFill>
                  <a:srgbClr val="C00000"/>
                </a:solidFill>
              </a:rPr>
              <a:t>Logarithmic Regression</a:t>
            </a:r>
          </a:p>
          <a:p>
            <a:pPr marL="0" indent="0" algn="ctr">
              <a:buNone/>
            </a:pPr>
            <a:r>
              <a:rPr lang="en-US" sz="3600" b="1" i="1"/>
              <a:t>Y=a+blog(X)+ϵ</a:t>
            </a:r>
          </a:p>
          <a:p>
            <a:pPr marL="0" indent="0" algn="ctr">
              <a:buNone/>
            </a:pPr>
            <a:r>
              <a:rPr lang="en-US" b="1" i="1"/>
              <a:t>Use Case: </a:t>
            </a:r>
            <a:r>
              <a:rPr lang="en-US" b="1" i="1">
                <a:solidFill>
                  <a:srgbClr val="002060"/>
                </a:solidFill>
              </a:rPr>
              <a:t>Analyzing phenomena like the relationship between income and consumption, where increases in income lead to smaller increases in consumption.</a:t>
            </a:r>
          </a:p>
          <a:p>
            <a:r>
              <a:rPr lang="en-US" b="1" i="1">
                <a:solidFill>
                  <a:srgbClr val="C00000"/>
                </a:solidFill>
              </a:rPr>
              <a:t>Exponential Regression</a:t>
            </a:r>
            <a:endParaRPr lang="en-US" i="1"/>
          </a:p>
          <a:p>
            <a:pPr marL="0" indent="0" algn="ctr">
              <a:buNone/>
            </a:pPr>
            <a:r>
              <a:rPr lang="en-US" sz="3600" b="1" i="1"/>
              <a:t>Y=a⋅e </a:t>
            </a:r>
            <a:r>
              <a:rPr lang="en-US" sz="3600" b="1" i="1" baseline="30000"/>
              <a:t>bX</a:t>
            </a:r>
          </a:p>
          <a:p>
            <a:pPr marL="0" indent="0" algn="ctr">
              <a:buNone/>
            </a:pPr>
            <a:r>
              <a:rPr lang="en-US" sz="4400" b="1" i="1" baseline="30000"/>
              <a:t>Use Case: </a:t>
            </a:r>
            <a:r>
              <a:rPr lang="en-US" sz="4400" b="1" i="1" baseline="30000">
                <a:solidFill>
                  <a:srgbClr val="002060"/>
                </a:solidFill>
              </a:rPr>
              <a:t>Modeling population growth or radioactive decay.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Type of Regression:</a:t>
            </a:r>
            <a:r>
              <a:rPr lang="en-US" sz="3000" b="1" i="1">
                <a:solidFill>
                  <a:schemeClr val="bg1"/>
                </a:solidFill>
                <a:sym typeface="+mn-ea"/>
              </a:rPr>
              <a:t>Multivariate regression</a:t>
            </a:r>
            <a:r>
              <a:rPr lang="en-US" sz="3000" b="1" kern="0">
                <a:solidFill>
                  <a:schemeClr val="bg1"/>
                </a:solidFill>
                <a:latin typeface="Times New Roman" panose="02020603050405020304"/>
                <a:ea typeface="Calibri" panose="020F0502020204030204"/>
                <a:sym typeface="+mn-ea"/>
              </a:rPr>
              <a:t>  </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r>
              <a:rPr lang="en-US" b="1" i="1"/>
              <a:t>Multivariate regression</a:t>
            </a:r>
            <a:r>
              <a:rPr lang="en-US" i="1"/>
              <a:t> involves the analysis of multiple independent variables to predict a single dependent variable. </a:t>
            </a:r>
          </a:p>
          <a:p>
            <a:r>
              <a:rPr lang="en-US" b="1" i="1">
                <a:solidFill>
                  <a:srgbClr val="C00000"/>
                </a:solidFill>
              </a:rPr>
              <a:t>Multiple Linear Regression</a:t>
            </a:r>
            <a:endParaRPr lang="en-US" b="1" i="1"/>
          </a:p>
          <a:p>
            <a:pPr marL="0" indent="0" algn="ctr">
              <a:buNone/>
            </a:pPr>
            <a:r>
              <a:rPr lang="en-US" sz="3200" b="1" i="1"/>
              <a:t>Y=a+b</a:t>
            </a:r>
            <a:r>
              <a:rPr lang="en-US" sz="3200" b="1" i="1" baseline="-25000"/>
              <a:t>1</a:t>
            </a:r>
            <a:r>
              <a:rPr lang="en-US" sz="3200" b="1" i="1"/>
              <a:t>X</a:t>
            </a:r>
            <a:r>
              <a:rPr lang="en-US" sz="3200" b="1" i="1" baseline="-25000"/>
              <a:t>1</a:t>
            </a:r>
            <a:r>
              <a:rPr lang="en-US" sz="3200" b="1" i="1"/>
              <a:t>+b</a:t>
            </a:r>
            <a:r>
              <a:rPr lang="en-US" sz="3200" b="1" i="1" baseline="-25000"/>
              <a:t>2</a:t>
            </a:r>
            <a:r>
              <a:rPr lang="en-US" sz="3200" b="1" i="1"/>
              <a:t>X</a:t>
            </a:r>
            <a:r>
              <a:rPr lang="en-US" sz="3200" b="1" i="1" baseline="-25000"/>
              <a:t>2</a:t>
            </a:r>
            <a:r>
              <a:rPr lang="en-US" sz="3200" b="1" i="1"/>
              <a:t>+...+b</a:t>
            </a:r>
            <a:r>
              <a:rPr lang="en-US" sz="3200" b="1" i="1" baseline="-25000"/>
              <a:t>n</a:t>
            </a:r>
            <a:r>
              <a:rPr lang="en-US" sz="3200" b="1" i="1"/>
              <a:t>X</a:t>
            </a:r>
            <a:r>
              <a:rPr lang="en-US" sz="3200" b="1" i="1" baseline="-25000"/>
              <a:t>n</a:t>
            </a:r>
            <a:r>
              <a:rPr lang="en-US" sz="3200" b="1" i="1"/>
              <a:t>+ϵ</a:t>
            </a:r>
          </a:p>
          <a:p>
            <a:pPr marL="457200" lvl="1" indent="0" algn="l">
              <a:buNone/>
            </a:pPr>
            <a:r>
              <a:rPr lang="en-US" sz="2800" b="1" i="1"/>
              <a:t>Use Case:</a:t>
            </a:r>
            <a:r>
              <a:rPr lang="en-US" sz="2800" i="1"/>
              <a:t> </a:t>
            </a:r>
            <a:r>
              <a:rPr lang="en-US" sz="2800" b="1" i="1">
                <a:solidFill>
                  <a:srgbClr val="002060"/>
                </a:solidFill>
              </a:rPr>
              <a:t>Predicting a person’s weight based on height, age, and exercise frequency.</a:t>
            </a:r>
          </a:p>
          <a:p>
            <a:pPr lvl="0" algn="l"/>
            <a:r>
              <a:rPr lang="en-US" b="1" i="1">
                <a:solidFill>
                  <a:srgbClr val="C00000"/>
                </a:solidFill>
              </a:rPr>
              <a:t>Ridge Regression</a:t>
            </a:r>
          </a:p>
          <a:p>
            <a:pPr lvl="0" algn="l"/>
            <a:endParaRPr lang="en-US" b="1" i="1">
              <a:solidFill>
                <a:schemeClr val="tx1"/>
              </a:solidFill>
            </a:endParaRPr>
          </a:p>
          <a:p>
            <a:pPr lvl="0" algn="l"/>
            <a:endParaRPr lang="en-US" b="1" i="1">
              <a:solidFill>
                <a:schemeClr val="tx1"/>
              </a:solidFill>
            </a:endParaRPr>
          </a:p>
          <a:p>
            <a:pPr marL="457200" lvl="1" indent="0" algn="l">
              <a:buNone/>
            </a:pPr>
            <a:r>
              <a:rPr lang="en-US" b="1" i="1">
                <a:gradFill>
                  <a:gsLst>
                    <a:gs pos="0">
                      <a:srgbClr val="012D86"/>
                    </a:gs>
                    <a:gs pos="100000">
                      <a:srgbClr val="0E2557"/>
                    </a:gs>
                  </a:gsLst>
                  <a:lin scaled="0"/>
                </a:gradFill>
                <a:sym typeface="+mn-ea"/>
              </a:rPr>
              <a:t>where </a:t>
            </a:r>
            <a:r>
              <a:rPr lang="en-US" b="1" i="1">
                <a:sym typeface="+mn-ea"/>
              </a:rPr>
              <a:t>λ is the regularization parameter.</a:t>
            </a:r>
            <a:endParaRPr lang="en-US" b="1" i="1">
              <a:solidFill>
                <a:schemeClr val="tx1"/>
              </a:solidFill>
            </a:endParaRPr>
          </a:p>
          <a:p>
            <a:pPr marL="457200" lvl="1" indent="0" algn="l">
              <a:buNone/>
            </a:pPr>
            <a:r>
              <a:rPr lang="en-US" b="1" i="1">
                <a:solidFill>
                  <a:schemeClr val="tx1"/>
                </a:solidFill>
              </a:rPr>
              <a:t>Use Case: </a:t>
            </a:r>
            <a:r>
              <a:rPr lang="en-US" b="1" i="1">
                <a:gradFill>
                  <a:gsLst>
                    <a:gs pos="0">
                      <a:srgbClr val="012D86"/>
                    </a:gs>
                    <a:gs pos="100000">
                      <a:srgbClr val="0E2557"/>
                    </a:gs>
                  </a:gsLst>
                  <a:lin scaled="0"/>
                </a:gradFill>
              </a:rPr>
              <a:t>Useful when there are many predictors, and you want to reduce model complexity. </a:t>
            </a:r>
            <a:endParaRPr lang="en-US" b="1" i="1">
              <a:solidFill>
                <a:schemeClr val="tx1"/>
              </a:solidFill>
            </a:endParaRPr>
          </a:p>
          <a:p>
            <a:pPr lvl="0" algn="l"/>
            <a:endParaRPr lang="en-US" b="1" i="1">
              <a:solidFill>
                <a:schemeClr val="tx1"/>
              </a:solidFill>
            </a:endParaRPr>
          </a:p>
        </p:txBody>
      </p:sp>
      <p:pic>
        <p:nvPicPr>
          <p:cNvPr id="7" name="Picture 6"/>
          <p:cNvPicPr>
            <a:picLocks noChangeAspect="1"/>
          </p:cNvPicPr>
          <p:nvPr/>
        </p:nvPicPr>
        <p:blipFill>
          <a:blip r:embed="rId4"/>
          <a:stretch>
            <a:fillRect/>
          </a:stretch>
        </p:blipFill>
        <p:spPr>
          <a:xfrm>
            <a:off x="3021330" y="4250690"/>
            <a:ext cx="4392930" cy="68643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sym typeface="+mn-ea"/>
              </a:rPr>
              <a:t>Type of Regression:</a:t>
            </a:r>
            <a:r>
              <a:rPr lang="en-US" sz="3000" b="1" i="1">
                <a:solidFill>
                  <a:schemeClr val="bg1"/>
                </a:solidFill>
                <a:sym typeface="+mn-ea"/>
              </a:rPr>
              <a:t>Multivariate regression</a:t>
            </a:r>
            <a:r>
              <a:rPr lang="en-US" sz="3000" b="1" kern="0">
                <a:solidFill>
                  <a:schemeClr val="bg1"/>
                </a:solidFill>
                <a:latin typeface="Times New Roman" panose="02020603050405020304"/>
                <a:ea typeface="Calibri" panose="020F0502020204030204"/>
                <a:sym typeface="+mn-ea"/>
              </a:rPr>
              <a:t>  </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b="1" i="1">
                <a:solidFill>
                  <a:srgbClr val="C00000"/>
                </a:solidFill>
              </a:rPr>
              <a:t>Lasso Regression</a:t>
            </a:r>
          </a:p>
          <a:p>
            <a:pPr lvl="0" algn="l"/>
            <a:endParaRPr lang="en-US" b="1" i="1">
              <a:solidFill>
                <a:srgbClr val="C00000"/>
              </a:solidFill>
            </a:endParaRPr>
          </a:p>
          <a:p>
            <a:pPr marL="457200" lvl="1" indent="0" algn="l">
              <a:buNone/>
            </a:pPr>
            <a:r>
              <a:rPr lang="en-US" b="1" i="1">
                <a:solidFill>
                  <a:schemeClr val="tx1"/>
                </a:solidFill>
              </a:rPr>
              <a:t>Use Case:</a:t>
            </a:r>
            <a:r>
              <a:rPr lang="en-US" b="1" i="1">
                <a:solidFill>
                  <a:srgbClr val="C00000"/>
                </a:solidFill>
              </a:rPr>
              <a:t> </a:t>
            </a:r>
            <a:r>
              <a:rPr lang="en-US" b="1" i="1">
                <a:solidFill>
                  <a:srgbClr val="002060"/>
                </a:solidFill>
              </a:rPr>
              <a:t>Effective for variable selection in models with a large number of predictors.</a:t>
            </a:r>
          </a:p>
          <a:p>
            <a:pPr lvl="0" algn="l"/>
            <a:r>
              <a:rPr lang="en-US" b="1" i="1">
                <a:solidFill>
                  <a:srgbClr val="C00000"/>
                </a:solidFill>
              </a:rPr>
              <a:t>Elastic Net Regression</a:t>
            </a:r>
          </a:p>
          <a:p>
            <a:pPr lvl="0" algn="l"/>
            <a:endParaRPr lang="en-US" b="1" i="1">
              <a:solidFill>
                <a:srgbClr val="C00000"/>
              </a:solidFill>
            </a:endParaRPr>
          </a:p>
          <a:p>
            <a:pPr lvl="0" algn="l"/>
            <a:r>
              <a:rPr lang="en-US" b="1" i="1">
                <a:solidFill>
                  <a:schemeClr val="tx1"/>
                </a:solidFill>
              </a:rPr>
              <a:t>Use Case: </a:t>
            </a:r>
            <a:r>
              <a:rPr lang="en-US" b="1" i="1">
                <a:solidFill>
                  <a:srgbClr val="002060"/>
                </a:solidFill>
              </a:rPr>
              <a:t>Useful when there are many correlated variables and you want a more robust model.</a:t>
            </a:r>
          </a:p>
        </p:txBody>
      </p:sp>
      <p:pic>
        <p:nvPicPr>
          <p:cNvPr id="9" name="Picture 8"/>
          <p:cNvPicPr>
            <a:picLocks noChangeAspect="1"/>
          </p:cNvPicPr>
          <p:nvPr/>
        </p:nvPicPr>
        <p:blipFill>
          <a:blip r:embed="rId4"/>
          <a:stretch>
            <a:fillRect/>
          </a:stretch>
        </p:blipFill>
        <p:spPr>
          <a:xfrm>
            <a:off x="3230245" y="1383665"/>
            <a:ext cx="4368165" cy="573405"/>
          </a:xfrm>
          <a:prstGeom prst="rect">
            <a:avLst/>
          </a:prstGeom>
        </p:spPr>
      </p:pic>
      <p:pic>
        <p:nvPicPr>
          <p:cNvPr id="10" name="Picture 9"/>
          <p:cNvPicPr>
            <a:picLocks noChangeAspect="1"/>
          </p:cNvPicPr>
          <p:nvPr/>
        </p:nvPicPr>
        <p:blipFill>
          <a:blip r:embed="rId5"/>
          <a:stretch>
            <a:fillRect/>
          </a:stretch>
        </p:blipFill>
        <p:spPr>
          <a:xfrm>
            <a:off x="3886200" y="3162300"/>
            <a:ext cx="5387340" cy="6502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Mean Square Error (MSE)</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Mean Squared Error (MSE) is a common metric used to evaluate the performance of regression models. It measures the average squared difference between the actual (observed) values and the predicted values generated by a model. The formula for MSE is:</a:t>
            </a:r>
          </a:p>
        </p:txBody>
      </p:sp>
      <p:pic>
        <p:nvPicPr>
          <p:cNvPr id="7" name="Picture 6"/>
          <p:cNvPicPr>
            <a:picLocks noChangeAspect="1"/>
          </p:cNvPicPr>
          <p:nvPr/>
        </p:nvPicPr>
        <p:blipFill>
          <a:blip r:embed="rId4"/>
          <a:stretch>
            <a:fillRect/>
          </a:stretch>
        </p:blipFill>
        <p:spPr>
          <a:xfrm>
            <a:off x="1772285" y="2239645"/>
            <a:ext cx="8648065" cy="393763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Mean Square Error (MSE)</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4"/>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endParaRPr lang="en-US" sz="2400" i="1">
              <a:solidFill>
                <a:schemeClr val="tx1"/>
              </a:solidFill>
            </a:endParaRPr>
          </a:p>
          <a:p>
            <a:pPr lvl="0" algn="l"/>
            <a:r>
              <a:rPr lang="en-US" sz="2400" i="1">
                <a:solidFill>
                  <a:schemeClr val="tx1"/>
                </a:solidFill>
              </a:rPr>
              <a:t>The Mean Squared Error (MSE) for this dataset is </a:t>
            </a:r>
            <a:r>
              <a:rPr lang="en-US" sz="2400" b="1" i="1">
                <a:solidFill>
                  <a:schemeClr val="tx1"/>
                </a:solidFill>
              </a:rPr>
              <a:t>0.6875</a:t>
            </a:r>
            <a:r>
              <a:rPr lang="en-US" sz="2400" i="1">
                <a:solidFill>
                  <a:schemeClr val="tx1"/>
                </a:solidFill>
              </a:rPr>
              <a:t>. This value gives us an indication of how well the predicted values match the actual values, with a lower MSE representing better model performance.</a:t>
            </a:r>
          </a:p>
        </p:txBody>
      </p:sp>
      <p:graphicFrame>
        <p:nvGraphicFramePr>
          <p:cNvPr id="9" name="Table 8"/>
          <p:cNvGraphicFramePr/>
          <p:nvPr>
            <p:custDataLst>
              <p:tags r:id="rId1"/>
            </p:custDataLst>
          </p:nvPr>
        </p:nvGraphicFramePr>
        <p:xfrm>
          <a:off x="1619250" y="1172210"/>
          <a:ext cx="9060180" cy="2865120"/>
        </p:xfrm>
        <a:graphic>
          <a:graphicData uri="http://schemas.openxmlformats.org/drawingml/2006/table">
            <a:tbl>
              <a:tblPr/>
              <a:tblGrid>
                <a:gridCol w="3189605">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468120">
                  <a:extLst>
                    <a:ext uri="{9D8B030D-6E8A-4147-A177-3AD203B41FA5}">
                      <a16:colId xmlns:a16="http://schemas.microsoft.com/office/drawing/2014/main" val="20002"/>
                    </a:ext>
                  </a:extLst>
                </a:gridCol>
                <a:gridCol w="1467485">
                  <a:extLst>
                    <a:ext uri="{9D8B030D-6E8A-4147-A177-3AD203B41FA5}">
                      <a16:colId xmlns:a16="http://schemas.microsoft.com/office/drawing/2014/main" val="20003"/>
                    </a:ext>
                  </a:extLst>
                </a:gridCol>
                <a:gridCol w="1468120">
                  <a:extLst>
                    <a:ext uri="{9D8B030D-6E8A-4147-A177-3AD203B41FA5}">
                      <a16:colId xmlns:a16="http://schemas.microsoft.com/office/drawing/2014/main" val="20004"/>
                    </a:ext>
                  </a:extLst>
                </a:gridCol>
              </a:tblGrid>
              <a:tr h="477520">
                <a:tc>
                  <a:txBody>
                    <a:bodyPr/>
                    <a:lstStyle/>
                    <a:p>
                      <a:pPr algn="ctr" fontAlgn="ctr"/>
                      <a:r>
                        <a:rPr sz="2400" b="1" i="0">
                          <a:solidFill>
                            <a:srgbClr val="FFFFFF"/>
                          </a:solidFill>
                          <a:latin typeface="Calibri" panose="020F0502020204030204"/>
                          <a:ea typeface="Calibri" panose="020F0502020204030204"/>
                        </a:rPr>
                        <a:t>Observation</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2060"/>
                    </a:solidFill>
                  </a:tcPr>
                </a:tc>
                <a:tc>
                  <a:txBody>
                    <a:bodyPr/>
                    <a:lstStyle/>
                    <a:p>
                      <a:pPr algn="ctr" fontAlgn="ctr"/>
                      <a:r>
                        <a:rPr sz="2400" b="1" i="0">
                          <a:solidFill>
                            <a:srgbClr val="FFFFFF"/>
                          </a:solidFill>
                          <a:latin typeface="Calibri" panose="020F0502020204030204"/>
                          <a:ea typeface="Calibri" panose="020F0502020204030204"/>
                        </a:rPr>
                        <a:t>Actual (y)</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2060"/>
                    </a:solidFill>
                  </a:tcPr>
                </a:tc>
                <a:tc>
                  <a:txBody>
                    <a:bodyPr/>
                    <a:lstStyle/>
                    <a:p>
                      <a:pPr algn="ctr" fontAlgn="ctr"/>
                      <a:r>
                        <a:rPr sz="2400" b="1" i="0">
                          <a:solidFill>
                            <a:srgbClr val="FFFFFF"/>
                          </a:solidFill>
                          <a:latin typeface="Calibri" panose="020F0502020204030204"/>
                          <a:ea typeface="Calibri" panose="020F0502020204030204"/>
                        </a:rPr>
                        <a:t>Predict (Y)</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2060"/>
                    </a:solidFill>
                  </a:tcPr>
                </a:tc>
                <a:tc>
                  <a:txBody>
                    <a:bodyPr/>
                    <a:lstStyle/>
                    <a:p>
                      <a:pPr algn="ctr" fontAlgn="ctr"/>
                      <a:r>
                        <a:rPr sz="2400" b="1" i="0">
                          <a:solidFill>
                            <a:srgbClr val="FFFFFF"/>
                          </a:solidFill>
                          <a:latin typeface="Calibri" panose="020F0502020204030204"/>
                          <a:ea typeface="Calibri" panose="020F0502020204030204"/>
                        </a:rPr>
                        <a:t>y - Y</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2060"/>
                    </a:solidFill>
                  </a:tcPr>
                </a:tc>
                <a:tc>
                  <a:txBody>
                    <a:bodyPr/>
                    <a:lstStyle/>
                    <a:p>
                      <a:pPr algn="ctr" fontAlgn="ctr"/>
                      <a:r>
                        <a:rPr sz="2400" b="1" i="0">
                          <a:solidFill>
                            <a:srgbClr val="FFFFFF"/>
                          </a:solidFill>
                          <a:latin typeface="Calibri" panose="020F0502020204030204"/>
                          <a:ea typeface="Calibri" panose="020F0502020204030204"/>
                        </a:rPr>
                        <a:t>(y-Y)^2</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2060"/>
                    </a:solidFill>
                  </a:tcPr>
                </a:tc>
                <a:extLst>
                  <a:ext uri="{0D108BD9-81ED-4DB2-BD59-A6C34878D82A}">
                    <a16:rowId xmlns:a16="http://schemas.microsoft.com/office/drawing/2014/main" val="10000"/>
                  </a:ext>
                </a:extLst>
              </a:tr>
              <a:tr h="477520">
                <a:tc>
                  <a:txBody>
                    <a:bodyPr/>
                    <a:lstStyle/>
                    <a:p>
                      <a:pPr algn="ctr" fontAlgn="ctr"/>
                      <a:r>
                        <a:rPr sz="2400" b="0" i="0">
                          <a:solidFill>
                            <a:srgbClr val="000000"/>
                          </a:solidFill>
                          <a:latin typeface="Calibri" panose="020F0502020204030204"/>
                          <a:ea typeface="Calibri" panose="020F0502020204030204"/>
                        </a:rPr>
                        <a:t>1</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3</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2.5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0.25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477520">
                <a:tc>
                  <a:txBody>
                    <a:bodyPr/>
                    <a:lstStyle/>
                    <a:p>
                      <a:pPr algn="ctr" fontAlgn="ctr"/>
                      <a:r>
                        <a:rPr sz="2400" b="0" i="0">
                          <a:solidFill>
                            <a:srgbClr val="000000"/>
                          </a:solidFill>
                          <a:latin typeface="Calibri" panose="020F0502020204030204"/>
                          <a:ea typeface="Calibri" panose="020F0502020204030204"/>
                        </a:rPr>
                        <a:t>2</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0.25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477520">
                <a:tc>
                  <a:txBody>
                    <a:bodyPr/>
                    <a:lstStyle/>
                    <a:p>
                      <a:pPr algn="ctr" fontAlgn="ctr"/>
                      <a:r>
                        <a:rPr sz="2400" b="0" i="0">
                          <a:solidFill>
                            <a:srgbClr val="000000"/>
                          </a:solidFill>
                          <a:latin typeface="Calibri" panose="020F0502020204030204"/>
                          <a:ea typeface="Calibri" panose="020F0502020204030204"/>
                        </a:rPr>
                        <a:t>3</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2</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2</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0</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477520">
                <a:tc>
                  <a:txBody>
                    <a:bodyPr/>
                    <a:lstStyle/>
                    <a:p>
                      <a:pPr algn="ctr" fontAlgn="ctr"/>
                      <a:r>
                        <a:rPr sz="2400" b="0" i="0">
                          <a:solidFill>
                            <a:srgbClr val="000000"/>
                          </a:solidFill>
                          <a:latin typeface="Calibri" panose="020F0502020204030204"/>
                          <a:ea typeface="Calibri" panose="020F0502020204030204"/>
                        </a:rPr>
                        <a:t>4</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7</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8.5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-1.5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0" i="0">
                          <a:solidFill>
                            <a:srgbClr val="000000"/>
                          </a:solidFill>
                          <a:latin typeface="Calibri" panose="020F0502020204030204"/>
                          <a:ea typeface="Calibri" panose="020F0502020204030204"/>
                        </a:rPr>
                        <a:t>2.25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477520">
                <a:tc>
                  <a:txBody>
                    <a:bodyPr/>
                    <a:lstStyle/>
                    <a:p>
                      <a:pPr algn="ctr" fontAlgn="ctr"/>
                      <a:endParaRPr sz="2400" b="0" i="0">
                        <a:solidFill>
                          <a:srgbClr val="000000"/>
                        </a:solidFill>
                        <a:latin typeface="Calibri" panose="020F0502020204030204"/>
                        <a:ea typeface="Calibri" panose="020F0502020204030204"/>
                      </a:endParaRP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endParaRPr sz="2400" b="0" i="0">
                        <a:solidFill>
                          <a:srgbClr val="000000"/>
                        </a:solidFill>
                        <a:latin typeface="Calibri" panose="020F0502020204030204"/>
                        <a:ea typeface="Calibri" panose="020F0502020204030204"/>
                      </a:endParaRP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endParaRPr sz="2400" b="0" i="0">
                        <a:solidFill>
                          <a:srgbClr val="000000"/>
                        </a:solidFill>
                        <a:latin typeface="Calibri" panose="020F0502020204030204"/>
                        <a:ea typeface="Calibri" panose="020F0502020204030204"/>
                      </a:endParaRP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2400" b="1" i="0">
                          <a:solidFill>
                            <a:srgbClr val="000000"/>
                          </a:solidFill>
                          <a:latin typeface="Calibri" panose="020F0502020204030204"/>
                          <a:ea typeface="Calibri" panose="020F0502020204030204"/>
                        </a:rPr>
                        <a:t>MSE</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lstStyle/>
                    <a:p>
                      <a:pPr algn="ctr" fontAlgn="ctr"/>
                      <a:r>
                        <a:rPr sz="2400" b="1" i="0">
                          <a:solidFill>
                            <a:srgbClr val="000000"/>
                          </a:solidFill>
                          <a:latin typeface="Calibri" panose="020F0502020204030204"/>
                          <a:ea typeface="Calibri" panose="020F0502020204030204"/>
                        </a:rPr>
                        <a:t>0.6875</a:t>
                      </a:r>
                    </a:p>
                  </a:txBody>
                  <a:tcPr marL="6667" marR="6667" marT="666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Importance of MSE</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b="1" i="1">
                <a:solidFill>
                  <a:schemeClr val="tx1"/>
                </a:solidFill>
              </a:rPr>
              <a:t>Performance Evaluation:</a:t>
            </a:r>
          </a:p>
          <a:p>
            <a:pPr lvl="1" algn="l"/>
            <a:r>
              <a:rPr lang="en-US" i="1">
                <a:solidFill>
                  <a:schemeClr val="tx1"/>
                </a:solidFill>
              </a:rPr>
              <a:t>MSE provides a quantitative measure of how well a regression model predicts outcomes. A</a:t>
            </a:r>
            <a:r>
              <a:rPr lang="en-US" b="1" i="1">
                <a:solidFill>
                  <a:srgbClr val="FF0000"/>
                </a:solidFill>
              </a:rPr>
              <a:t> </a:t>
            </a:r>
            <a:r>
              <a:rPr lang="en-US" b="1" i="1">
                <a:solidFill>
                  <a:srgbClr val="C00000"/>
                </a:solidFill>
              </a:rPr>
              <a:t>lower MSE indicates a better fit to the data, meaning the model's predictions are closer to the actual values.</a:t>
            </a:r>
          </a:p>
          <a:p>
            <a:pPr lvl="0" algn="l"/>
            <a:r>
              <a:rPr lang="en-US" b="1" i="1">
                <a:solidFill>
                  <a:schemeClr val="tx1"/>
                </a:solidFill>
              </a:rPr>
              <a:t>Sensitivity to Outliers:</a:t>
            </a:r>
          </a:p>
          <a:p>
            <a:pPr lvl="1" algn="l"/>
            <a:r>
              <a:rPr lang="en-US" i="1">
                <a:solidFill>
                  <a:schemeClr val="tx1"/>
                </a:solidFill>
              </a:rPr>
              <a:t>Since MSE squares the errors, </a:t>
            </a:r>
            <a:r>
              <a:rPr lang="en-US" b="1" i="1">
                <a:solidFill>
                  <a:srgbClr val="C00000"/>
                </a:solidFill>
              </a:rPr>
              <a:t>it gives greater weight to larger errors.</a:t>
            </a:r>
            <a:r>
              <a:rPr lang="en-US" i="1">
                <a:solidFill>
                  <a:schemeClr val="tx1"/>
                </a:solidFill>
              </a:rPr>
              <a:t> This sensitivity makes it effective for detecting models that may not perform well on extreme values, although it can also make the metric overly influenced by outliers.</a:t>
            </a:r>
          </a:p>
          <a:p>
            <a:pPr lvl="0" algn="l"/>
            <a:r>
              <a:rPr lang="en-US" b="1" i="1">
                <a:solidFill>
                  <a:schemeClr val="tx1"/>
                </a:solidFill>
              </a:rPr>
              <a:t>Optimization Objective:</a:t>
            </a:r>
          </a:p>
          <a:p>
            <a:pPr lvl="1" algn="l"/>
            <a:r>
              <a:rPr lang="en-US" i="1">
                <a:solidFill>
                  <a:schemeClr val="tx1"/>
                </a:solidFill>
              </a:rPr>
              <a:t>Many machine learning algorithms, particularly those based on gradient descent (e.g., linear regression, neural networks), use MSE as the loss function to minimize during training. By minimizing MSE, models learn to make better predictions.</a:t>
            </a:r>
          </a:p>
          <a:p>
            <a:pPr lvl="0" algn="l"/>
            <a:endParaRPr lang="en-US" i="1">
              <a:solidFill>
                <a:schemeClr val="tx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Importance of MSE</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b="1" i="1">
                <a:solidFill>
                  <a:schemeClr val="tx1"/>
                </a:solidFill>
              </a:rPr>
              <a:t>Comparative Analysis:</a:t>
            </a:r>
          </a:p>
          <a:p>
            <a:pPr lvl="1" algn="l"/>
            <a:r>
              <a:rPr lang="en-US" i="1">
                <a:solidFill>
                  <a:schemeClr val="tx1"/>
                </a:solidFill>
              </a:rPr>
              <a:t>MSE allows for easy comparison between different models or algorithms. By evaluating multiple models using MSE, practitioners can select the one with the best performance based on this metric.</a:t>
            </a:r>
          </a:p>
          <a:p>
            <a:pPr lvl="0" algn="l"/>
            <a:r>
              <a:rPr lang="en-US" b="1" i="1">
                <a:solidFill>
                  <a:schemeClr val="tx1"/>
                </a:solidFill>
              </a:rPr>
              <a:t>Interpretable Metric:</a:t>
            </a:r>
          </a:p>
          <a:p>
            <a:pPr lvl="1" algn="l"/>
            <a:r>
              <a:rPr lang="en-US" i="1">
                <a:solidFill>
                  <a:schemeClr val="tx1"/>
                </a:solidFill>
              </a:rPr>
              <a:t>Although MSE itself is in squared units of the target variable, it is straightforward to interpret. When paired with the square root (resulting in Root Mean Squared Error, RMSE), it can be expressed in the same units as the target variable, enhancing interpretability.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R-squared</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R-squared, also known as the coefficient of determination, is a statistical measure that indicates how well the independent variables in a regression model explain the variability of the dependent variable. </a:t>
            </a:r>
          </a:p>
          <a:p>
            <a:pPr lvl="0" algn="l"/>
            <a:r>
              <a:rPr lang="en-US" sz="2400" i="1">
                <a:solidFill>
                  <a:schemeClr val="tx1"/>
                </a:solidFill>
              </a:rPr>
              <a:t>It provides an indication of the goodness of fit of the model.</a:t>
            </a:r>
          </a:p>
        </p:txBody>
      </p:sp>
      <p:pic>
        <p:nvPicPr>
          <p:cNvPr id="7" name="Picture 6"/>
          <p:cNvPicPr>
            <a:picLocks noChangeAspect="1"/>
          </p:cNvPicPr>
          <p:nvPr/>
        </p:nvPicPr>
        <p:blipFill>
          <a:blip r:embed="rId4"/>
          <a:stretch>
            <a:fillRect/>
          </a:stretch>
        </p:blipFill>
        <p:spPr>
          <a:xfrm>
            <a:off x="3011805" y="2477135"/>
            <a:ext cx="6167755" cy="39497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Interpretation of R-squared</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3200" b="1" i="1">
                <a:solidFill>
                  <a:schemeClr val="tx1"/>
                </a:solidFill>
              </a:rPr>
              <a:t>Range:</a:t>
            </a:r>
            <a:r>
              <a:rPr lang="en-US" sz="3200" i="1">
                <a:solidFill>
                  <a:schemeClr val="tx1"/>
                </a:solidFill>
              </a:rPr>
              <a:t> R-squared values range from 0 to 1.</a:t>
            </a:r>
          </a:p>
          <a:p>
            <a:pPr lvl="1" algn="l"/>
            <a:r>
              <a:rPr lang="en-US" sz="2800" i="1">
                <a:solidFill>
                  <a:schemeClr val="tx1"/>
                </a:solidFill>
              </a:rPr>
              <a:t>0: Indicates that the model does not explain any variability in the dependent variable (the mean of the dependent variable is the best predictor).</a:t>
            </a:r>
          </a:p>
          <a:p>
            <a:pPr lvl="1" algn="l"/>
            <a:r>
              <a:rPr lang="en-US" sz="2800" i="1">
                <a:solidFill>
                  <a:schemeClr val="tx1"/>
                </a:solidFill>
              </a:rPr>
              <a:t>1: Indicates that the model explains all the variability in the dependent variable (perfect prediction).</a:t>
            </a:r>
          </a:p>
          <a:p>
            <a:pPr lvl="0" algn="l"/>
            <a:r>
              <a:rPr lang="en-US" sz="3200" b="1" i="1">
                <a:solidFill>
                  <a:schemeClr val="tx1"/>
                </a:solidFill>
              </a:rPr>
              <a:t>Value Interpretation:</a:t>
            </a:r>
          </a:p>
          <a:p>
            <a:pPr lvl="1" algn="l"/>
            <a:r>
              <a:rPr lang="en-US" sz="2800" i="1">
                <a:solidFill>
                  <a:schemeClr val="tx1"/>
                </a:solidFill>
              </a:rPr>
              <a:t>An R² value of 0.70, for example, suggests that 70% of the variability in the dependent variable can be explained by the independent variables in the model, while 30% is attributed to other factors or random noise..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Linear Regression (Beyond The Syllabus)</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Linear regression is a statistical regression method which is used for predictive analysis.</a:t>
            </a:r>
          </a:p>
          <a:p>
            <a:pPr lvl="0" algn="l"/>
            <a:r>
              <a:rPr lang="en-US" sz="2400" i="1">
                <a:solidFill>
                  <a:schemeClr val="tx1"/>
                </a:solidFill>
              </a:rPr>
              <a:t>It is one of the very simple and easy algorithms which works on regression and shows the relationship between the continuous variables.</a:t>
            </a:r>
          </a:p>
          <a:p>
            <a:pPr lvl="0" algn="l"/>
            <a:r>
              <a:rPr lang="en-US" sz="2400" i="1">
                <a:solidFill>
                  <a:schemeClr val="tx1"/>
                </a:solidFill>
              </a:rPr>
              <a:t>It is used for solving the regression problem in machine learning.</a:t>
            </a:r>
          </a:p>
          <a:p>
            <a:pPr lvl="0" algn="l"/>
            <a:r>
              <a:rPr lang="en-US" sz="2400" i="1">
                <a:solidFill>
                  <a:schemeClr val="tx1"/>
                </a:solidFill>
              </a:rPr>
              <a:t>Linear regression shows the linear relationship between the independent variable (X-axis) and the dependent variable (Y-axis), hence called linear regression.</a:t>
            </a:r>
          </a:p>
          <a:p>
            <a:pPr lvl="0" algn="l"/>
            <a:r>
              <a:rPr lang="en-US" sz="2400" i="1">
                <a:solidFill>
                  <a:schemeClr val="tx1"/>
                </a:solidFill>
              </a:rPr>
              <a:t>If there is only one input variable (x), then such linear regression is called simple linear regression. And if there is more than one input variable, then such linear regression is called multiple linear regression.</a:t>
            </a:r>
          </a:p>
          <a:p>
            <a:pPr lvl="0" algn="l"/>
            <a:r>
              <a:rPr lang="en-US" sz="2400" i="1">
                <a:solidFill>
                  <a:schemeClr val="tx1"/>
                </a:solidFill>
              </a:rPr>
              <a:t>The relationship between variables in the linear regression model can be explained using the below image. Here we are predicting the salary of an employee on the basis of the year of experience.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Linear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Some popular applications of linear regression are:</a:t>
            </a:r>
          </a:p>
          <a:p>
            <a:pPr lvl="1" algn="l"/>
            <a:r>
              <a:rPr lang="en-US" b="1" i="1">
                <a:solidFill>
                  <a:schemeClr val="tx1"/>
                </a:solidFill>
              </a:rPr>
              <a:t>Analyzing trends and sales estimates</a:t>
            </a:r>
          </a:p>
          <a:p>
            <a:pPr lvl="1" algn="l"/>
            <a:r>
              <a:rPr lang="en-US" b="1" i="1">
                <a:solidFill>
                  <a:schemeClr val="tx1"/>
                </a:solidFill>
              </a:rPr>
              <a:t>Salary forecasting</a:t>
            </a:r>
          </a:p>
          <a:p>
            <a:pPr lvl="1" algn="l"/>
            <a:r>
              <a:rPr lang="en-US" b="1" i="1">
                <a:solidFill>
                  <a:schemeClr val="tx1"/>
                </a:solidFill>
              </a:rPr>
              <a:t>Real estate prediction</a:t>
            </a:r>
          </a:p>
          <a:p>
            <a:pPr lvl="1" algn="l"/>
            <a:r>
              <a:rPr lang="en-US" b="1" i="1">
                <a:solidFill>
                  <a:schemeClr val="tx1"/>
                </a:solidFill>
              </a:rPr>
              <a:t>Arriving at ETAs in traffic.</a:t>
            </a:r>
          </a:p>
        </p:txBody>
      </p:sp>
      <p:pic>
        <p:nvPicPr>
          <p:cNvPr id="7" name="Picture 6"/>
          <p:cNvPicPr>
            <a:picLocks noChangeAspect="1"/>
          </p:cNvPicPr>
          <p:nvPr/>
        </p:nvPicPr>
        <p:blipFill>
          <a:blip r:embed="rId4"/>
          <a:stretch>
            <a:fillRect/>
          </a:stretch>
        </p:blipFill>
        <p:spPr>
          <a:xfrm>
            <a:off x="4982210" y="2338070"/>
            <a:ext cx="7143750" cy="4018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a:solidFill>
                  <a:schemeClr val="bg1"/>
                </a:solidFill>
                <a:sym typeface="+mn-ea"/>
              </a:rPr>
              <a:t>Colab Link for Linear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3079115"/>
            <a:ext cx="11302365" cy="1007745"/>
          </a:xfrm>
        </p:spPr>
        <p:txBody>
          <a:bodyPr>
            <a:noAutofit/>
          </a:bodyPr>
          <a:lstStyle/>
          <a:p>
            <a:pPr marL="0" lvl="0" indent="0" algn="ctr">
              <a:buNone/>
            </a:pPr>
            <a:r>
              <a:rPr lang="en-US" sz="2400">
                <a:sym typeface="+mn-ea"/>
              </a:rPr>
              <a:t>https://colab.research.google.com/drive/1Ol5Rvfj-DDNR4vngO2EkZcfFaAM4jItw#scrollTo=0X7hGyLc11EZ</a:t>
            </a:r>
            <a:endParaRPr lang="en-US" sz="2400"/>
          </a:p>
          <a:p>
            <a:pPr lvl="0" algn="ctr"/>
            <a:endParaRPr lang="en-US" b="1" i="1">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Logistic regression is another </a:t>
            </a:r>
            <a:r>
              <a:rPr lang="en-US" sz="2400" b="1" i="1">
                <a:solidFill>
                  <a:srgbClr val="C00000"/>
                </a:solidFill>
              </a:rPr>
              <a:t>supervised learning algorithm</a:t>
            </a:r>
            <a:r>
              <a:rPr lang="en-US" sz="2400" i="1">
                <a:solidFill>
                  <a:schemeClr val="tx1"/>
                </a:solidFill>
              </a:rPr>
              <a:t> which is used to solve the classification problems. </a:t>
            </a:r>
          </a:p>
          <a:p>
            <a:pPr lvl="0" algn="l"/>
            <a:r>
              <a:rPr lang="en-US" sz="2400" i="1">
                <a:solidFill>
                  <a:schemeClr val="tx1"/>
                </a:solidFill>
              </a:rPr>
              <a:t>In classification problems, we have dependent variables in a </a:t>
            </a:r>
            <a:r>
              <a:rPr lang="en-US" sz="2400" b="1" i="1">
                <a:solidFill>
                  <a:srgbClr val="C00000"/>
                </a:solidFill>
              </a:rPr>
              <a:t>binary or discrete format such as 0 or 1.</a:t>
            </a:r>
          </a:p>
          <a:p>
            <a:pPr lvl="0" algn="l"/>
            <a:r>
              <a:rPr lang="en-US" sz="2400" i="1">
                <a:solidFill>
                  <a:schemeClr val="tx1"/>
                </a:solidFill>
              </a:rPr>
              <a:t>Logistic regression algorithm </a:t>
            </a:r>
            <a:r>
              <a:rPr lang="en-US" sz="2400" b="1" i="1">
                <a:solidFill>
                  <a:srgbClr val="C00000"/>
                </a:solidFill>
              </a:rPr>
              <a:t>works with the categorical variable </a:t>
            </a:r>
            <a:r>
              <a:rPr lang="en-US" sz="2400" i="1">
                <a:solidFill>
                  <a:schemeClr val="tx1"/>
                </a:solidFill>
              </a:rPr>
              <a:t>such as 0 or 1, Yes or No, True or False, Spam or not spam, etc.</a:t>
            </a:r>
          </a:p>
          <a:p>
            <a:pPr lvl="0" algn="l"/>
            <a:r>
              <a:rPr lang="en-US" sz="2400" i="1">
                <a:solidFill>
                  <a:schemeClr val="tx1"/>
                </a:solidFill>
              </a:rPr>
              <a:t>It is a </a:t>
            </a:r>
            <a:r>
              <a:rPr lang="en-US" sz="2400" b="1" i="1">
                <a:solidFill>
                  <a:srgbClr val="C00000"/>
                </a:solidFill>
              </a:rPr>
              <a:t>predictive analysis algorithm </a:t>
            </a:r>
            <a:r>
              <a:rPr lang="en-US" sz="2400" i="1">
                <a:solidFill>
                  <a:schemeClr val="tx1"/>
                </a:solidFill>
              </a:rPr>
              <a:t>which works on the concept of probability.</a:t>
            </a:r>
          </a:p>
          <a:p>
            <a:pPr lvl="0" algn="l"/>
            <a:r>
              <a:rPr lang="en-US" sz="2400" i="1">
                <a:solidFill>
                  <a:schemeClr val="tx1"/>
                </a:solidFill>
              </a:rPr>
              <a:t>Logistic regression is a type of regression, but it is different from the linear regression algorithm in the term how they are used.</a:t>
            </a:r>
          </a:p>
          <a:p>
            <a:pPr lvl="0" algn="l"/>
            <a:r>
              <a:rPr lang="en-US" sz="2400" i="1">
                <a:solidFill>
                  <a:schemeClr val="tx1"/>
                </a:solidFill>
              </a:rPr>
              <a:t>Logistic regression uses </a:t>
            </a:r>
            <a:r>
              <a:rPr lang="en-US" sz="2400" b="1" i="1">
                <a:solidFill>
                  <a:srgbClr val="C00000"/>
                </a:solidFill>
              </a:rPr>
              <a:t>sigmoid function or logistic function</a:t>
            </a:r>
            <a:r>
              <a:rPr lang="en-US" sz="2400" i="1">
                <a:solidFill>
                  <a:srgbClr val="C00000"/>
                </a:solidFill>
              </a:rPr>
              <a:t> </a:t>
            </a:r>
            <a:r>
              <a:rPr lang="en-US" sz="2400" i="1">
                <a:solidFill>
                  <a:schemeClr val="tx1"/>
                </a:solidFill>
              </a:rPr>
              <a:t>which is a complex cost function. </a:t>
            </a:r>
          </a:p>
          <a:p>
            <a:pPr lvl="0" algn="l"/>
            <a:r>
              <a:rPr lang="en-US" sz="2400" i="1">
                <a:solidFill>
                  <a:schemeClr val="tx1"/>
                </a:solidFill>
              </a:rPr>
              <a:t>This sigmoid function is used to model the data in logistic regression. The function can be represented as: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2400" i="1">
                <a:solidFill>
                  <a:schemeClr val="tx1"/>
                </a:solidFill>
              </a:rPr>
              <a:t>Logistic regression is another </a:t>
            </a:r>
            <a:r>
              <a:rPr lang="en-US" sz="2400" b="1" i="1">
                <a:solidFill>
                  <a:srgbClr val="C00000"/>
                </a:solidFill>
              </a:rPr>
              <a:t>supervised learning algorithm</a:t>
            </a:r>
            <a:r>
              <a:rPr lang="en-US" sz="2400" i="1">
                <a:solidFill>
                  <a:schemeClr val="tx1"/>
                </a:solidFill>
              </a:rPr>
              <a:t> which is used to solve the classification problems. </a:t>
            </a:r>
          </a:p>
          <a:p>
            <a:pPr lvl="0" algn="l"/>
            <a:r>
              <a:rPr lang="en-US" sz="2400" i="1">
                <a:solidFill>
                  <a:schemeClr val="tx1"/>
                </a:solidFill>
              </a:rPr>
              <a:t>In classification problems, we have dependent variables in a </a:t>
            </a:r>
            <a:r>
              <a:rPr lang="en-US" sz="2400" b="1" i="1">
                <a:solidFill>
                  <a:srgbClr val="C00000"/>
                </a:solidFill>
              </a:rPr>
              <a:t>binary or discrete format such as 0 or 1.</a:t>
            </a:r>
          </a:p>
          <a:p>
            <a:pPr lvl="0" algn="l"/>
            <a:r>
              <a:rPr lang="en-US" sz="2400" i="1">
                <a:solidFill>
                  <a:schemeClr val="tx1"/>
                </a:solidFill>
              </a:rPr>
              <a:t>Logistic regression algorithm </a:t>
            </a:r>
            <a:r>
              <a:rPr lang="en-US" sz="2400" b="1" i="1">
                <a:solidFill>
                  <a:srgbClr val="C00000"/>
                </a:solidFill>
              </a:rPr>
              <a:t>works with the categorical variable </a:t>
            </a:r>
            <a:r>
              <a:rPr lang="en-US" sz="2400" i="1">
                <a:solidFill>
                  <a:schemeClr val="tx1"/>
                </a:solidFill>
              </a:rPr>
              <a:t>such as 0 or 1, Yes or No, True or False, Spam or not spam, etc.</a:t>
            </a:r>
          </a:p>
          <a:p>
            <a:pPr lvl="0" algn="l"/>
            <a:r>
              <a:rPr lang="en-US" sz="2400" i="1">
                <a:solidFill>
                  <a:schemeClr val="tx1"/>
                </a:solidFill>
              </a:rPr>
              <a:t>It is a </a:t>
            </a:r>
            <a:r>
              <a:rPr lang="en-US" sz="2400" b="1" i="1">
                <a:solidFill>
                  <a:srgbClr val="C00000"/>
                </a:solidFill>
              </a:rPr>
              <a:t>predictive analysis algorithm </a:t>
            </a:r>
            <a:r>
              <a:rPr lang="en-US" sz="2400" i="1">
                <a:solidFill>
                  <a:schemeClr val="tx1"/>
                </a:solidFill>
              </a:rPr>
              <a:t>which works on the concept of probability.</a:t>
            </a:r>
          </a:p>
          <a:p>
            <a:pPr lvl="0" algn="l"/>
            <a:r>
              <a:rPr lang="en-US" sz="2400" i="1">
                <a:solidFill>
                  <a:schemeClr val="tx1"/>
                </a:solidFill>
              </a:rPr>
              <a:t>Logistic regression is a type of regression, but it is different from the linear regression algorithm in the term how they are used.</a:t>
            </a:r>
          </a:p>
          <a:p>
            <a:pPr lvl="0" algn="l"/>
            <a:r>
              <a:rPr lang="en-US" sz="2400" i="1">
                <a:solidFill>
                  <a:schemeClr val="tx1"/>
                </a:solidFill>
              </a:rPr>
              <a:t>Logistic regression uses </a:t>
            </a:r>
            <a:r>
              <a:rPr lang="en-US" sz="2400" b="1" i="1">
                <a:solidFill>
                  <a:srgbClr val="C00000"/>
                </a:solidFill>
              </a:rPr>
              <a:t>sigmoid function or logistic function</a:t>
            </a:r>
            <a:r>
              <a:rPr lang="en-US" sz="2400" i="1">
                <a:solidFill>
                  <a:srgbClr val="C00000"/>
                </a:solidFill>
              </a:rPr>
              <a:t> </a:t>
            </a:r>
            <a:r>
              <a:rPr lang="en-US" sz="2400" i="1">
                <a:solidFill>
                  <a:schemeClr val="tx1"/>
                </a:solidFill>
              </a:rPr>
              <a:t>which is a complex cost function. </a:t>
            </a:r>
          </a:p>
          <a:p>
            <a:pPr lvl="0" algn="l"/>
            <a:r>
              <a:rPr lang="en-US" sz="2400" i="1">
                <a:solidFill>
                  <a:schemeClr val="tx1"/>
                </a:solidFill>
              </a:rPr>
              <a:t>This sigmoid function is used to model the data in logistic regression. The function can be represented as: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7" name="Picture 6"/>
          <p:cNvPicPr>
            <a:picLocks noChangeAspect="1"/>
          </p:cNvPicPr>
          <p:nvPr/>
        </p:nvPicPr>
        <p:blipFill>
          <a:blip r:embed="rId4"/>
          <a:srcRect t="7995"/>
          <a:stretch>
            <a:fillRect/>
          </a:stretch>
        </p:blipFill>
        <p:spPr>
          <a:xfrm>
            <a:off x="1303655" y="1251585"/>
            <a:ext cx="9043035" cy="510095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Types of 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endParaRPr lang="en-US" sz="2395" b="1" i="1"/>
          </a:p>
        </p:txBody>
      </p:sp>
      <p:pic>
        <p:nvPicPr>
          <p:cNvPr id="9" name="Picture 8"/>
          <p:cNvPicPr>
            <a:picLocks noChangeAspect="1"/>
          </p:cNvPicPr>
          <p:nvPr/>
        </p:nvPicPr>
        <p:blipFill>
          <a:blip r:embed="rId4"/>
          <a:stretch>
            <a:fillRect/>
          </a:stretch>
        </p:blipFill>
        <p:spPr>
          <a:xfrm>
            <a:off x="575945" y="921385"/>
            <a:ext cx="11616055" cy="5513705"/>
          </a:xfrm>
          <a:prstGeom prst="rect">
            <a:avLst/>
          </a:prstGeom>
        </p:spPr>
      </p:pic>
      <p:sp>
        <p:nvSpPr>
          <p:cNvPr id="10" name="Text Box 9"/>
          <p:cNvSpPr txBox="1"/>
          <p:nvPr/>
        </p:nvSpPr>
        <p:spPr>
          <a:xfrm>
            <a:off x="7325995" y="1144905"/>
            <a:ext cx="4642485" cy="1383665"/>
          </a:xfrm>
          <a:prstGeom prst="rect">
            <a:avLst/>
          </a:prstGeom>
          <a:noFill/>
        </p:spPr>
        <p:txBody>
          <a:bodyPr wrap="square" rtlCol="0">
            <a:spAutoFit/>
          </a:bodyPr>
          <a:lstStyle/>
          <a:p>
            <a:pPr lvl="0" algn="l"/>
            <a:r>
              <a:rPr lang="en-US" sz="2800" b="1" i="1">
                <a:sym typeface="+mn-ea"/>
              </a:rPr>
              <a:t>Binary(0/1, pass/fail)</a:t>
            </a:r>
            <a:endParaRPr lang="en-US" sz="2800" b="1" i="1"/>
          </a:p>
          <a:p>
            <a:pPr lvl="0" algn="l"/>
            <a:r>
              <a:rPr lang="en-US" sz="2800" b="1" i="1">
                <a:sym typeface="+mn-ea"/>
              </a:rPr>
              <a:t>Multi(cats, dogs, lions)</a:t>
            </a:r>
            <a:endParaRPr lang="en-US" sz="2800" b="1" i="1"/>
          </a:p>
          <a:p>
            <a:pPr lvl="0" algn="l"/>
            <a:r>
              <a:rPr lang="en-US" sz="2800" b="1" i="1">
                <a:sym typeface="+mn-ea"/>
              </a:rPr>
              <a:t>Ordinal(low, medium, high)</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Binary 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3200" b="1" i="1"/>
              <a:t>Binary logistic regression predicts the relationship between the independent and binary dependent variables. </a:t>
            </a:r>
          </a:p>
          <a:p>
            <a:pPr lvl="0" algn="l"/>
            <a:r>
              <a:rPr lang="en-US" sz="3200" b="1" i="1"/>
              <a:t>Some examples of the output of this regression type may be, success/failure, 0/1, or true/false.</a:t>
            </a:r>
          </a:p>
          <a:p>
            <a:pPr lvl="0" algn="l"/>
            <a:r>
              <a:rPr lang="en-US" sz="3200" b="1" i="1"/>
              <a:t>Examples:</a:t>
            </a:r>
          </a:p>
          <a:p>
            <a:pPr lvl="1" algn="l"/>
            <a:r>
              <a:rPr lang="en-US" sz="2800" b="1" i="1"/>
              <a:t>Deciding on whether or not to offer a loan to a bank customer: Outcome = yes or no.</a:t>
            </a:r>
          </a:p>
          <a:p>
            <a:pPr lvl="1" algn="l"/>
            <a:r>
              <a:rPr lang="en-US" sz="2800" b="1" i="1"/>
              <a:t>Evaluating the risk of cancer: Outcome = high or low.</a:t>
            </a:r>
          </a:p>
          <a:p>
            <a:pPr lvl="1" algn="l"/>
            <a:r>
              <a:rPr lang="en-US" sz="2800" b="1" i="1"/>
              <a:t>Predicting a team’s win in a football match: Outcome = yes or no.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 Multinomial 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3200" b="1" i="1"/>
              <a:t>A categorical dependent variable has two or more discrete outcomes in a multinomial regression type. This implies that this regression type has more than two possible outcomes.</a:t>
            </a:r>
          </a:p>
          <a:p>
            <a:pPr lvl="0" algn="l"/>
            <a:r>
              <a:rPr lang="en-US" sz="3200" b="1" i="1"/>
              <a:t>Examples:</a:t>
            </a:r>
          </a:p>
          <a:p>
            <a:pPr lvl="1" algn="l"/>
            <a:r>
              <a:rPr lang="en-US" sz="2740" b="1" i="1"/>
              <a:t>Let’s say you want to predict the most popular transportation type for 2040. Here, transport type equates to the dependent variable, and the possible outcomes can be electric cars, electric trains, electric buses, and electric bikes.</a:t>
            </a:r>
          </a:p>
          <a:p>
            <a:pPr lvl="1" algn="l"/>
            <a:r>
              <a:rPr lang="en-US" sz="2740" b="1" i="1"/>
              <a:t>Predicting whether a student will join a college, vocational/trade school, or corporate industry.</a:t>
            </a:r>
          </a:p>
          <a:p>
            <a:pPr lvl="1" algn="l"/>
            <a:r>
              <a:rPr lang="en-US" sz="2740" b="1" i="1"/>
              <a:t>Estimating the type of food consumed by pets, the outcome may be wet food, dry food, or junk food.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Ordinal logistic regression</a:t>
            </a:r>
            <a:endParaRPr lang="en-US" sz="3000" b="1" i="1" kern="0">
              <a:solidFill>
                <a:schemeClr val="bg1"/>
              </a:solidFill>
              <a:latin typeface="Times New Roman" panose="02020603050405020304"/>
              <a:ea typeface="Calibri" panose="020F05020202040302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668020" y="921385"/>
            <a:ext cx="11302365" cy="5255895"/>
          </a:xfrm>
        </p:spPr>
        <p:txBody>
          <a:bodyPr>
            <a:noAutofit/>
          </a:bodyPr>
          <a:lstStyle/>
          <a:p>
            <a:pPr lvl="0" algn="l"/>
            <a:r>
              <a:rPr lang="en-US" sz="3600" b="1" i="1"/>
              <a:t>Ordinal logistic regression applies when the dependent variable is in an ordered state (i.e., ordinal). </a:t>
            </a:r>
          </a:p>
          <a:p>
            <a:pPr lvl="0" algn="l"/>
            <a:r>
              <a:rPr lang="en-US" sz="3600" b="1" i="1"/>
              <a:t>The dependent variable (y) specifies an order with two or more categories or levels.</a:t>
            </a:r>
          </a:p>
          <a:p>
            <a:pPr lvl="0" algn="l"/>
            <a:r>
              <a:rPr lang="en-US" sz="3600" b="1" i="1"/>
              <a:t>Examples: Dependent variables represent,</a:t>
            </a:r>
          </a:p>
          <a:p>
            <a:pPr lvl="1" algn="l"/>
            <a:r>
              <a:rPr lang="en-US" sz="2800" b="1" i="1"/>
              <a:t>Formal shirt size: Outcomes = XS/S/M/L/XL</a:t>
            </a:r>
          </a:p>
          <a:p>
            <a:pPr lvl="1" algn="l"/>
            <a:r>
              <a:rPr lang="en-US" sz="2800" b="1" i="1"/>
              <a:t>Survey answers: Outcomes = Agree/Disagree/Unsure</a:t>
            </a:r>
          </a:p>
          <a:p>
            <a:pPr lvl="1" algn="l"/>
            <a:r>
              <a:rPr lang="en-US" sz="2800" b="1" i="1"/>
              <a:t>Scores on a math test: Outcomes = Poor/Average/Good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r>
              <a:rPr lang="en-US" sz="3000" b="1" i="1">
                <a:solidFill>
                  <a:schemeClr val="bg1"/>
                </a:solidFill>
                <a:sym typeface="+mn-ea"/>
              </a:rPr>
              <a:t>Key advantages of logistic regression</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7" name="Content Placeholder 6"/>
          <p:cNvPicPr>
            <a:picLocks noGrp="1" noChangeAspect="1"/>
          </p:cNvPicPr>
          <p:nvPr>
            <p:ph idx="1"/>
          </p:nvPr>
        </p:nvPicPr>
        <p:blipFill>
          <a:blip r:embed="rId4"/>
          <a:srcRect t="18423" b="10191"/>
          <a:stretch>
            <a:fillRect/>
          </a:stretch>
        </p:blipFill>
        <p:spPr>
          <a:xfrm>
            <a:off x="838200" y="995045"/>
            <a:ext cx="10928985" cy="500570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sym typeface="+mn-ea"/>
              </a:rPr>
              <a:t>Colab Link for Linear Regression:</a:t>
            </a:r>
            <a:endParaRPr lang="en-US" sz="3000" b="1" kern="0">
              <a:solidFill>
                <a:schemeClr val="bg1"/>
              </a:solidFill>
              <a:latin typeface="Times New Roman" panose="02020603050405020304"/>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1825625"/>
            <a:ext cx="10515600" cy="1689100"/>
          </a:xfrm>
        </p:spPr>
        <p:txBody>
          <a:bodyPr/>
          <a:lstStyle/>
          <a:p>
            <a:r>
              <a:rPr lang="en-US" b="1"/>
              <a:t>Case Study: Predicting Diabetes Using Logistic Regression</a:t>
            </a:r>
          </a:p>
          <a:p>
            <a:r>
              <a:rPr lang="en-US"/>
              <a:t>https://colab.research.google.com/drive/1QhRP1lhm05y6-I_T6uSz2CphiMcLKDYo#scrollTo=IHo9w80zCKoR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a:t>
            </a:r>
            <a:endParaRPr lang="en-US" sz="3000" b="1" kern="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251565" cy="5330190"/>
          </a:xfrm>
        </p:spPr>
        <p:txBody>
          <a:bodyPr>
            <a:noAutofit/>
          </a:bodyPr>
          <a:lstStyle/>
          <a:p>
            <a:pPr algn="just"/>
            <a:r>
              <a:rPr lang="en-US" sz="2400" b="1"/>
              <a:t>Regularization</a:t>
            </a:r>
            <a:r>
              <a:rPr lang="en-US" sz="2400"/>
              <a:t> is a technique used in machine learning and statistics to prevent overfitting, which occurs when a model learns the noise in the training data instead of the underlying patterns. </a:t>
            </a:r>
          </a:p>
          <a:p>
            <a:pPr algn="just"/>
            <a:r>
              <a:rPr lang="en-US" sz="2400" b="1"/>
              <a:t>Purpose:</a:t>
            </a:r>
            <a:endParaRPr lang="en-US" sz="2400"/>
          </a:p>
          <a:p>
            <a:pPr lvl="1" algn="just"/>
            <a:r>
              <a:rPr lang="en-US"/>
              <a:t>To improve model generalization and performance on unseen data by reducing overfitting.</a:t>
            </a:r>
          </a:p>
          <a:p>
            <a:pPr lvl="0" algn="just"/>
            <a:r>
              <a:rPr lang="en-US" sz="2400" b="1"/>
              <a:t>Common Types:</a:t>
            </a:r>
          </a:p>
          <a:p>
            <a:pPr lvl="1" algn="just"/>
            <a:r>
              <a:rPr lang="en-US" b="1"/>
              <a:t>L1 Regularization (Lasso):</a:t>
            </a:r>
            <a:r>
              <a:rPr lang="en-US"/>
              <a:t> Adds a penalty equal to the absolute value of the coefficients. It can produce sparse models by driving some coefficients to zero, effectively selecting features.</a:t>
            </a:r>
          </a:p>
          <a:p>
            <a:pPr lvl="1" algn="just"/>
            <a:r>
              <a:rPr lang="en-US" b="1"/>
              <a:t>L2 Regularization (Ridge):</a:t>
            </a:r>
            <a:r>
              <a:rPr lang="en-US"/>
              <a:t> Adds a penalty equal to the square of the coefficients. It tends to shrink coefficients evenly, preventing any one feature from having too much influence.</a:t>
            </a:r>
          </a:p>
          <a:p>
            <a:pPr lvl="1" algn="just"/>
            <a:r>
              <a:rPr lang="en-US" b="1"/>
              <a:t>Elastic Net:</a:t>
            </a:r>
            <a:r>
              <a:rPr lang="en-US"/>
              <a:t> Combines both L1 and L2 penalties, allowing for feature selection and coefficient shrinkage.</a:t>
            </a:r>
          </a:p>
          <a:p>
            <a:pPr marL="0" lvl="0" indent="0" algn="just">
              <a:buNone/>
            </a:pP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a:t>
            </a:r>
            <a:endParaRPr lang="en-US" sz="3000" b="1" kern="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251565" cy="5330190"/>
          </a:xfrm>
        </p:spPr>
        <p:txBody>
          <a:bodyPr>
            <a:noAutofit/>
          </a:bodyPr>
          <a:lstStyle/>
          <a:p>
            <a:pPr lvl="0" algn="just"/>
            <a:r>
              <a:rPr lang="en-US" b="1"/>
              <a:t>Techniques:</a:t>
            </a:r>
          </a:p>
          <a:p>
            <a:pPr lvl="1" algn="just"/>
            <a:r>
              <a:rPr lang="en-US" sz="2800" b="1"/>
              <a:t>Dropout:</a:t>
            </a:r>
            <a:r>
              <a:rPr lang="en-US" sz="2800"/>
              <a:t> Randomly sets a fraction of neurons to zero during training in neural networks, which helps prevent co-adaptation.</a:t>
            </a:r>
          </a:p>
          <a:p>
            <a:pPr lvl="1" algn="just"/>
            <a:r>
              <a:rPr lang="en-US" sz="2800" b="1"/>
              <a:t>Early Stopping: </a:t>
            </a:r>
            <a:r>
              <a:rPr lang="en-US" sz="2800"/>
              <a:t>Involves monitoring the model's performance on a validation set and stopping training when performance begins to degrade.</a:t>
            </a:r>
          </a:p>
          <a:p>
            <a:pPr lvl="0" algn="just"/>
            <a:r>
              <a:rPr lang="en-US" b="1"/>
              <a:t>Benefits:</a:t>
            </a:r>
          </a:p>
          <a:p>
            <a:pPr lvl="1" algn="just"/>
            <a:r>
              <a:rPr lang="en-US" sz="2800"/>
              <a:t>Helps to avoid overfitting.</a:t>
            </a:r>
          </a:p>
          <a:p>
            <a:pPr lvl="1" algn="just"/>
            <a:r>
              <a:rPr lang="en-US" sz="2800"/>
              <a:t>Encourages simpler models, which are often more interpretable.</a:t>
            </a:r>
          </a:p>
          <a:p>
            <a:pPr lvl="1" algn="just"/>
            <a:r>
              <a:rPr lang="en-US" sz="2800"/>
              <a:t>Can improve prediction accuracy on new data.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7534910" cy="4958080"/>
          </a:xfrm>
        </p:spPr>
        <p:txBody>
          <a:bodyPr/>
          <a:lstStyle/>
          <a:p>
            <a:pPr algn="just"/>
            <a:r>
              <a:rPr lang="en-US" b="1"/>
              <a:t>An error is a measure of how accurately an algorithm can make predictions for the previously unknown dataset.</a:t>
            </a:r>
          </a:p>
          <a:p>
            <a:pPr algn="just"/>
            <a:endParaRPr lang="en-US" b="1"/>
          </a:p>
          <a:p>
            <a:pPr lvl="1" algn="just"/>
            <a:r>
              <a:rPr lang="en-US" sz="2800" b="1"/>
              <a:t>Reducible errors: </a:t>
            </a:r>
            <a:r>
              <a:rPr lang="en-US" sz="2800"/>
              <a:t>These errors can be reduced to improve the model accuracy. Such errors can further be classified into bias and Variance.</a:t>
            </a:r>
          </a:p>
          <a:p>
            <a:pPr lvl="1" algn="just"/>
            <a:r>
              <a:rPr lang="en-US" sz="2800" b="1"/>
              <a:t>Irreducible errors: </a:t>
            </a:r>
            <a:r>
              <a:rPr lang="en-US" sz="2800"/>
              <a:t>These errors will always be present in the model</a:t>
            </a:r>
          </a:p>
        </p:txBody>
      </p:sp>
      <p:pic>
        <p:nvPicPr>
          <p:cNvPr id="7" name="Picture 6"/>
          <p:cNvPicPr>
            <a:picLocks noChangeAspect="1"/>
          </p:cNvPicPr>
          <p:nvPr/>
        </p:nvPicPr>
        <p:blipFill>
          <a:blip r:embed="rId4"/>
          <a:stretch>
            <a:fillRect/>
          </a:stretch>
        </p:blipFill>
        <p:spPr>
          <a:xfrm>
            <a:off x="7853045" y="944880"/>
            <a:ext cx="4272915" cy="525907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lstStyle/>
          <a:p>
            <a:pPr algn="just"/>
            <a:r>
              <a:rPr lang="en-US" b="1"/>
              <a:t>Bias: </a:t>
            </a:r>
            <a:r>
              <a:rPr lang="en-US"/>
              <a:t>a difference between prediction values made by the model and actual values/expected values is known as bias errors or Errors due to bias.</a:t>
            </a:r>
          </a:p>
          <a:p>
            <a:pPr lvl="1" algn="just"/>
            <a:r>
              <a:rPr lang="en-US" b="1"/>
              <a:t>Low Bias: </a:t>
            </a:r>
            <a:r>
              <a:rPr lang="en-US"/>
              <a:t>A low bias model will make fewer assumptions about the form of the target function.</a:t>
            </a:r>
          </a:p>
          <a:p>
            <a:pPr lvl="1" algn="just"/>
            <a:r>
              <a:rPr lang="en-US" b="1"/>
              <a:t>High Bias: </a:t>
            </a:r>
            <a:r>
              <a:rPr lang="en-US"/>
              <a:t>A model with a high bias makes more assumptions, and the model becomes unable to capture the important features of our dataset. A high bias model also cannot perform well on new data.</a:t>
            </a:r>
          </a:p>
          <a:p>
            <a:pPr lvl="0" algn="just"/>
            <a:r>
              <a:rPr lang="en-US"/>
              <a:t>Some examples of machine learning algorithms with</a:t>
            </a:r>
            <a:r>
              <a:rPr lang="en-US" b="1" i="1"/>
              <a:t> low bias are Decision Trees, k-Nearest Neighbours and Support Vector Machines. </a:t>
            </a:r>
          </a:p>
          <a:p>
            <a:pPr lvl="0" algn="just"/>
            <a:r>
              <a:rPr lang="en-US"/>
              <a:t>At the same time, an algorithm with </a:t>
            </a:r>
            <a:r>
              <a:rPr lang="en-US" b="1" i="1"/>
              <a:t>high bias is Linear Regression, Linear Discriminant Analysis and Logistic Regression.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lstStyle/>
          <a:p>
            <a:pPr algn="just"/>
            <a:r>
              <a:rPr lang="en-US" b="1"/>
              <a:t>Ways to reduce High Bias:</a:t>
            </a:r>
          </a:p>
          <a:p>
            <a:pPr lvl="1" algn="just"/>
            <a:r>
              <a:rPr lang="en-US" sz="2800"/>
              <a:t>Increase the input features as the model is underfitted.</a:t>
            </a:r>
          </a:p>
          <a:p>
            <a:pPr lvl="1" algn="just"/>
            <a:r>
              <a:rPr lang="en-US" sz="2800"/>
              <a:t>Decrease the regularization term.</a:t>
            </a:r>
          </a:p>
          <a:p>
            <a:pPr lvl="1" algn="just"/>
            <a:r>
              <a:rPr lang="en-US" sz="2800"/>
              <a:t>Use more complex models, such as including some polynomial features.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lstStyle/>
          <a:p>
            <a:pPr algn="just"/>
            <a:r>
              <a:rPr lang="en-US" sz="2400" b="1"/>
              <a:t>Variance</a:t>
            </a:r>
          </a:p>
          <a:p>
            <a:pPr lvl="1" algn="just"/>
            <a:r>
              <a:rPr lang="en-US" sz="2400"/>
              <a:t>The variance would specify the amount of variation in the prediction if the different training data was used. </a:t>
            </a:r>
          </a:p>
          <a:p>
            <a:pPr lvl="1" algn="just"/>
            <a:r>
              <a:rPr lang="en-US" sz="2400"/>
              <a:t>It tells that how much a random variable is different from its expected value. </a:t>
            </a:r>
          </a:p>
          <a:p>
            <a:pPr lvl="1" algn="just"/>
            <a:r>
              <a:rPr lang="en-US" sz="2400"/>
              <a:t>Ideally, a model should not vary too much from one training dataset to another, which means the algorithm should be good in understanding the hidden mapping between inputs and output variables. </a:t>
            </a:r>
          </a:p>
          <a:p>
            <a:pPr lvl="1" algn="just"/>
            <a:r>
              <a:rPr lang="en-US" sz="2400"/>
              <a:t>Variance errors are either of low variance or high variance.</a:t>
            </a:r>
          </a:p>
          <a:p>
            <a:pPr lvl="0" algn="just"/>
            <a:r>
              <a:rPr lang="en-US" sz="2800" b="1"/>
              <a:t>Low variance </a:t>
            </a:r>
            <a:r>
              <a:rPr lang="en-US" sz="2800"/>
              <a:t>means there is a small variation in the prediction of the target function with changes in the training data set. </a:t>
            </a:r>
          </a:p>
          <a:p>
            <a:pPr lvl="0" algn="just"/>
            <a:r>
              <a:rPr lang="en-US" sz="2800"/>
              <a:t>At the same time, </a:t>
            </a:r>
            <a:r>
              <a:rPr lang="en-US" sz="2800" b="1"/>
              <a:t>High variance</a:t>
            </a:r>
            <a:r>
              <a:rPr lang="en-US" sz="2800"/>
              <a:t> shows a large variation in the prediction of the target function with changes in the training dataset.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lstStyle/>
          <a:p>
            <a:pPr algn="just"/>
            <a:r>
              <a:rPr lang="en-US" sz="2400" b="1"/>
              <a:t>A model with high variance has the below problems:</a:t>
            </a:r>
          </a:p>
          <a:p>
            <a:pPr lvl="1" algn="just"/>
            <a:r>
              <a:rPr lang="en-US" sz="2400"/>
              <a:t>A high variance model leads to overfitting.</a:t>
            </a:r>
          </a:p>
          <a:p>
            <a:pPr lvl="1" algn="just"/>
            <a:r>
              <a:rPr lang="en-US" sz="2400"/>
              <a:t>Increase model complexities.</a:t>
            </a:r>
          </a:p>
          <a:p>
            <a:pPr lvl="0" algn="just"/>
            <a:r>
              <a:rPr lang="en-US" sz="2800" b="1"/>
              <a:t>Ways to Reduce High Variance:</a:t>
            </a:r>
          </a:p>
          <a:p>
            <a:pPr lvl="1" algn="just"/>
            <a:r>
              <a:rPr lang="en-US" sz="2400"/>
              <a:t>Reduce the input features or number of parameters as a model is overfitted.</a:t>
            </a:r>
          </a:p>
          <a:p>
            <a:pPr lvl="1" algn="just"/>
            <a:r>
              <a:rPr lang="en-US" sz="2400"/>
              <a:t>Do not use a much complex model.</a:t>
            </a:r>
          </a:p>
          <a:p>
            <a:pPr lvl="1" algn="just"/>
            <a:r>
              <a:rPr lang="en-US" sz="2400"/>
              <a:t>Increase the training data.</a:t>
            </a:r>
          </a:p>
          <a:p>
            <a:pPr lvl="1" algn="just"/>
            <a:r>
              <a:rPr lang="en-US" sz="2400"/>
              <a:t>Increase the Regularization term.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lstStyle/>
          <a:p>
            <a:pPr algn="just"/>
            <a:r>
              <a:rPr lang="en-US" sz="2400" b="1"/>
              <a:t>Different Combinations of Bias-Variance</a:t>
            </a:r>
          </a:p>
        </p:txBody>
      </p:sp>
      <p:pic>
        <p:nvPicPr>
          <p:cNvPr id="5" name="Picture 4"/>
          <p:cNvPicPr/>
          <p:nvPr/>
        </p:nvPicPr>
        <p:blipFill>
          <a:blip r:embed="rId4"/>
          <a:stretch>
            <a:fillRect/>
          </a:stretch>
        </p:blipFill>
        <p:spPr>
          <a:xfrm>
            <a:off x="3809365" y="1430020"/>
            <a:ext cx="5630545" cy="4724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Bias and Variance</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508000" y="1026795"/>
            <a:ext cx="11038205" cy="4958080"/>
          </a:xfrm>
        </p:spPr>
        <p:txBody>
          <a:bodyPr>
            <a:noAutofit/>
          </a:bodyPr>
          <a:lstStyle/>
          <a:p>
            <a:pPr algn="just"/>
            <a:r>
              <a:rPr lang="en-US" sz="2200" b="1"/>
              <a:t>Different Combinations of Bias-Variance</a:t>
            </a:r>
          </a:p>
          <a:p>
            <a:pPr algn="just"/>
            <a:r>
              <a:rPr lang="en-US" sz="2200" b="1"/>
              <a:t>Low-Bias, Low-Variance:</a:t>
            </a:r>
          </a:p>
          <a:p>
            <a:pPr lvl="1" algn="just"/>
            <a:r>
              <a:rPr lang="en-US" sz="2200"/>
              <a:t>The combination of low bias and low variance shows an </a:t>
            </a:r>
            <a:r>
              <a:rPr lang="en-US" sz="2200" b="1"/>
              <a:t>ideal machine learning model</a:t>
            </a:r>
            <a:r>
              <a:rPr lang="en-US" sz="2200"/>
              <a:t>. However, it is not possible practically.</a:t>
            </a:r>
          </a:p>
          <a:p>
            <a:pPr algn="just"/>
            <a:r>
              <a:rPr lang="en-US" sz="2200" b="1"/>
              <a:t>Low-Bias, High-Variance: </a:t>
            </a:r>
          </a:p>
          <a:p>
            <a:pPr lvl="1" algn="just"/>
            <a:r>
              <a:rPr lang="en-US" sz="2200"/>
              <a:t>With low bias and high variance, model predictions are inconsistent and accurate on average. This case occurs when the model learns with a large number of parameters and hence leads to an </a:t>
            </a:r>
            <a:r>
              <a:rPr lang="en-US" sz="2200" b="1"/>
              <a:t>overfitting</a:t>
            </a:r>
          </a:p>
          <a:p>
            <a:pPr algn="just"/>
            <a:r>
              <a:rPr lang="en-US" sz="2200" b="1"/>
              <a:t>High-Bias, Low-Variance: </a:t>
            </a:r>
          </a:p>
          <a:p>
            <a:pPr lvl="1" algn="just"/>
            <a:r>
              <a:rPr lang="en-US" sz="2200"/>
              <a:t>With High bias and low variance, predictions are consistent but inaccurate on average. This case occurs when a model does not learn well with the training dataset or uses few numbers of the parameter. It leads to </a:t>
            </a:r>
            <a:r>
              <a:rPr lang="en-US" sz="2200" b="1"/>
              <a:t>underfitting</a:t>
            </a:r>
            <a:r>
              <a:rPr lang="en-US" sz="2200"/>
              <a:t> problems in the model.</a:t>
            </a:r>
          </a:p>
          <a:p>
            <a:pPr algn="just"/>
            <a:r>
              <a:rPr lang="en-US" sz="2200" b="1"/>
              <a:t>High-Bias, High-Variance:</a:t>
            </a:r>
          </a:p>
          <a:p>
            <a:pPr lvl="1" algn="just"/>
            <a:r>
              <a:rPr lang="en-US" sz="2200"/>
              <a:t>With high bias and high variance, predictions are inconsistent and also inaccurate on average.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5" name="Picture 4"/>
          <p:cNvPicPr>
            <a:picLocks noChangeAspect="1"/>
          </p:cNvPicPr>
          <p:nvPr/>
        </p:nvPicPr>
        <p:blipFill>
          <a:blip r:embed="rId4"/>
          <a:stretch>
            <a:fillRect/>
          </a:stretch>
        </p:blipFill>
        <p:spPr>
          <a:xfrm>
            <a:off x="2181860" y="808355"/>
            <a:ext cx="8348345" cy="548957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err="1">
                <a:solidFill>
                  <a:schemeClr val="bg1"/>
                </a:solidFill>
                <a:latin typeface="Times New Roman" panose="02020603050405020304"/>
                <a:ea typeface="Calibri" panose="020F0502020204030204"/>
                <a:cs typeface="Times New Roman" panose="02020603050405020304"/>
                <a:sym typeface="+mn-ea"/>
              </a:rPr>
              <a:t>Overfitting</a:t>
            </a:r>
            <a:r>
              <a:rPr lang="en-US" sz="3000" b="1" kern="0">
                <a:solidFill>
                  <a:schemeClr val="bg1"/>
                </a:solidFill>
                <a:latin typeface="Times New Roman" panose="02020603050405020304"/>
                <a:ea typeface="Calibri" panose="020F0502020204030204"/>
                <a:cs typeface="Times New Roman" panose="02020603050405020304"/>
                <a:sym typeface="+mn-ea"/>
              </a:rPr>
              <a:t> </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973455"/>
            <a:ext cx="10515600" cy="2541270"/>
          </a:xfrm>
        </p:spPr>
        <p:txBody>
          <a:bodyPr>
            <a:noAutofit/>
          </a:bodyPr>
          <a:lstStyle/>
          <a:p>
            <a:pPr>
              <a:lnSpc>
                <a:spcPct val="106000"/>
              </a:lnSpc>
              <a:spcAft>
                <a:spcPts val="0"/>
              </a:spcAft>
            </a:pPr>
            <a:r>
              <a:rPr lang="en-US" b="1" kern="0" err="1">
                <a:solidFill>
                  <a:srgbClr val="000000"/>
                </a:solidFill>
                <a:latin typeface="Times New Roman" panose="02020603050405020304"/>
                <a:ea typeface="Calibri" panose="020F0502020204030204"/>
                <a:cs typeface="Times New Roman" panose="02020603050405020304"/>
                <a:sym typeface="+mn-ea"/>
              </a:rPr>
              <a:t>Overfitting</a:t>
            </a:r>
            <a:r>
              <a:rPr lang="en-US" b="1" kern="0">
                <a:solidFill>
                  <a:srgbClr val="000000"/>
                </a:solidFill>
                <a:latin typeface="Times New Roman" panose="02020603050405020304"/>
                <a:ea typeface="Calibri" panose="020F0502020204030204"/>
                <a:cs typeface="Times New Roman" panose="02020603050405020304"/>
                <a:sym typeface="+mn-ea"/>
              </a:rPr>
              <a:t> </a:t>
            </a:r>
          </a:p>
          <a:p>
            <a:pPr lvl="1">
              <a:lnSpc>
                <a:spcPct val="106000"/>
              </a:lnSpc>
              <a:spcAft>
                <a:spcPts val="0"/>
              </a:spcAft>
            </a:pPr>
            <a:r>
              <a:rPr lang="en-US"/>
              <a:t>Overfitting is an undesirable machine learning behavior that occurs when the machine learning model gives accurate predictions for training data but not for new data.</a:t>
            </a:r>
          </a:p>
          <a:p>
            <a:pPr lvl="1">
              <a:lnSpc>
                <a:spcPct val="106000"/>
              </a:lnSpc>
              <a:spcAft>
                <a:spcPts val="0"/>
              </a:spcAft>
            </a:pPr>
            <a:r>
              <a:rPr lang="en-US" b="1" i="1"/>
              <a:t>High variance and low bias.</a:t>
            </a:r>
          </a:p>
          <a:p>
            <a:pPr lvl="0">
              <a:lnSpc>
                <a:spcPct val="106000"/>
              </a:lnSpc>
              <a:spcAft>
                <a:spcPts val="0"/>
              </a:spcAft>
            </a:pPr>
            <a:r>
              <a:rPr lang="en-US" b="1"/>
              <a:t>Reasons for Overfiting</a:t>
            </a:r>
          </a:p>
          <a:p>
            <a:pPr lvl="1">
              <a:lnSpc>
                <a:spcPct val="106000"/>
              </a:lnSpc>
              <a:spcAft>
                <a:spcPts val="0"/>
              </a:spcAft>
            </a:pPr>
            <a:r>
              <a:rPr lang="en-US"/>
              <a:t>The training data size is too small and does not contain enough data samples to accurately represent all possible input data values.</a:t>
            </a:r>
          </a:p>
          <a:p>
            <a:pPr lvl="1">
              <a:lnSpc>
                <a:spcPct val="106000"/>
              </a:lnSpc>
              <a:spcAft>
                <a:spcPts val="0"/>
              </a:spcAft>
            </a:pPr>
            <a:r>
              <a:rPr lang="en-US"/>
              <a:t>The training data contains large amounts of irrelevant information, called noisy data.</a:t>
            </a:r>
          </a:p>
          <a:p>
            <a:pPr lvl="1">
              <a:lnSpc>
                <a:spcPct val="106000"/>
              </a:lnSpc>
              <a:spcAft>
                <a:spcPts val="0"/>
              </a:spcAft>
            </a:pPr>
            <a:r>
              <a:rPr lang="en-US"/>
              <a:t>The model trains for too long on a single sample set of data.</a:t>
            </a:r>
          </a:p>
          <a:p>
            <a:pPr lvl="1">
              <a:lnSpc>
                <a:spcPct val="106000"/>
              </a:lnSpc>
              <a:spcAft>
                <a:spcPts val="0"/>
              </a:spcAft>
            </a:pPr>
            <a:r>
              <a:rPr lang="en-US"/>
              <a:t>The model complexity is high, so it learns the noise within the training data.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err="1">
                <a:solidFill>
                  <a:schemeClr val="bg1"/>
                </a:solidFill>
                <a:latin typeface="Times New Roman" panose="02020603050405020304"/>
                <a:ea typeface="Calibri" panose="020F0502020204030204"/>
                <a:cs typeface="Times New Roman" panose="02020603050405020304"/>
                <a:sym typeface="+mn-ea"/>
              </a:rPr>
              <a:t>Overfitting</a:t>
            </a:r>
            <a:r>
              <a:rPr lang="en-US" sz="3000" b="1" kern="0">
                <a:solidFill>
                  <a:schemeClr val="bg1"/>
                </a:solidFill>
                <a:latin typeface="Times New Roman" panose="02020603050405020304"/>
                <a:ea typeface="Calibri" panose="020F0502020204030204"/>
                <a:cs typeface="Times New Roman" panose="02020603050405020304"/>
                <a:sym typeface="+mn-ea"/>
              </a:rPr>
              <a:t> </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973455"/>
            <a:ext cx="10515600" cy="2541270"/>
          </a:xfrm>
        </p:spPr>
        <p:txBody>
          <a:bodyPr>
            <a:noAutofit/>
          </a:bodyPr>
          <a:lstStyle/>
          <a:p>
            <a:pPr>
              <a:lnSpc>
                <a:spcPct val="106000"/>
              </a:lnSpc>
              <a:spcAft>
                <a:spcPts val="0"/>
              </a:spcAft>
            </a:pPr>
            <a:r>
              <a:rPr lang="en-US" b="1" kern="0">
                <a:solidFill>
                  <a:srgbClr val="000000"/>
                </a:solidFill>
                <a:latin typeface="Times New Roman" panose="02020603050405020304"/>
                <a:ea typeface="Calibri" panose="020F0502020204030204"/>
                <a:cs typeface="Times New Roman" panose="02020603050405020304"/>
                <a:sym typeface="+mn-ea"/>
              </a:rPr>
              <a:t>Symptom of Overfitting:</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Low training error but high validation error.</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The model fits the training data very well but fails to generalize to new data.</a:t>
            </a:r>
          </a:p>
        </p:txBody>
      </p:sp>
      <p:pic>
        <p:nvPicPr>
          <p:cNvPr id="5" name="Picture 4"/>
          <p:cNvPicPr>
            <a:picLocks noChangeAspect="1"/>
          </p:cNvPicPr>
          <p:nvPr/>
        </p:nvPicPr>
        <p:blipFill>
          <a:blip r:embed="rId4"/>
          <a:stretch>
            <a:fillRect/>
          </a:stretch>
        </p:blipFill>
        <p:spPr>
          <a:xfrm>
            <a:off x="2469515" y="2459355"/>
            <a:ext cx="6943725" cy="372618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Underfitting</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973455"/>
            <a:ext cx="10515600" cy="2541270"/>
          </a:xfrm>
        </p:spPr>
        <p:txBody>
          <a:bodyPr>
            <a:noAutofit/>
          </a:bodyPr>
          <a:lstStyle/>
          <a:p>
            <a:pPr>
              <a:lnSpc>
                <a:spcPct val="106000"/>
              </a:lnSpc>
              <a:spcAft>
                <a:spcPts val="0"/>
              </a:spcAft>
            </a:pPr>
            <a:r>
              <a:rPr lang="en-US" b="1" kern="0">
                <a:solidFill>
                  <a:srgbClr val="000000"/>
                </a:solidFill>
                <a:latin typeface="Times New Roman" panose="02020603050405020304"/>
                <a:ea typeface="Calibri" panose="020F0502020204030204"/>
                <a:cs typeface="Times New Roman" panose="02020603050405020304"/>
                <a:sym typeface="+mn-ea"/>
              </a:rPr>
              <a:t>Underfitting</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It occurs when a model is too simple to capture data complexities. </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It represents the inability of the model to learn the training data effectively result in poor performance both on the training and testing data. </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In simple terms, an underfit model’s are inaccurate, especially when applied to new, unseen examples. </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It mainly happens when we uses very simple model with overly simplified assumptions. </a:t>
            </a:r>
          </a:p>
          <a:p>
            <a:pPr lvl="1">
              <a:lnSpc>
                <a:spcPct val="106000"/>
              </a:lnSpc>
              <a:spcAft>
                <a:spcPts val="0"/>
              </a:spcAft>
            </a:pPr>
            <a:r>
              <a:rPr lang="en-US" kern="0">
                <a:solidFill>
                  <a:srgbClr val="000000"/>
                </a:solidFill>
                <a:latin typeface="Times New Roman" panose="02020603050405020304"/>
                <a:ea typeface="Calibri" panose="020F0502020204030204"/>
                <a:cs typeface="Times New Roman" panose="02020603050405020304"/>
                <a:sym typeface="+mn-ea"/>
              </a:rPr>
              <a:t>To address underfitting problem of the model, we need to use more complex models, with enhanced feature representation, and less regularization.</a:t>
            </a:r>
          </a:p>
          <a:p>
            <a:pPr lvl="1">
              <a:lnSpc>
                <a:spcPct val="106000"/>
              </a:lnSpc>
              <a:spcAft>
                <a:spcPts val="0"/>
              </a:spcAft>
            </a:pPr>
            <a:r>
              <a:rPr lang="en-US" b="1" i="1" kern="0">
                <a:solidFill>
                  <a:srgbClr val="000000"/>
                </a:solidFill>
                <a:latin typeface="Times New Roman" panose="02020603050405020304"/>
                <a:ea typeface="Calibri" panose="020F0502020204030204"/>
                <a:cs typeface="Times New Roman" panose="02020603050405020304"/>
                <a:sym typeface="+mn-ea"/>
              </a:rPr>
              <a:t>The underfitting model has High bias and low variance.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Underfitting</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973455"/>
            <a:ext cx="10515600" cy="2541270"/>
          </a:xfrm>
        </p:spPr>
        <p:txBody>
          <a:bodyPr>
            <a:noAutofit/>
          </a:bodyPr>
          <a:lstStyle/>
          <a:p>
            <a:pPr>
              <a:lnSpc>
                <a:spcPct val="106000"/>
              </a:lnSpc>
              <a:spcAft>
                <a:spcPts val="0"/>
              </a:spcAft>
            </a:pPr>
            <a:r>
              <a:rPr lang="en-US" b="1" kern="0">
                <a:solidFill>
                  <a:srgbClr val="000000"/>
                </a:solidFill>
                <a:latin typeface="Times New Roman" panose="02020603050405020304"/>
                <a:ea typeface="Calibri" panose="020F0502020204030204"/>
                <a:cs typeface="Times New Roman" panose="02020603050405020304"/>
                <a:sym typeface="+mn-ea"/>
              </a:rPr>
              <a:t>Reasons for Underfitting</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The model is too simple, So it may be not capable to represent the complexities in the data.</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The input features which is used to train the model is not the adequate representations of underlying factors influencing the target variable.</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The size of the training dataset used is not enough.</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Excessive regularization are used to prevent the overfitting, which constraint the model to capture the data well.</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Features are not scaled.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Underfitting</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973455"/>
            <a:ext cx="10515600" cy="2541270"/>
          </a:xfrm>
        </p:spPr>
        <p:txBody>
          <a:bodyPr>
            <a:noAutofit/>
          </a:bodyPr>
          <a:lstStyle/>
          <a:p>
            <a:pPr>
              <a:lnSpc>
                <a:spcPct val="106000"/>
              </a:lnSpc>
              <a:spcAft>
                <a:spcPts val="0"/>
              </a:spcAft>
            </a:pPr>
            <a:r>
              <a:rPr lang="en-US" b="1" kern="0">
                <a:solidFill>
                  <a:srgbClr val="000000"/>
                </a:solidFill>
                <a:latin typeface="Times New Roman" panose="02020603050405020304"/>
                <a:ea typeface="Calibri" panose="020F0502020204030204"/>
                <a:cs typeface="Times New Roman" panose="02020603050405020304"/>
                <a:sym typeface="+mn-ea"/>
              </a:rPr>
              <a:t>Techniques to Reduce Underfitting</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Increase model complexity.</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Increase the number of features, performing feature engineering.</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Remove noise from the data.</a:t>
            </a:r>
          </a:p>
          <a:p>
            <a:pPr lvl="1">
              <a:lnSpc>
                <a:spcPct val="106000"/>
              </a:lnSpc>
              <a:spcAft>
                <a:spcPts val="0"/>
              </a:spcAft>
            </a:pPr>
            <a:r>
              <a:rPr lang="en-US" sz="2800" kern="0">
                <a:solidFill>
                  <a:srgbClr val="000000"/>
                </a:solidFill>
                <a:latin typeface="Times New Roman" panose="02020603050405020304"/>
                <a:ea typeface="Calibri" panose="020F0502020204030204"/>
                <a:cs typeface="Times New Roman" panose="02020603050405020304"/>
                <a:sym typeface="+mn-ea"/>
              </a:rPr>
              <a:t>Increase the number of epochs or increase the duration of training to get better results.</a:t>
            </a:r>
          </a:p>
          <a:p>
            <a:pPr lvl="0">
              <a:lnSpc>
                <a:spcPct val="106000"/>
              </a:lnSpc>
              <a:spcAft>
                <a:spcPts val="0"/>
              </a:spcAft>
            </a:pPr>
            <a:r>
              <a:rPr lang="en-US" b="1" kern="0">
                <a:solidFill>
                  <a:srgbClr val="000000"/>
                </a:solidFill>
                <a:latin typeface="Times New Roman" panose="02020603050405020304"/>
                <a:ea typeface="Calibri" panose="020F0502020204030204"/>
                <a:cs typeface="Times New Roman" panose="02020603050405020304"/>
                <a:sym typeface="+mn-ea"/>
              </a:rPr>
              <a:t>Symptoms:</a:t>
            </a:r>
          </a:p>
          <a:p>
            <a:pPr lvl="1">
              <a:lnSpc>
                <a:spcPct val="106000"/>
              </a:lnSpc>
              <a:spcAft>
                <a:spcPts val="0"/>
              </a:spcAft>
            </a:pPr>
            <a:r>
              <a:rPr lang="en-US" sz="2795" kern="0">
                <a:solidFill>
                  <a:srgbClr val="000000"/>
                </a:solidFill>
                <a:latin typeface="Times New Roman" panose="02020603050405020304"/>
                <a:ea typeface="Calibri" panose="020F0502020204030204"/>
                <a:cs typeface="Times New Roman" panose="02020603050405020304"/>
                <a:sym typeface="+mn-ea"/>
              </a:rPr>
              <a:t>High training error and high validation error.</a:t>
            </a:r>
          </a:p>
          <a:p>
            <a:pPr lvl="1">
              <a:lnSpc>
                <a:spcPct val="106000"/>
              </a:lnSpc>
              <a:spcAft>
                <a:spcPts val="0"/>
              </a:spcAft>
            </a:pPr>
            <a:r>
              <a:rPr lang="en-US" sz="2795" kern="0">
                <a:solidFill>
                  <a:srgbClr val="000000"/>
                </a:solidFill>
                <a:latin typeface="Times New Roman" panose="02020603050405020304"/>
                <a:ea typeface="Calibri" panose="020F0502020204030204"/>
                <a:cs typeface="Times New Roman" panose="02020603050405020304"/>
                <a:sym typeface="+mn-ea"/>
              </a:rPr>
              <a:t>The model does not fit the training data well, leading to poor predictions even on known data.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Underfitting vs. Overfitting</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7" name="Content Placeholder 6"/>
          <p:cNvPicPr>
            <a:picLocks noGrp="1" noChangeAspect="1"/>
          </p:cNvPicPr>
          <p:nvPr>
            <p:ph idx="1"/>
          </p:nvPr>
        </p:nvPicPr>
        <p:blipFill>
          <a:blip r:embed="rId4"/>
          <a:stretch>
            <a:fillRect/>
          </a:stretch>
        </p:blipFill>
        <p:spPr>
          <a:xfrm>
            <a:off x="1748790" y="912495"/>
            <a:ext cx="9605010" cy="57340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991870"/>
            <a:ext cx="10515600" cy="5185410"/>
          </a:xfrm>
        </p:spPr>
        <p:txBody>
          <a:bodyPr/>
          <a:lstStyle/>
          <a:p>
            <a:r>
              <a:rPr lang="en-US"/>
              <a:t>LASSO (Least Absolute Shrinkage and Selection Operator) is a regression analysis method that incorporates L1 regularization. </a:t>
            </a:r>
          </a:p>
          <a:p>
            <a:r>
              <a:rPr lang="en-US"/>
              <a:t>It's particularly useful for models that can benefit from feature selection and addressing multicollinearity. </a:t>
            </a:r>
          </a:p>
          <a:p>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cs typeface="Times New Roman" panose="02020603050405020304"/>
                <a:sym typeface="+mn-ea"/>
              </a:rPr>
              <a:t>Key Components</a:t>
            </a:r>
            <a:r>
              <a:rPr lang="en-US" sz="3000" b="1" kern="100">
                <a:solidFill>
                  <a:schemeClr val="bg1"/>
                </a:solidFill>
                <a:latin typeface="Times New Roman" panose="02020603050405020304"/>
                <a:ea typeface="Calibri" panose="020F0502020204030204"/>
                <a:cs typeface="Times New Roman" panose="02020603050405020304"/>
                <a:sym typeface="+mn-ea"/>
              </a:rPr>
              <a:t> of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991870"/>
            <a:ext cx="10515600" cy="5185410"/>
          </a:xfrm>
        </p:spPr>
        <p:txBody>
          <a:bodyPr>
            <a:normAutofit/>
          </a:bodyPr>
          <a:lstStyle/>
          <a:p>
            <a:r>
              <a:rPr lang="en-US" b="1"/>
              <a:t>L1 Regularization:</a:t>
            </a:r>
            <a:r>
              <a:rPr lang="en-US"/>
              <a:t> LASSO adds a penalty equal to the absolute value of the coefficients multiplied by a tuning parameter (λ) to the loss function. The objective function becomes:</a:t>
            </a:r>
          </a:p>
          <a:p>
            <a:endParaRPr lang="en-US"/>
          </a:p>
          <a:p>
            <a:endParaRPr lang="en-US"/>
          </a:p>
          <a:p>
            <a:endParaRPr lang="en-US"/>
          </a:p>
          <a:p>
            <a:endParaRPr lang="en-US"/>
          </a:p>
          <a:p>
            <a:r>
              <a:rPr lang="en-US" b="1"/>
              <a:t>Feature Selection:</a:t>
            </a:r>
            <a:r>
              <a:rPr lang="en-US"/>
              <a:t> LASSO tends to shrink some coefficients to exactly zero when the tuning parameter λ is sufficiently large. This means it effectively selects a simpler model by excluding some features, which can improve interpretability.</a:t>
            </a:r>
          </a:p>
          <a:p>
            <a:endParaRPr lang="en-US"/>
          </a:p>
          <a:p>
            <a:endParaRPr lang="en-US"/>
          </a:p>
          <a:p>
            <a:endParaRPr lang="en-US"/>
          </a:p>
        </p:txBody>
      </p:sp>
      <p:pic>
        <p:nvPicPr>
          <p:cNvPr id="7" name="Picture 6"/>
          <p:cNvPicPr>
            <a:picLocks noChangeAspect="1"/>
          </p:cNvPicPr>
          <p:nvPr/>
        </p:nvPicPr>
        <p:blipFill>
          <a:blip r:embed="rId4"/>
          <a:stretch>
            <a:fillRect/>
          </a:stretch>
        </p:blipFill>
        <p:spPr>
          <a:xfrm>
            <a:off x="4286250" y="2212975"/>
            <a:ext cx="3981450" cy="962025"/>
          </a:xfrm>
          <a:prstGeom prst="rect">
            <a:avLst/>
          </a:prstGeom>
        </p:spPr>
      </p:pic>
      <p:pic>
        <p:nvPicPr>
          <p:cNvPr id="9" name="Picture 8"/>
          <p:cNvPicPr>
            <a:picLocks noChangeAspect="1"/>
          </p:cNvPicPr>
          <p:nvPr/>
        </p:nvPicPr>
        <p:blipFill>
          <a:blip r:embed="rId5"/>
          <a:stretch>
            <a:fillRect/>
          </a:stretch>
        </p:blipFill>
        <p:spPr>
          <a:xfrm>
            <a:off x="980440" y="3128645"/>
            <a:ext cx="9952990" cy="78486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cs typeface="Times New Roman" panose="02020603050405020304"/>
                <a:sym typeface="+mn-ea"/>
              </a:rPr>
              <a:t>Key Components</a:t>
            </a:r>
            <a:r>
              <a:rPr lang="en-US" sz="3000" b="1" kern="100">
                <a:solidFill>
                  <a:schemeClr val="bg1"/>
                </a:solidFill>
                <a:latin typeface="Times New Roman" panose="02020603050405020304"/>
                <a:ea typeface="Calibri" panose="020F0502020204030204"/>
                <a:cs typeface="Times New Roman" panose="02020603050405020304"/>
                <a:sym typeface="+mn-ea"/>
              </a:rPr>
              <a:t> of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991870"/>
            <a:ext cx="10515600" cy="5185410"/>
          </a:xfrm>
        </p:spPr>
        <p:txBody>
          <a:bodyPr>
            <a:normAutofit fontScale="97500"/>
          </a:bodyPr>
          <a:lstStyle/>
          <a:p>
            <a:r>
              <a:rPr lang="en-US" b="1"/>
              <a:t>Bias-Variance Tradeoff:</a:t>
            </a:r>
            <a:r>
              <a:rPr lang="en-US"/>
              <a:t> By introducing the penalty, LASSO can help reduce overfitting, making the model more generalizable to unseen data. However, this can introduce some bias.</a:t>
            </a:r>
          </a:p>
          <a:p>
            <a:endParaRPr lang="en-US"/>
          </a:p>
          <a:p>
            <a:r>
              <a:rPr lang="en-US" b="1"/>
              <a:t>Tuning Parameter (λ):</a:t>
            </a:r>
            <a:r>
              <a:rPr lang="en-US"/>
              <a:t> The choice of λ is crucial. A smaller λ leads to a model closer to ordinary least squares (OLS), while a larger λ increases the amount of shrinkage and feature selection. Techniques like cross-validation are commonly used to find an optimal λ.</a:t>
            </a:r>
          </a:p>
          <a:p>
            <a:endParaRPr lang="en-US"/>
          </a:p>
          <a:p>
            <a:r>
              <a:rPr lang="en-US" b="1"/>
              <a:t>Applications:</a:t>
            </a:r>
            <a:r>
              <a:rPr lang="en-US"/>
              <a:t> LASSO is widely used in scenarios with many predictors, especially when some of them might be irrelevant or redundant. It's popular in fields like genetics, finance, and machine learning.</a:t>
            </a:r>
          </a:p>
          <a:p>
            <a:endParaRPr lang="en-US"/>
          </a:p>
          <a:p>
            <a:endParaRPr lang="en-US"/>
          </a:p>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cs typeface="Times New Roman" panose="02020603050405020304"/>
                <a:sym typeface="+mn-ea"/>
              </a:rPr>
              <a:t>Example</a:t>
            </a:r>
            <a:r>
              <a:rPr lang="en-US" sz="3000" b="1" kern="100">
                <a:solidFill>
                  <a:schemeClr val="bg1"/>
                </a:solidFill>
                <a:latin typeface="Times New Roman" panose="02020603050405020304"/>
                <a:ea typeface="Calibri" panose="020F0502020204030204"/>
                <a:cs typeface="Times New Roman" panose="02020603050405020304"/>
                <a:sym typeface="+mn-ea"/>
              </a:rPr>
              <a:t> of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991870"/>
            <a:ext cx="10515600" cy="5185410"/>
          </a:xfrm>
        </p:spPr>
        <p:txBody>
          <a:bodyPr>
            <a:normAutofit lnSpcReduction="10000"/>
          </a:bodyPr>
          <a:lstStyle/>
          <a:p>
            <a:r>
              <a:rPr lang="en-US" b="1"/>
              <a:t>Example Scenario</a:t>
            </a:r>
          </a:p>
          <a:p>
            <a:endParaRPr lang="en-US" b="1"/>
          </a:p>
          <a:p>
            <a:r>
              <a:rPr lang="en-US" b="1" i="1">
                <a:solidFill>
                  <a:srgbClr val="C00000"/>
                </a:solidFill>
              </a:rPr>
              <a:t>Imagine you have a dataset with information about houses, and you want to predict the price based on various features:</a:t>
            </a:r>
          </a:p>
          <a:p>
            <a:endParaRPr lang="en-US" b="1" i="1">
              <a:solidFill>
                <a:srgbClr val="C00000"/>
              </a:solidFill>
            </a:endParaRPr>
          </a:p>
          <a:p>
            <a:r>
              <a:rPr lang="en-US" b="1"/>
              <a:t>Features</a:t>
            </a:r>
          </a:p>
          <a:p>
            <a:pPr lvl="1"/>
            <a:r>
              <a:rPr lang="en-US" sz="2800"/>
              <a:t>Size (square feet)</a:t>
            </a:r>
          </a:p>
          <a:p>
            <a:pPr lvl="1"/>
            <a:r>
              <a:rPr lang="en-US" sz="2800"/>
              <a:t>Number of bedrooms</a:t>
            </a:r>
          </a:p>
          <a:p>
            <a:pPr lvl="1"/>
            <a:r>
              <a:rPr lang="en-US" sz="2800"/>
              <a:t>Age of the house</a:t>
            </a:r>
          </a:p>
          <a:p>
            <a:pPr lvl="1"/>
            <a:r>
              <a:rPr lang="en-US" sz="2800"/>
              <a:t>Number of bathrooms</a:t>
            </a:r>
          </a:p>
          <a:p>
            <a:pPr lvl="1"/>
            <a:r>
              <a:rPr lang="en-US" sz="2800"/>
              <a:t>Proximity to downtown</a:t>
            </a:r>
          </a:p>
          <a:p>
            <a:pPr lvl="1"/>
            <a:r>
              <a:rPr lang="en-US" sz="2800"/>
              <a:t>Garage size</a:t>
            </a:r>
          </a:p>
          <a:p>
            <a:endParaRPr lang="en-US"/>
          </a:p>
          <a:p>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0">
                <a:solidFill>
                  <a:schemeClr val="bg1"/>
                </a:solidFill>
                <a:latin typeface="Times New Roman" panose="02020603050405020304"/>
                <a:ea typeface="Calibri" panose="020F0502020204030204"/>
                <a:cs typeface="Times New Roman" panose="02020603050405020304"/>
                <a:sym typeface="+mn-ea"/>
              </a:rPr>
              <a:t>Example</a:t>
            </a:r>
            <a:r>
              <a:rPr lang="en-US" sz="3000" b="1" kern="100">
                <a:solidFill>
                  <a:schemeClr val="bg1"/>
                </a:solidFill>
                <a:latin typeface="Times New Roman" panose="02020603050405020304"/>
                <a:ea typeface="Calibri" panose="020F0502020204030204"/>
                <a:cs typeface="Times New Roman" panose="02020603050405020304"/>
                <a:sym typeface="+mn-ea"/>
              </a:rPr>
              <a:t> of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838200" y="991870"/>
            <a:ext cx="10515600" cy="5185410"/>
          </a:xfrm>
        </p:spPr>
        <p:txBody>
          <a:bodyPr>
            <a:normAutofit lnSpcReduction="10000"/>
          </a:bodyPr>
          <a:lstStyle/>
          <a:p>
            <a:r>
              <a:rPr lang="en-US" b="1"/>
              <a:t>Dataset</a:t>
            </a:r>
          </a:p>
          <a:p>
            <a:endParaRPr lang="en-US" b="1"/>
          </a:p>
          <a:p>
            <a:endParaRPr lang="en-US" b="1"/>
          </a:p>
          <a:p>
            <a:endParaRPr lang="en-US" b="1"/>
          </a:p>
          <a:p>
            <a:endParaRPr lang="en-US" b="1"/>
          </a:p>
          <a:p>
            <a:endParaRPr lang="en-US" b="1"/>
          </a:p>
          <a:p>
            <a:endParaRPr lang="en-US" b="1"/>
          </a:p>
          <a:p>
            <a:endParaRPr lang="en-US" b="1"/>
          </a:p>
          <a:p>
            <a:endParaRPr lang="en-US" b="1"/>
          </a:p>
          <a:p>
            <a:r>
              <a:rPr lang="en-US" b="1"/>
              <a:t>https://colab.research.google.com/drive/1jeqwzMN5hpfasIFu6J9vub0BSBfonQEm#scrollTo=Dw5LvNSEy0nY</a:t>
            </a:r>
          </a:p>
          <a:p>
            <a:endParaRPr lang="en-US"/>
          </a:p>
        </p:txBody>
      </p:sp>
      <p:pic>
        <p:nvPicPr>
          <p:cNvPr id="7" name="Picture 6"/>
          <p:cNvPicPr>
            <a:picLocks noChangeAspect="1"/>
          </p:cNvPicPr>
          <p:nvPr/>
        </p:nvPicPr>
        <p:blipFill>
          <a:blip r:embed="rId4"/>
          <a:stretch>
            <a:fillRect/>
          </a:stretch>
        </p:blipFill>
        <p:spPr>
          <a:xfrm>
            <a:off x="680085" y="1375410"/>
            <a:ext cx="11267440" cy="369633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L1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p:txBody>
          <a:bodyPr/>
          <a:lstStyle/>
          <a:p>
            <a:r>
              <a:rPr lang="en-US"/>
              <a:t>https://colab.research.google.com/drive/1pD_uCPkmYla71GerEoN56izmX_ubaol0#scrollTo=3LMS-djesEHk</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L2 (Ridge)</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923290" y="896620"/>
            <a:ext cx="10430510" cy="5064760"/>
          </a:xfrm>
        </p:spPr>
        <p:txBody>
          <a:bodyPr>
            <a:noAutofit/>
          </a:bodyPr>
          <a:lstStyle/>
          <a:p>
            <a:r>
              <a:rPr lang="en-US"/>
              <a:t>It is a machine learning technique that avoids overfitting by introducing a penalty term into the model's loss function based on the squares of the model's parameters. </a:t>
            </a:r>
          </a:p>
          <a:p>
            <a:r>
              <a:rPr lang="en-US"/>
              <a:t>The goal of L2 regularization is to keep the model's parameter sizes short and prevent oversizing.</a:t>
            </a:r>
          </a:p>
          <a:p>
            <a:r>
              <a:rPr lang="en-US"/>
              <a:t>In order to achieve L2 regularization, a term that is proportionate to the squares of the model's parameters is added to the loss function. </a:t>
            </a:r>
          </a:p>
          <a:p>
            <a:r>
              <a:rPr lang="en-US"/>
              <a:t>This word works as a limiter on the parameters' size, preventing them from growing out of control. </a:t>
            </a:r>
          </a:p>
          <a:p>
            <a:r>
              <a:rPr lang="en-US"/>
              <a:t>A hyperparameter called lambda that controls the regularization's intensity also controls the size of the penalty term. </a:t>
            </a:r>
          </a:p>
          <a:p>
            <a:r>
              <a:rPr lang="en-US"/>
              <a:t>The parameters will be smaller and the regularization will be stronger the greater the lambda.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a:t>
            </a:r>
            <a:r>
              <a:rPr lang="en-US" sz="3000" b="1" kern="0">
                <a:solidFill>
                  <a:schemeClr val="bg1"/>
                </a:solidFill>
                <a:latin typeface="Times New Roman" panose="02020603050405020304"/>
                <a:ea typeface="Calibri" panose="020F0502020204030204"/>
                <a:cs typeface="Times New Roman" panose="02020603050405020304"/>
                <a:sym typeface="+mn-ea"/>
              </a:rPr>
              <a:t>L2 (Lasso)</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923290" y="1112520"/>
            <a:ext cx="10430510" cy="5064760"/>
          </a:xfrm>
        </p:spPr>
        <p:txBody>
          <a:bodyPr/>
          <a:lstStyle/>
          <a:p>
            <a:r>
              <a:rPr lang="en-US"/>
              <a:t>A regression model that uses the L2 regularization technique is called Ridge regression. </a:t>
            </a:r>
          </a:p>
          <a:p>
            <a:r>
              <a:rPr lang="en-US"/>
              <a:t>Ridge regression adds the “squared magnitude” of the coefficient as a penalty term to the loss function(L).</a:t>
            </a:r>
          </a:p>
        </p:txBody>
      </p:sp>
      <p:pic>
        <p:nvPicPr>
          <p:cNvPr id="7" name="Picture 6"/>
          <p:cNvPicPr>
            <a:picLocks noChangeAspect="1"/>
          </p:cNvPicPr>
          <p:nvPr/>
        </p:nvPicPr>
        <p:blipFill>
          <a:blip r:embed="rId4"/>
          <a:srcRect b="43014"/>
          <a:stretch>
            <a:fillRect/>
          </a:stretch>
        </p:blipFill>
        <p:spPr>
          <a:xfrm>
            <a:off x="2798445" y="3091815"/>
            <a:ext cx="6465570" cy="5842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 L1(Lasso) and </a:t>
            </a:r>
            <a:r>
              <a:rPr lang="en-US" sz="3000" b="1" kern="0">
                <a:solidFill>
                  <a:schemeClr val="bg1"/>
                </a:solidFill>
                <a:latin typeface="Times New Roman" panose="02020603050405020304"/>
                <a:ea typeface="Calibri" panose="020F0502020204030204"/>
                <a:cs typeface="Times New Roman" panose="02020603050405020304"/>
                <a:sym typeface="+mn-ea"/>
              </a:rPr>
              <a:t>L2 (Ridge)</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923290" y="1112520"/>
            <a:ext cx="10430510" cy="5064760"/>
          </a:xfrm>
        </p:spPr>
        <p:txBody>
          <a:bodyPr/>
          <a:lstStyle/>
          <a:p>
            <a:r>
              <a:rPr lang="en-US" b="1"/>
              <a:t>Link for Code:</a:t>
            </a:r>
            <a:endParaRPr lang="en-US"/>
          </a:p>
          <a:p>
            <a:r>
              <a:rPr lang="en-US"/>
              <a:t>https://colab.research.google.com/drive/1YkOjpnMJdYWvn0oqjJUCKebbqredDlFH#scrollTo=ityALR23ZF-R</a:t>
            </a:r>
          </a:p>
          <a:p>
            <a:endParaRPr lang="en-US"/>
          </a:p>
          <a:p>
            <a:r>
              <a:rPr lang="en-US" b="1"/>
              <a:t>Link for Dataset:</a:t>
            </a:r>
          </a:p>
          <a:p>
            <a:r>
              <a:rPr lang="en-US"/>
              <a:t>https://www.kaggle.com/anthonypino/melbourne-housing-market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pitchFamily="18" charset="0"/>
                <a:cs typeface="Times New Roman" panose="02020603050405020304" pitchFamily="18" charset="0"/>
                <a:sym typeface="+mn-ea"/>
              </a:rPr>
              <a:t>Benefits of Regularization</a:t>
            </a:r>
            <a:endParaRPr lang="en-US" sz="3000" b="1" kern="100">
              <a:solidFill>
                <a:schemeClr val="bg1"/>
              </a:solidFill>
              <a:latin typeface="Times New Roman" panose="02020603050405020304" pitchFamily="18" charset="0"/>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923290" y="1112520"/>
            <a:ext cx="10430510" cy="5064760"/>
          </a:xfrm>
        </p:spPr>
        <p:txBody>
          <a:bodyPr>
            <a:noAutofit/>
          </a:bodyPr>
          <a:lstStyle/>
          <a:p>
            <a:r>
              <a:rPr lang="en-US" b="1"/>
              <a:t>Reduces Overfitting:</a:t>
            </a:r>
            <a:r>
              <a:rPr lang="en-US"/>
              <a:t> Regularization helps prevent models from learning noise and irrelevant details in the training data.</a:t>
            </a:r>
          </a:p>
          <a:p>
            <a:r>
              <a:rPr lang="en-US" b="1"/>
              <a:t>Improves Generalization: </a:t>
            </a:r>
            <a:r>
              <a:rPr lang="en-US"/>
              <a:t>By discouraging complex models, regularization ensures better performance on unseen data.</a:t>
            </a:r>
          </a:p>
          <a:p>
            <a:r>
              <a:rPr lang="en-US" b="1"/>
              <a:t>Enhances Stability: </a:t>
            </a:r>
            <a:r>
              <a:rPr lang="en-US"/>
              <a:t>Regularization stabilizes model training by penalizing large weights.</a:t>
            </a:r>
          </a:p>
          <a:p>
            <a:r>
              <a:rPr lang="en-US" b="1"/>
              <a:t>Enables Feature Selection: </a:t>
            </a:r>
            <a:r>
              <a:rPr lang="en-US"/>
              <a:t>L1 regularization can zero out some coefficients, effectively selecting more relevant features.</a:t>
            </a:r>
          </a:p>
          <a:p>
            <a:r>
              <a:rPr lang="en-US" b="1"/>
              <a:t>Manages Multicollinearity: </a:t>
            </a:r>
            <a:r>
              <a:rPr lang="en-US"/>
              <a:t>Reduces the problem of high correlations among features, particularly useful in linear models.</a:t>
            </a:r>
          </a:p>
          <a:p>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pitchFamily="18" charset="0"/>
                <a:cs typeface="Times New Roman" panose="02020603050405020304" pitchFamily="18" charset="0"/>
                <a:sym typeface="+mn-ea"/>
              </a:rPr>
              <a:t>Benefits of Regularization</a:t>
            </a:r>
            <a:endParaRPr lang="en-US" sz="3000" b="1" kern="100">
              <a:solidFill>
                <a:schemeClr val="bg1"/>
              </a:solidFill>
              <a:latin typeface="Times New Roman" panose="02020603050405020304" pitchFamily="18" charset="0"/>
              <a:ea typeface="Calibri" panose="020F0502020204030204"/>
              <a:cs typeface="Times New Roman" panose="02020603050405020304" pitchFamily="18" charset="0"/>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5" name="Content Placeholder 4"/>
          <p:cNvSpPr>
            <a:spLocks noGrp="1"/>
          </p:cNvSpPr>
          <p:nvPr>
            <p:ph idx="1"/>
          </p:nvPr>
        </p:nvSpPr>
        <p:spPr>
          <a:xfrm>
            <a:off x="923290" y="1112520"/>
            <a:ext cx="10430510" cy="5064760"/>
          </a:xfrm>
        </p:spPr>
        <p:txBody>
          <a:bodyPr>
            <a:noAutofit/>
          </a:bodyPr>
          <a:lstStyle/>
          <a:p>
            <a:r>
              <a:rPr lang="en-US" b="1"/>
              <a:t>Encourages Simplicity:</a:t>
            </a:r>
            <a:r>
              <a:rPr lang="en-US"/>
              <a:t> Promotes simpler models that are easier to interpret and less likely to overfit.</a:t>
            </a:r>
          </a:p>
          <a:p>
            <a:r>
              <a:rPr lang="en-US" b="1"/>
              <a:t>Controls Model Complexity:</a:t>
            </a:r>
            <a:r>
              <a:rPr lang="en-US"/>
              <a:t> Provides a mechanism to balance the complexity of the model with its performance on the training and test data.</a:t>
            </a:r>
          </a:p>
          <a:p>
            <a:r>
              <a:rPr lang="en-US" b="1"/>
              <a:t>Facilitates Robustness: </a:t>
            </a:r>
            <a:r>
              <a:rPr lang="en-US"/>
              <a:t>Makes models less sensitive to individual peculiarities in the training set.</a:t>
            </a:r>
          </a:p>
          <a:p>
            <a:r>
              <a:rPr lang="en-US" b="1"/>
              <a:t>Improves Convergence: </a:t>
            </a:r>
            <a:r>
              <a:rPr lang="en-US"/>
              <a:t>Helps optimization algorithms converge more quickly and reliably by smoothing the error landscape.</a:t>
            </a:r>
          </a:p>
          <a:p>
            <a:r>
              <a:rPr lang="en-US" b="1"/>
              <a:t>Adjustable Complexity: </a:t>
            </a:r>
            <a:r>
              <a:rPr lang="en-US"/>
              <a:t>The strength of regularization can be tuned to fit the data's specific needs and desired model complexity.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Confusion Matrix</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912495" y="920115"/>
            <a:ext cx="10515600" cy="1689100"/>
          </a:xfrm>
        </p:spPr>
        <p:txBody>
          <a:bodyPr>
            <a:normAutofit fontScale="90000" lnSpcReduction="10000"/>
          </a:bodyPr>
          <a:lstStyle/>
          <a:p>
            <a:pPr>
              <a:lnSpc>
                <a:spcPct val="106000"/>
              </a:lnSpc>
              <a:spcAft>
                <a:spcPts val="0"/>
              </a:spcAft>
            </a:pPr>
            <a:r>
              <a:rPr lang="en-US">
                <a:solidFill>
                  <a:srgbClr val="000000"/>
                </a:solidFill>
                <a:latin typeface="Times New Roman" panose="02020603050405020304"/>
                <a:ea typeface="Calibri" panose="020F0502020204030204"/>
                <a:sym typeface="+mn-ea"/>
              </a:rPr>
              <a:t>A confusion matrix is a tool used in machine learning to evaluate the performance of a classification model. </a:t>
            </a:r>
          </a:p>
          <a:p>
            <a:pPr>
              <a:lnSpc>
                <a:spcPct val="106000"/>
              </a:lnSpc>
              <a:spcAft>
                <a:spcPts val="0"/>
              </a:spcAft>
            </a:pPr>
            <a:r>
              <a:rPr lang="en-US">
                <a:solidFill>
                  <a:srgbClr val="000000"/>
                </a:solidFill>
                <a:latin typeface="Times New Roman" panose="02020603050405020304"/>
                <a:ea typeface="Calibri" panose="020F0502020204030204"/>
                <a:sym typeface="+mn-ea"/>
              </a:rPr>
              <a:t>It provides a visual representation of the actual versus predicted classifications, helping to understand the types of errors made by the model.</a:t>
            </a:r>
          </a:p>
        </p:txBody>
      </p:sp>
      <p:pic>
        <p:nvPicPr>
          <p:cNvPr id="5" name="Picture 4"/>
          <p:cNvPicPr>
            <a:picLocks noChangeAspect="1"/>
          </p:cNvPicPr>
          <p:nvPr/>
        </p:nvPicPr>
        <p:blipFill>
          <a:blip r:embed="rId4"/>
          <a:stretch>
            <a:fillRect/>
          </a:stretch>
        </p:blipFill>
        <p:spPr>
          <a:xfrm>
            <a:off x="838200" y="2574925"/>
            <a:ext cx="4105275" cy="3781425"/>
          </a:xfrm>
          <a:prstGeom prst="rect">
            <a:avLst/>
          </a:prstGeom>
        </p:spPr>
      </p:pic>
      <p:pic>
        <p:nvPicPr>
          <p:cNvPr id="9" name="Picture 8"/>
          <p:cNvPicPr>
            <a:picLocks noChangeAspect="1"/>
          </p:cNvPicPr>
          <p:nvPr/>
        </p:nvPicPr>
        <p:blipFill>
          <a:blip r:embed="rId5"/>
          <a:srcRect l="7823" t="6500" r="13595" b="12333"/>
          <a:stretch>
            <a:fillRect/>
          </a:stretch>
        </p:blipFill>
        <p:spPr>
          <a:xfrm>
            <a:off x="5638800" y="2821940"/>
            <a:ext cx="5715000" cy="332232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Confusion Matrix</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912495" y="920115"/>
            <a:ext cx="10515600" cy="1689100"/>
          </a:xfrm>
        </p:spPr>
        <p:txBody>
          <a:bodyPr>
            <a:noAutofit/>
          </a:bodyPr>
          <a:lstStyle/>
          <a:p>
            <a:pPr>
              <a:lnSpc>
                <a:spcPct val="106000"/>
              </a:lnSpc>
              <a:spcAft>
                <a:spcPts val="0"/>
              </a:spcAft>
            </a:pPr>
            <a:r>
              <a:rPr lang="en-US" b="1">
                <a:solidFill>
                  <a:srgbClr val="000000"/>
                </a:solidFill>
                <a:latin typeface="Times New Roman" panose="02020603050405020304"/>
                <a:ea typeface="Calibri" panose="020F0502020204030204"/>
                <a:sym typeface="+mn-ea"/>
              </a:rPr>
              <a:t>True Positive (TP):</a:t>
            </a:r>
            <a:r>
              <a:rPr lang="en-US">
                <a:solidFill>
                  <a:srgbClr val="000000"/>
                </a:solidFill>
                <a:latin typeface="Times New Roman" panose="02020603050405020304"/>
                <a:ea typeface="Calibri" panose="020F0502020204030204"/>
                <a:sym typeface="+mn-ea"/>
              </a:rPr>
              <a:t> The number of correct predictions that an instance is positive.</a:t>
            </a:r>
          </a:p>
          <a:p>
            <a:pPr>
              <a:lnSpc>
                <a:spcPct val="106000"/>
              </a:lnSpc>
              <a:spcAft>
                <a:spcPts val="0"/>
              </a:spcAft>
            </a:pPr>
            <a:r>
              <a:rPr lang="en-US" b="1">
                <a:solidFill>
                  <a:srgbClr val="000000"/>
                </a:solidFill>
                <a:latin typeface="Times New Roman" panose="02020603050405020304"/>
                <a:ea typeface="Calibri" panose="020F0502020204030204"/>
                <a:sym typeface="+mn-ea"/>
              </a:rPr>
              <a:t>True Negative (TN):</a:t>
            </a:r>
            <a:r>
              <a:rPr lang="en-US">
                <a:solidFill>
                  <a:srgbClr val="000000"/>
                </a:solidFill>
                <a:latin typeface="Times New Roman" panose="02020603050405020304"/>
                <a:ea typeface="Calibri" panose="020F0502020204030204"/>
                <a:sym typeface="+mn-ea"/>
              </a:rPr>
              <a:t> The number of correct predictions that an instance is negative.</a:t>
            </a:r>
          </a:p>
          <a:p>
            <a:pPr>
              <a:lnSpc>
                <a:spcPct val="106000"/>
              </a:lnSpc>
              <a:spcAft>
                <a:spcPts val="0"/>
              </a:spcAft>
            </a:pPr>
            <a:r>
              <a:rPr lang="en-US" b="1">
                <a:solidFill>
                  <a:srgbClr val="000000"/>
                </a:solidFill>
                <a:latin typeface="Times New Roman" panose="02020603050405020304"/>
                <a:ea typeface="Calibri" panose="020F0502020204030204"/>
                <a:sym typeface="+mn-ea"/>
              </a:rPr>
              <a:t>False Positive (FP): </a:t>
            </a:r>
            <a:r>
              <a:rPr lang="en-US">
                <a:solidFill>
                  <a:srgbClr val="000000"/>
                </a:solidFill>
                <a:latin typeface="Times New Roman" panose="02020603050405020304"/>
                <a:ea typeface="Calibri" panose="020F0502020204030204"/>
                <a:sym typeface="+mn-ea"/>
              </a:rPr>
              <a:t>The number of incorrect predictions where an instance is predicted as positive, but it is actually negative (Type I error).</a:t>
            </a:r>
          </a:p>
          <a:p>
            <a:pPr>
              <a:lnSpc>
                <a:spcPct val="106000"/>
              </a:lnSpc>
              <a:spcAft>
                <a:spcPts val="0"/>
              </a:spcAft>
            </a:pPr>
            <a:r>
              <a:rPr lang="en-US" b="1">
                <a:solidFill>
                  <a:srgbClr val="000000"/>
                </a:solidFill>
                <a:latin typeface="Times New Roman" panose="02020603050405020304"/>
                <a:ea typeface="Calibri" panose="020F0502020204030204"/>
                <a:sym typeface="+mn-ea"/>
              </a:rPr>
              <a:t>False Negative (FN): </a:t>
            </a:r>
            <a:r>
              <a:rPr lang="en-US">
                <a:solidFill>
                  <a:srgbClr val="000000"/>
                </a:solidFill>
                <a:latin typeface="Times New Roman" panose="02020603050405020304"/>
                <a:ea typeface="Calibri" panose="020F0502020204030204"/>
                <a:sym typeface="+mn-ea"/>
              </a:rPr>
              <a:t>The number of incorrect predictions where an instance is predicted as negative, but it is actually positive (Type II error).</a:t>
            </a:r>
          </a:p>
        </p:txBody>
      </p:sp>
      <p:sp>
        <p:nvSpPr>
          <p:cNvPr id="7" name="Text Box 6"/>
          <p:cNvSpPr txBox="1"/>
          <p:nvPr/>
        </p:nvSpPr>
        <p:spPr>
          <a:xfrm>
            <a:off x="5781675" y="4227830"/>
            <a:ext cx="4064000" cy="368300"/>
          </a:xfrm>
          <a:prstGeom prst="rect">
            <a:avLst/>
          </a:prstGeom>
          <a:noFill/>
        </p:spPr>
        <p:txBody>
          <a:bodyPr wrap="square" rtlCol="0">
            <a:spAutoFit/>
          </a:bodyPr>
          <a:lstStyle/>
          <a:p>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Confusion Matrix</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7" name="Picture 6"/>
          <p:cNvPicPr>
            <a:picLocks noChangeAspect="1"/>
          </p:cNvPicPr>
          <p:nvPr/>
        </p:nvPicPr>
        <p:blipFill>
          <a:blip r:embed="rId4"/>
          <a:stretch>
            <a:fillRect/>
          </a:stretch>
        </p:blipFill>
        <p:spPr>
          <a:xfrm>
            <a:off x="1159510" y="808355"/>
            <a:ext cx="9278620" cy="522986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Key Metrics Derived from the Confusion Matrix</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5" name="Picture 4"/>
          <p:cNvPicPr>
            <a:picLocks noChangeAspect="1"/>
          </p:cNvPicPr>
          <p:nvPr/>
        </p:nvPicPr>
        <p:blipFill>
          <a:blip r:embed="rId4"/>
          <a:stretch>
            <a:fillRect/>
          </a:stretch>
        </p:blipFill>
        <p:spPr>
          <a:xfrm>
            <a:off x="300990" y="1595755"/>
            <a:ext cx="11891010" cy="346392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Key Metrics Derived from the Confusion Matrix</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7" name="Picture 6"/>
          <p:cNvPicPr>
            <a:picLocks noChangeAspect="1"/>
          </p:cNvPicPr>
          <p:nvPr/>
        </p:nvPicPr>
        <p:blipFill>
          <a:blip r:embed="rId4"/>
          <a:stretch>
            <a:fillRect/>
          </a:stretch>
        </p:blipFill>
        <p:spPr>
          <a:xfrm>
            <a:off x="688975" y="1005840"/>
            <a:ext cx="11121390" cy="456882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Case Study: Medical Diagnosis for Diabetes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1123315"/>
            <a:ext cx="10515600" cy="2391410"/>
          </a:xfrm>
        </p:spPr>
        <p:txBody>
          <a:bodyPr>
            <a:noAutofit/>
          </a:bodyPr>
          <a:lstStyle/>
          <a:p>
            <a:pPr>
              <a:lnSpc>
                <a:spcPct val="106000"/>
              </a:lnSpc>
              <a:spcAft>
                <a:spcPts val="0"/>
              </a:spcAft>
            </a:pPr>
            <a:r>
              <a:rPr lang="en-US" sz="2400" b="1">
                <a:solidFill>
                  <a:srgbClr val="000000"/>
                </a:solidFill>
                <a:latin typeface="Times New Roman" panose="02020603050405020304"/>
                <a:ea typeface="Calibri" panose="020F0502020204030204"/>
                <a:sym typeface="+mn-ea"/>
              </a:rPr>
              <a:t>Context:</a:t>
            </a:r>
            <a:r>
              <a:rPr lang="en-US" sz="2400">
                <a:solidFill>
                  <a:srgbClr val="000000"/>
                </a:solidFill>
                <a:latin typeface="Times New Roman" panose="02020603050405020304"/>
                <a:ea typeface="Calibri" panose="020F0502020204030204"/>
                <a:sym typeface="+mn-ea"/>
              </a:rPr>
              <a:t> A healthcare provider develops a machine learning model to predict whether patients have diabetes based on various health metrics. After training and validating the model, they evaluate its performance using a confusion matrix.</a:t>
            </a:r>
          </a:p>
          <a:p>
            <a:pPr>
              <a:lnSpc>
                <a:spcPct val="106000"/>
              </a:lnSpc>
              <a:spcAft>
                <a:spcPts val="0"/>
              </a:spcAft>
            </a:pPr>
            <a:r>
              <a:rPr lang="en-US" sz="2400" b="1">
                <a:solidFill>
                  <a:srgbClr val="000000"/>
                </a:solidFill>
                <a:latin typeface="Times New Roman" panose="02020603050405020304"/>
                <a:ea typeface="Calibri" panose="020F0502020204030204"/>
                <a:sym typeface="+mn-ea"/>
              </a:rPr>
              <a:t>Data Overview</a:t>
            </a:r>
          </a:p>
          <a:p>
            <a:pPr>
              <a:lnSpc>
                <a:spcPct val="106000"/>
              </a:lnSpc>
              <a:spcAft>
                <a:spcPts val="0"/>
              </a:spcAft>
            </a:pPr>
            <a:r>
              <a:rPr lang="en-US" sz="2400">
                <a:solidFill>
                  <a:srgbClr val="000000"/>
                </a:solidFill>
                <a:latin typeface="Times New Roman" panose="02020603050405020304"/>
                <a:ea typeface="Calibri" panose="020F0502020204030204"/>
                <a:sym typeface="+mn-ea"/>
              </a:rPr>
              <a:t>The model was tested on a dataset of 1,000 patients, with the following results:</a:t>
            </a:r>
          </a:p>
          <a:p>
            <a:pPr lvl="1">
              <a:lnSpc>
                <a:spcPct val="106000"/>
              </a:lnSpc>
              <a:spcAft>
                <a:spcPts val="0"/>
              </a:spcAft>
            </a:pPr>
            <a:r>
              <a:rPr lang="en-US">
                <a:solidFill>
                  <a:srgbClr val="000000"/>
                </a:solidFill>
                <a:latin typeface="Times New Roman" panose="02020603050405020304"/>
                <a:ea typeface="Calibri" panose="020F0502020204030204"/>
                <a:sym typeface="+mn-ea"/>
              </a:rPr>
              <a:t>Actual Diabetic Patients: 150</a:t>
            </a:r>
          </a:p>
          <a:p>
            <a:pPr lvl="1">
              <a:lnSpc>
                <a:spcPct val="106000"/>
              </a:lnSpc>
              <a:spcAft>
                <a:spcPts val="0"/>
              </a:spcAft>
            </a:pPr>
            <a:r>
              <a:rPr lang="en-US">
                <a:solidFill>
                  <a:srgbClr val="000000"/>
                </a:solidFill>
                <a:latin typeface="Times New Roman" panose="02020603050405020304"/>
                <a:ea typeface="Calibri" panose="020F0502020204030204"/>
                <a:sym typeface="+mn-ea"/>
              </a:rPr>
              <a:t>Actual Non-Diabetic Patients: 850</a:t>
            </a:r>
          </a:p>
          <a:p>
            <a:pPr lvl="0">
              <a:lnSpc>
                <a:spcPct val="106000"/>
              </a:lnSpc>
              <a:spcAft>
                <a:spcPts val="0"/>
              </a:spcAft>
            </a:pPr>
            <a:r>
              <a:rPr lang="en-US" sz="2400" b="1">
                <a:solidFill>
                  <a:srgbClr val="000000"/>
                </a:solidFill>
                <a:latin typeface="Times New Roman" panose="02020603050405020304"/>
                <a:ea typeface="Calibri" panose="020F0502020204030204"/>
                <a:sym typeface="+mn-ea"/>
              </a:rPr>
              <a:t>Confusion Matrix</a:t>
            </a:r>
          </a:p>
        </p:txBody>
      </p:sp>
      <p:pic>
        <p:nvPicPr>
          <p:cNvPr id="5" name="Picture 4"/>
          <p:cNvPicPr>
            <a:picLocks noChangeAspect="1"/>
          </p:cNvPicPr>
          <p:nvPr/>
        </p:nvPicPr>
        <p:blipFill>
          <a:blip r:embed="rId4"/>
          <a:stretch>
            <a:fillRect/>
          </a:stretch>
        </p:blipFill>
        <p:spPr>
          <a:xfrm>
            <a:off x="2695575" y="4820920"/>
            <a:ext cx="8267700" cy="130492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Case Study: Medical Diagnosis for Diabetes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1123315"/>
            <a:ext cx="10515600" cy="2391410"/>
          </a:xfrm>
        </p:spPr>
        <p:txBody>
          <a:bodyPr>
            <a:noAutofit/>
          </a:bodyPr>
          <a:lstStyle/>
          <a:p>
            <a:pPr>
              <a:lnSpc>
                <a:spcPct val="106000"/>
              </a:lnSpc>
              <a:spcAft>
                <a:spcPts val="0"/>
              </a:spcAft>
            </a:pPr>
            <a:r>
              <a:rPr lang="en-US" b="1">
                <a:solidFill>
                  <a:srgbClr val="000000"/>
                </a:solidFill>
                <a:latin typeface="Times New Roman" panose="02020603050405020304"/>
                <a:ea typeface="Calibri" panose="020F0502020204030204"/>
                <a:sym typeface="+mn-ea"/>
              </a:rPr>
              <a:t>Interpretation of the Confusion Matrix</a:t>
            </a:r>
          </a:p>
          <a:p>
            <a:pPr lvl="1">
              <a:lnSpc>
                <a:spcPct val="106000"/>
              </a:lnSpc>
              <a:spcAft>
                <a:spcPts val="0"/>
              </a:spcAft>
            </a:pPr>
            <a:r>
              <a:rPr lang="en-US" b="1">
                <a:solidFill>
                  <a:srgbClr val="000000"/>
                </a:solidFill>
                <a:latin typeface="Times New Roman" panose="02020603050405020304"/>
                <a:ea typeface="Calibri" panose="020F0502020204030204"/>
                <a:sym typeface="+mn-ea"/>
              </a:rPr>
              <a:t>True Positives (TP):</a:t>
            </a:r>
            <a:r>
              <a:rPr lang="en-US">
                <a:solidFill>
                  <a:srgbClr val="000000"/>
                </a:solidFill>
                <a:latin typeface="Times New Roman" panose="02020603050405020304"/>
                <a:ea typeface="Calibri" panose="020F0502020204030204"/>
                <a:sym typeface="+mn-ea"/>
              </a:rPr>
              <a:t> 120 patients were correctly identified as 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False Negatives (FN):</a:t>
            </a:r>
            <a:r>
              <a:rPr lang="en-US">
                <a:solidFill>
                  <a:srgbClr val="000000"/>
                </a:solidFill>
                <a:latin typeface="Times New Roman" panose="02020603050405020304"/>
                <a:ea typeface="Calibri" panose="020F0502020204030204"/>
                <a:sym typeface="+mn-ea"/>
              </a:rPr>
              <a:t> 30 patients were diabetic but were incorrectly classified as non-diabetic.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False Positives (FP):</a:t>
            </a:r>
            <a:r>
              <a:rPr lang="en-US">
                <a:solidFill>
                  <a:srgbClr val="000000"/>
                </a:solidFill>
                <a:latin typeface="Times New Roman" panose="02020603050405020304"/>
                <a:ea typeface="Calibri" panose="020F0502020204030204"/>
                <a:sym typeface="+mn-ea"/>
              </a:rPr>
              <a:t> 50 patients were classified as diabetic, but they were actually non-diabetic.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True Negatives (TN):</a:t>
            </a:r>
            <a:r>
              <a:rPr lang="en-US">
                <a:solidFill>
                  <a:srgbClr val="000000"/>
                </a:solidFill>
                <a:latin typeface="Times New Roman" panose="02020603050405020304"/>
                <a:ea typeface="Calibri" panose="020F0502020204030204"/>
                <a:sym typeface="+mn-ea"/>
              </a:rPr>
              <a:t> 800 patients were correctly identified as non-diabetic</a:t>
            </a:r>
            <a:endParaRPr lang="en-US" b="1">
              <a:solidFill>
                <a:srgbClr val="000000"/>
              </a:solidFill>
              <a:latin typeface="Times New Roman" panose="02020603050405020304"/>
              <a:ea typeface="Calibri" panose="020F0502020204030204"/>
              <a:sym typeface="+mn-ea"/>
            </a:endParaRPr>
          </a:p>
        </p:txBody>
      </p:sp>
      <p:pic>
        <p:nvPicPr>
          <p:cNvPr id="5" name="Picture 4"/>
          <p:cNvPicPr>
            <a:picLocks noChangeAspect="1"/>
          </p:cNvPicPr>
          <p:nvPr/>
        </p:nvPicPr>
        <p:blipFill>
          <a:blip r:embed="rId4"/>
          <a:stretch>
            <a:fillRect/>
          </a:stretch>
        </p:blipFill>
        <p:spPr>
          <a:xfrm>
            <a:off x="1292860" y="4278630"/>
            <a:ext cx="9478645" cy="195389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Case Study: Medical Diagnosis for Diabetes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1123315"/>
            <a:ext cx="10515600" cy="2391410"/>
          </a:xfrm>
        </p:spPr>
        <p:txBody>
          <a:bodyPr>
            <a:noAutofit/>
          </a:bodyPr>
          <a:lstStyle/>
          <a:p>
            <a:pPr>
              <a:lnSpc>
                <a:spcPct val="106000"/>
              </a:lnSpc>
              <a:spcAft>
                <a:spcPts val="0"/>
              </a:spcAft>
            </a:pPr>
            <a:r>
              <a:rPr lang="en-US" b="1">
                <a:solidFill>
                  <a:srgbClr val="000000"/>
                </a:solidFill>
                <a:latin typeface="Times New Roman" panose="02020603050405020304"/>
                <a:ea typeface="Calibri" panose="020F0502020204030204"/>
                <a:sym typeface="+mn-ea"/>
              </a:rPr>
              <a:t>Interpretation of the Confusion Matrix</a:t>
            </a:r>
          </a:p>
          <a:p>
            <a:pPr lvl="1">
              <a:lnSpc>
                <a:spcPct val="106000"/>
              </a:lnSpc>
              <a:spcAft>
                <a:spcPts val="0"/>
              </a:spcAft>
            </a:pPr>
            <a:r>
              <a:rPr lang="en-US" b="1">
                <a:solidFill>
                  <a:srgbClr val="000000"/>
                </a:solidFill>
                <a:latin typeface="Times New Roman" panose="02020603050405020304"/>
                <a:ea typeface="Calibri" panose="020F0502020204030204"/>
                <a:sym typeface="+mn-ea"/>
              </a:rPr>
              <a:t>True Positives (TP):</a:t>
            </a:r>
            <a:r>
              <a:rPr lang="en-US">
                <a:solidFill>
                  <a:srgbClr val="000000"/>
                </a:solidFill>
                <a:latin typeface="Times New Roman" panose="02020603050405020304"/>
                <a:ea typeface="Calibri" panose="020F0502020204030204"/>
                <a:sym typeface="+mn-ea"/>
              </a:rPr>
              <a:t> 120 patients were correctly identified as 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False Negatives (FN):</a:t>
            </a:r>
            <a:r>
              <a:rPr lang="en-US">
                <a:solidFill>
                  <a:srgbClr val="000000"/>
                </a:solidFill>
                <a:latin typeface="Times New Roman" panose="02020603050405020304"/>
                <a:ea typeface="Calibri" panose="020F0502020204030204"/>
                <a:sym typeface="+mn-ea"/>
              </a:rPr>
              <a:t> 30 patients were diabetic but were incorrectly classified as non-diabetic.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False Positives (FP):</a:t>
            </a:r>
            <a:r>
              <a:rPr lang="en-US">
                <a:solidFill>
                  <a:srgbClr val="000000"/>
                </a:solidFill>
                <a:latin typeface="Times New Roman" panose="02020603050405020304"/>
                <a:ea typeface="Calibri" panose="020F0502020204030204"/>
                <a:sym typeface="+mn-ea"/>
              </a:rPr>
              <a:t> 50 patients were classified as diabetic, but they were actually non-diabetic.</a:t>
            </a:r>
          </a:p>
          <a:p>
            <a:pPr lvl="1">
              <a:lnSpc>
                <a:spcPct val="106000"/>
              </a:lnSpc>
              <a:spcAft>
                <a:spcPts val="0"/>
              </a:spcAft>
            </a:pPr>
            <a:r>
              <a:rPr lang="en-US" b="1">
                <a:solidFill>
                  <a:srgbClr val="000000"/>
                </a:solidFill>
                <a:latin typeface="Times New Roman" panose="02020603050405020304"/>
                <a:ea typeface="Calibri" panose="020F0502020204030204"/>
                <a:sym typeface="+mn-ea"/>
              </a:rPr>
              <a:t>True Negatives (TN):</a:t>
            </a:r>
            <a:r>
              <a:rPr lang="en-US">
                <a:solidFill>
                  <a:srgbClr val="000000"/>
                </a:solidFill>
                <a:latin typeface="Times New Roman" panose="02020603050405020304"/>
                <a:ea typeface="Calibri" panose="020F0502020204030204"/>
                <a:sym typeface="+mn-ea"/>
              </a:rPr>
              <a:t> 800 patients were correctly identified as non-diabetic</a:t>
            </a:r>
            <a:endParaRPr lang="en-US" b="1">
              <a:solidFill>
                <a:srgbClr val="000000"/>
              </a:solidFill>
              <a:latin typeface="Times New Roman" panose="02020603050405020304"/>
              <a:ea typeface="Calibri" panose="020F0502020204030204"/>
              <a:sym typeface="+mn-ea"/>
            </a:endParaRPr>
          </a:p>
        </p:txBody>
      </p:sp>
      <p:pic>
        <p:nvPicPr>
          <p:cNvPr id="5" name="Picture 4"/>
          <p:cNvPicPr>
            <a:picLocks noChangeAspect="1"/>
          </p:cNvPicPr>
          <p:nvPr/>
        </p:nvPicPr>
        <p:blipFill>
          <a:blip r:embed="rId4"/>
          <a:stretch>
            <a:fillRect/>
          </a:stretch>
        </p:blipFill>
        <p:spPr>
          <a:xfrm>
            <a:off x="1292860" y="4278630"/>
            <a:ext cx="9478645" cy="195389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Case Study: Medical Diagnosis for Diabetes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a:lnSpc>
                <a:spcPct val="106000"/>
              </a:lnSpc>
              <a:spcAft>
                <a:spcPts val="0"/>
              </a:spcAft>
            </a:pPr>
            <a:r>
              <a:rPr lang="en-US" sz="2400" b="1">
                <a:solidFill>
                  <a:srgbClr val="000000"/>
                </a:solidFill>
                <a:latin typeface="Times New Roman" panose="02020603050405020304"/>
                <a:ea typeface="Calibri" panose="020F0502020204030204"/>
                <a:sym typeface="+mn-ea"/>
              </a:rPr>
              <a:t>Key Metrics</a:t>
            </a:r>
          </a:p>
          <a:p>
            <a:pPr lvl="1">
              <a:lnSpc>
                <a:spcPct val="106000"/>
              </a:lnSpc>
              <a:spcAft>
                <a:spcPts val="0"/>
              </a:spcAft>
            </a:pPr>
            <a:r>
              <a:rPr lang="en-US" sz="2000">
                <a:solidFill>
                  <a:srgbClr val="000000"/>
                </a:solidFill>
                <a:latin typeface="Times New Roman" panose="02020603050405020304"/>
                <a:ea typeface="Calibri" panose="020F0502020204030204"/>
                <a:sym typeface="+mn-ea"/>
              </a:rPr>
              <a:t>Accuracy = 92%</a:t>
            </a:r>
          </a:p>
          <a:p>
            <a:pPr lvl="1">
              <a:lnSpc>
                <a:spcPct val="106000"/>
              </a:lnSpc>
              <a:spcAft>
                <a:spcPts val="0"/>
              </a:spcAft>
            </a:pPr>
            <a:r>
              <a:rPr lang="en-US" sz="2000">
                <a:solidFill>
                  <a:srgbClr val="000000"/>
                </a:solidFill>
                <a:latin typeface="Times New Roman" panose="02020603050405020304"/>
                <a:ea typeface="Calibri" panose="020F0502020204030204"/>
                <a:sym typeface="+mn-ea"/>
              </a:rPr>
              <a:t>Precision = 70.6%</a:t>
            </a:r>
          </a:p>
          <a:p>
            <a:pPr lvl="1">
              <a:lnSpc>
                <a:spcPct val="106000"/>
              </a:lnSpc>
              <a:spcAft>
                <a:spcPts val="0"/>
              </a:spcAft>
            </a:pPr>
            <a:r>
              <a:rPr lang="en-US" sz="2000">
                <a:solidFill>
                  <a:srgbClr val="000000"/>
                </a:solidFill>
                <a:latin typeface="Times New Roman" panose="02020603050405020304"/>
                <a:ea typeface="Calibri" panose="020F0502020204030204"/>
                <a:sym typeface="+mn-ea"/>
              </a:rPr>
              <a:t>Recall = 80%</a:t>
            </a:r>
          </a:p>
          <a:p>
            <a:pPr lvl="1">
              <a:lnSpc>
                <a:spcPct val="106000"/>
              </a:lnSpc>
              <a:spcAft>
                <a:spcPts val="0"/>
              </a:spcAft>
            </a:pPr>
            <a:r>
              <a:rPr lang="en-US" sz="2000">
                <a:solidFill>
                  <a:srgbClr val="000000"/>
                </a:solidFill>
                <a:latin typeface="Times New Roman" panose="02020603050405020304"/>
                <a:ea typeface="Calibri" panose="020F0502020204030204"/>
                <a:sym typeface="+mn-ea"/>
              </a:rPr>
              <a:t>F1-Score = 75%</a:t>
            </a:r>
          </a:p>
          <a:p>
            <a:pPr lvl="0">
              <a:lnSpc>
                <a:spcPct val="106000"/>
              </a:lnSpc>
              <a:spcAft>
                <a:spcPts val="0"/>
              </a:spcAft>
            </a:pPr>
            <a:r>
              <a:rPr lang="en-US" sz="2400" b="1">
                <a:solidFill>
                  <a:srgbClr val="000000"/>
                </a:solidFill>
                <a:latin typeface="Times New Roman" panose="02020603050405020304"/>
                <a:ea typeface="Calibri" panose="020F0502020204030204"/>
                <a:sym typeface="+mn-ea"/>
              </a:rPr>
              <a:t>Insights and Analysis</a:t>
            </a:r>
          </a:p>
          <a:p>
            <a:pPr lvl="1">
              <a:lnSpc>
                <a:spcPct val="106000"/>
              </a:lnSpc>
              <a:spcAft>
                <a:spcPts val="0"/>
              </a:spcAft>
            </a:pPr>
            <a:r>
              <a:rPr lang="en-US" sz="2000" b="1">
                <a:solidFill>
                  <a:srgbClr val="000000"/>
                </a:solidFill>
                <a:latin typeface="Times New Roman" panose="02020603050405020304"/>
                <a:ea typeface="Calibri" panose="020F0502020204030204"/>
                <a:sym typeface="+mn-ea"/>
              </a:rPr>
              <a:t>High Accuracy: </a:t>
            </a:r>
            <a:r>
              <a:rPr lang="en-US" sz="2000">
                <a:solidFill>
                  <a:srgbClr val="000000"/>
                </a:solidFill>
                <a:latin typeface="Times New Roman" panose="02020603050405020304"/>
                <a:ea typeface="Calibri" panose="020F0502020204030204"/>
                <a:sym typeface="+mn-ea"/>
              </a:rPr>
              <a:t>The model has a high accuracy of 92%, which might seem promising, but accuracy alone does not give a complete picture, especially in medical diagnosis where the costs of false negatives can be significant.</a:t>
            </a:r>
          </a:p>
          <a:p>
            <a:pPr lvl="1">
              <a:lnSpc>
                <a:spcPct val="106000"/>
              </a:lnSpc>
              <a:spcAft>
                <a:spcPts val="0"/>
              </a:spcAft>
            </a:pPr>
            <a:r>
              <a:rPr lang="en-US" sz="2000" b="1">
                <a:solidFill>
                  <a:srgbClr val="000000"/>
                </a:solidFill>
                <a:latin typeface="Times New Roman" panose="02020603050405020304"/>
                <a:ea typeface="Calibri" panose="020F0502020204030204"/>
                <a:sym typeface="+mn-ea"/>
              </a:rPr>
              <a:t>Precision vs. Recall:</a:t>
            </a:r>
            <a:r>
              <a:rPr lang="en-US" sz="2000">
                <a:solidFill>
                  <a:srgbClr val="000000"/>
                </a:solidFill>
                <a:latin typeface="Times New Roman" panose="02020603050405020304"/>
                <a:ea typeface="Calibri" panose="020F0502020204030204"/>
                <a:sym typeface="+mn-ea"/>
              </a:rPr>
              <a:t> With a precision of 70.6%, the model does reasonably well when it predicts diabetes. However, a recall of 80% indicates that some diabetic patients are being missed, which can be critical in healthcare settings.</a:t>
            </a:r>
          </a:p>
          <a:p>
            <a:pPr lvl="1">
              <a:lnSpc>
                <a:spcPct val="106000"/>
              </a:lnSpc>
              <a:spcAft>
                <a:spcPts val="0"/>
              </a:spcAft>
            </a:pPr>
            <a:r>
              <a:rPr lang="en-US" sz="2000" b="1">
                <a:solidFill>
                  <a:srgbClr val="000000"/>
                </a:solidFill>
                <a:latin typeface="Times New Roman" panose="02020603050405020304"/>
                <a:ea typeface="Calibri" panose="020F0502020204030204"/>
                <a:sym typeface="+mn-ea"/>
              </a:rPr>
              <a:t>Focus on Recall: </a:t>
            </a:r>
            <a:r>
              <a:rPr lang="en-US" sz="2000">
                <a:solidFill>
                  <a:srgbClr val="000000"/>
                </a:solidFill>
                <a:latin typeface="Times New Roman" panose="02020603050405020304"/>
                <a:ea typeface="Calibri" panose="020F0502020204030204"/>
                <a:sym typeface="+mn-ea"/>
              </a:rPr>
              <a:t>Given that missing a diabetic patient can lead to serious health complications, healthcare providers might prioritize improving recall, even if it results in a lower precision (increased false positives).</a:t>
            </a:r>
          </a:p>
          <a:p>
            <a:pPr lvl="1">
              <a:lnSpc>
                <a:spcPct val="106000"/>
              </a:lnSpc>
              <a:spcAft>
                <a:spcPts val="0"/>
              </a:spcAft>
            </a:pPr>
            <a:endParaRPr lang="en-US" sz="2000">
              <a:solidFill>
                <a:srgbClr val="000000"/>
              </a:solidFill>
              <a:latin typeface="Times New Roman" panose="02020603050405020304"/>
              <a:ea typeface="Calibri" panose="020F0502020204030204"/>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a:ea typeface="Calibri" panose="020F0502020204030204"/>
                <a:sym typeface="+mn-ea"/>
              </a:rPr>
              <a:t>K-fold cross-validation</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pic>
        <p:nvPicPr>
          <p:cNvPr id="5" name="Picture 4"/>
          <p:cNvPicPr/>
          <p:nvPr/>
        </p:nvPicPr>
        <p:blipFill>
          <a:blip r:embed="rId4"/>
          <a:stretch>
            <a:fillRect/>
          </a:stretch>
        </p:blipFill>
        <p:spPr>
          <a:xfrm>
            <a:off x="2468880" y="870585"/>
            <a:ext cx="8099425" cy="542417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a:ea typeface="Calibri" panose="020F0502020204030204"/>
                <a:sym typeface="+mn-ea"/>
              </a:rPr>
              <a:t>K-fold cross-validation</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r>
              <a:rPr lang="en-US" sz="2800" b="1">
                <a:solidFill>
                  <a:srgbClr val="000000"/>
                </a:solidFill>
                <a:latin typeface="Times New Roman" panose="02020603050405020304"/>
                <a:ea typeface="Calibri" panose="020F0502020204030204"/>
                <a:sym typeface="+mn-ea"/>
              </a:rPr>
              <a:t>Data Partitioning:</a:t>
            </a:r>
            <a:r>
              <a:rPr lang="en-US" sz="2800">
                <a:solidFill>
                  <a:srgbClr val="000000"/>
                </a:solidFill>
                <a:latin typeface="Times New Roman" panose="02020603050405020304"/>
                <a:ea typeface="Calibri" panose="020F0502020204030204"/>
                <a:sym typeface="+mn-ea"/>
              </a:rPr>
              <a:t> K-fold cross-validation divides the dataset into k equal-sized subsets (or "folds"), allowing the model to be trained and validated multiple times. Each fold serves as the validation set once while the remaining folds are used for training.</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Performance Estimation: </a:t>
            </a:r>
            <a:r>
              <a:rPr lang="en-US" sz="2800">
                <a:solidFill>
                  <a:srgbClr val="000000"/>
                </a:solidFill>
                <a:latin typeface="Times New Roman" panose="02020603050405020304"/>
                <a:ea typeface="Calibri" panose="020F0502020204030204"/>
                <a:sym typeface="+mn-ea"/>
              </a:rPr>
              <a:t>The model is trained and evaluated k times, and the performance metrics (like accuracy, precision, recall, etc.) are averaged across all folds. This provides a more reliable estimate of the model's performance on unseen data.</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Mitigation of Overfitting:</a:t>
            </a:r>
            <a:r>
              <a:rPr lang="en-US" sz="2800">
                <a:solidFill>
                  <a:srgbClr val="000000"/>
                </a:solidFill>
                <a:latin typeface="Times New Roman" panose="02020603050405020304"/>
                <a:ea typeface="Calibri" panose="020F0502020204030204"/>
                <a:sym typeface="+mn-ea"/>
              </a:rPr>
              <a:t> By using multiple train-test splits, k-fold cross-validation helps reduce overfitting, ensuring that the model generalizes well to new data rather than just memorizing the training set.</a:t>
            </a:r>
          </a:p>
          <a:p>
            <a:pPr lvl="1">
              <a:lnSpc>
                <a:spcPct val="106000"/>
              </a:lnSpc>
              <a:spcAft>
                <a:spcPts val="0"/>
              </a:spcAft>
            </a:pPr>
            <a:endParaRPr lang="en-US" sz="2800">
              <a:solidFill>
                <a:srgbClr val="000000"/>
              </a:solidFill>
              <a:latin typeface="Times New Roman" panose="02020603050405020304"/>
              <a:ea typeface="Calibri" panose="020F0502020204030204"/>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a:ea typeface="Calibri" panose="020F0502020204030204"/>
                <a:sym typeface="+mn-ea"/>
              </a:rPr>
              <a:t>K-fold cross-validation</a:t>
            </a:r>
            <a:endParaRPr lang="en-US" sz="3000" b="1" kern="100">
              <a:solidFill>
                <a:schemeClr val="bg1"/>
              </a:solidFill>
              <a:latin typeface="Times New Roman" panose="02020603050405020304"/>
              <a:ea typeface="Calibri" panose="020F0502020204030204"/>
              <a:cs typeface="Times New Roman" panose="02020603050405020304"/>
              <a:sym typeface="+mn-ea"/>
            </a:endParaRP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r>
              <a:rPr lang="en-US" b="1">
                <a:solidFill>
                  <a:srgbClr val="000000"/>
                </a:solidFill>
                <a:latin typeface="Times New Roman" panose="02020603050405020304"/>
                <a:ea typeface="Calibri" panose="020F0502020204030204"/>
                <a:sym typeface="+mn-ea"/>
              </a:rPr>
              <a:t>Flexibility in Choice of k:</a:t>
            </a:r>
            <a:r>
              <a:rPr lang="en-US">
                <a:solidFill>
                  <a:srgbClr val="000000"/>
                </a:solidFill>
                <a:latin typeface="Times New Roman" panose="02020603050405020304"/>
                <a:ea typeface="Calibri" panose="020F0502020204030204"/>
                <a:sym typeface="+mn-ea"/>
              </a:rPr>
              <a:t> The value of k can be adjusted based on the size of the dataset and the computational resources available. Common choices are k = 5 or k = 10, but smaller or larger values can be used depending on specific needs.</a:t>
            </a:r>
          </a:p>
          <a:p>
            <a:pPr lvl="1">
              <a:lnSpc>
                <a:spcPct val="106000"/>
              </a:lnSpc>
              <a:spcAft>
                <a:spcPts val="0"/>
              </a:spcAft>
            </a:pPr>
            <a:r>
              <a:rPr lang="en-US" b="1">
                <a:solidFill>
                  <a:srgbClr val="000000"/>
                </a:solidFill>
                <a:latin typeface="Times New Roman" panose="02020603050405020304"/>
                <a:ea typeface="Calibri" panose="020F0502020204030204"/>
                <a:sym typeface="+mn-ea"/>
              </a:rPr>
              <a:t>Stratification Option:</a:t>
            </a:r>
            <a:r>
              <a:rPr lang="en-US">
                <a:solidFill>
                  <a:srgbClr val="000000"/>
                </a:solidFill>
                <a:latin typeface="Times New Roman" panose="02020603050405020304"/>
                <a:ea typeface="Calibri" panose="020F0502020204030204"/>
                <a:sym typeface="+mn-ea"/>
              </a:rPr>
              <a:t> In cases of imbalanced datasets, stratified k-fold cross-validation can be employed to ensure that each fold has a similar distribution of classes, which helps maintain the representativeness of each fold.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a:ea typeface="Calibri" panose="020F0502020204030204"/>
                <a:sym typeface="+mn-ea"/>
              </a:rPr>
              <a:t>How K-Fold Cross-Validation Works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r>
              <a:rPr lang="en-US" sz="2800" b="1">
                <a:solidFill>
                  <a:srgbClr val="000000"/>
                </a:solidFill>
                <a:latin typeface="Times New Roman" panose="02020603050405020304"/>
                <a:ea typeface="Calibri" panose="020F0502020204030204"/>
                <a:sym typeface="+mn-ea"/>
              </a:rPr>
              <a:t>Data Splitting:</a:t>
            </a:r>
          </a:p>
          <a:p>
            <a:pPr lvl="2">
              <a:lnSpc>
                <a:spcPct val="106000"/>
              </a:lnSpc>
              <a:spcAft>
                <a:spcPts val="0"/>
              </a:spcAft>
            </a:pPr>
            <a:r>
              <a:rPr lang="en-US" sz="2400">
                <a:solidFill>
                  <a:srgbClr val="000000"/>
                </a:solidFill>
                <a:latin typeface="Times New Roman" panose="02020603050405020304"/>
                <a:ea typeface="Calibri" panose="020F0502020204030204"/>
                <a:sym typeface="+mn-ea"/>
              </a:rPr>
              <a:t>The entire dataset is randomly divided into k subsets or "folds" of approximately equal size.</a:t>
            </a:r>
          </a:p>
          <a:p>
            <a:pPr lvl="2">
              <a:lnSpc>
                <a:spcPct val="106000"/>
              </a:lnSpc>
              <a:spcAft>
                <a:spcPts val="0"/>
              </a:spcAft>
            </a:pPr>
            <a:r>
              <a:rPr lang="en-US" sz="2400">
                <a:solidFill>
                  <a:srgbClr val="000000"/>
                </a:solidFill>
                <a:latin typeface="Times New Roman" panose="02020603050405020304"/>
                <a:ea typeface="Calibri" panose="020F0502020204030204"/>
                <a:sym typeface="+mn-ea"/>
              </a:rPr>
              <a:t>Common values for k are 5 or 10, but it can be adjusted based on the size of the dataset.</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Model Training and Validation:</a:t>
            </a:r>
            <a:endParaRPr lang="en-US" sz="2800">
              <a:solidFill>
                <a:srgbClr val="000000"/>
              </a:solidFill>
              <a:latin typeface="Times New Roman" panose="02020603050405020304"/>
              <a:ea typeface="Calibri" panose="020F0502020204030204"/>
              <a:sym typeface="+mn-ea"/>
            </a:endParaRPr>
          </a:p>
          <a:p>
            <a:pPr lvl="2">
              <a:lnSpc>
                <a:spcPct val="106000"/>
              </a:lnSpc>
              <a:spcAft>
                <a:spcPts val="0"/>
              </a:spcAft>
            </a:pPr>
            <a:r>
              <a:rPr lang="en-US" sz="2400">
                <a:solidFill>
                  <a:srgbClr val="000000"/>
                </a:solidFill>
                <a:latin typeface="Times New Roman" panose="02020603050405020304"/>
                <a:ea typeface="Calibri" panose="020F0502020204030204"/>
                <a:sym typeface="+mn-ea"/>
              </a:rPr>
              <a:t>The model is trained and validated k times.</a:t>
            </a:r>
          </a:p>
          <a:p>
            <a:pPr lvl="2">
              <a:lnSpc>
                <a:spcPct val="106000"/>
              </a:lnSpc>
              <a:spcAft>
                <a:spcPts val="0"/>
              </a:spcAft>
            </a:pPr>
            <a:r>
              <a:rPr lang="en-US" sz="2400">
                <a:solidFill>
                  <a:srgbClr val="000000"/>
                </a:solidFill>
                <a:latin typeface="Times New Roman" panose="02020603050405020304"/>
                <a:ea typeface="Calibri" panose="020F0502020204030204"/>
                <a:sym typeface="+mn-ea"/>
              </a:rPr>
              <a:t>In each iteration:</a:t>
            </a:r>
          </a:p>
          <a:p>
            <a:pPr lvl="3">
              <a:lnSpc>
                <a:spcPct val="106000"/>
              </a:lnSpc>
              <a:spcAft>
                <a:spcPts val="0"/>
              </a:spcAft>
            </a:pPr>
            <a:r>
              <a:rPr lang="en-US" sz="2000">
                <a:solidFill>
                  <a:srgbClr val="000000"/>
                </a:solidFill>
                <a:latin typeface="Times New Roman" panose="02020603050405020304"/>
                <a:ea typeface="Calibri" panose="020F0502020204030204"/>
                <a:sym typeface="+mn-ea"/>
              </a:rPr>
              <a:t>One fold is used as the validation set, while the remaining k-1 folds are used for training.</a:t>
            </a:r>
          </a:p>
          <a:p>
            <a:pPr lvl="3">
              <a:lnSpc>
                <a:spcPct val="106000"/>
              </a:lnSpc>
              <a:spcAft>
                <a:spcPts val="0"/>
              </a:spcAft>
            </a:pPr>
            <a:r>
              <a:rPr lang="en-US" sz="2000">
                <a:solidFill>
                  <a:srgbClr val="000000"/>
                </a:solidFill>
                <a:latin typeface="Times New Roman" panose="02020603050405020304"/>
                <a:ea typeface="Calibri" panose="020F0502020204030204"/>
                <a:sym typeface="+mn-ea"/>
              </a:rPr>
              <a:t>This process ensures that every instance in the dataset is used for both training and validation at least once.</a:t>
            </a:r>
          </a:p>
          <a:p>
            <a:pPr lvl="1">
              <a:lnSpc>
                <a:spcPct val="106000"/>
              </a:lnSpc>
              <a:spcAft>
                <a:spcPts val="0"/>
              </a:spcAft>
            </a:pPr>
            <a:endParaRPr lang="en-US" sz="2000">
              <a:solidFill>
                <a:srgbClr val="000000"/>
              </a:solidFill>
              <a:latin typeface="Times New Roman" panose="02020603050405020304"/>
              <a:ea typeface="Calibri" panose="020F0502020204030204"/>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a:solidFill>
                  <a:schemeClr val="bg1"/>
                </a:solidFill>
                <a:latin typeface="Times New Roman" panose="02020603050405020304"/>
                <a:ea typeface="Calibri" panose="020F0502020204030204"/>
                <a:sym typeface="+mn-ea"/>
              </a:rPr>
              <a:t>How K-Fold Cross-Validation Works</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r>
              <a:rPr lang="en-US" sz="2800" b="1">
                <a:solidFill>
                  <a:srgbClr val="000000"/>
                </a:solidFill>
                <a:latin typeface="Times New Roman" panose="02020603050405020304"/>
                <a:ea typeface="Calibri" panose="020F0502020204030204"/>
                <a:sym typeface="+mn-ea"/>
              </a:rPr>
              <a:t>Performance Measurement:</a:t>
            </a:r>
          </a:p>
          <a:p>
            <a:pPr lvl="2">
              <a:lnSpc>
                <a:spcPct val="106000"/>
              </a:lnSpc>
              <a:spcAft>
                <a:spcPts val="0"/>
              </a:spcAft>
            </a:pPr>
            <a:r>
              <a:rPr lang="en-US" sz="2400">
                <a:solidFill>
                  <a:srgbClr val="000000"/>
                </a:solidFill>
                <a:latin typeface="Times New Roman" panose="02020603050405020304"/>
                <a:ea typeface="Calibri" panose="020F0502020204030204"/>
                <a:sym typeface="+mn-ea"/>
              </a:rPr>
              <a:t>After completing all k iterations, the performance metrics (such as accuracy, precision, recall, F1 score, etc.) are averaged across all iterations.</a:t>
            </a:r>
          </a:p>
          <a:p>
            <a:pPr lvl="2">
              <a:lnSpc>
                <a:spcPct val="106000"/>
              </a:lnSpc>
              <a:spcAft>
                <a:spcPts val="0"/>
              </a:spcAft>
            </a:pPr>
            <a:r>
              <a:rPr lang="en-US" sz="2400">
                <a:solidFill>
                  <a:srgbClr val="000000"/>
                </a:solidFill>
                <a:latin typeface="Times New Roman" panose="02020603050405020304"/>
                <a:ea typeface="Calibri" panose="020F0502020204030204"/>
                <a:sym typeface="+mn-ea"/>
              </a:rPr>
              <a:t>This average provides a more comprehensive view of the model's performance.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1" algn="ctr">
              <a:lnSpc>
                <a:spcPct val="106000"/>
              </a:lnSpc>
              <a:spcAft>
                <a:spcPts val="0"/>
              </a:spcAft>
            </a:pPr>
            <a:r>
              <a:rPr lang="en-US" sz="3000" b="1">
                <a:solidFill>
                  <a:schemeClr val="bg1"/>
                </a:solidFill>
                <a:latin typeface="Times New Roman" panose="02020603050405020304"/>
                <a:ea typeface="Calibri" panose="020F0502020204030204"/>
                <a:sym typeface="+mn-ea"/>
              </a:rPr>
              <a:t>Disadvantages of K-Fold Cross-Validation</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r>
              <a:rPr lang="en-US" sz="2800" b="1">
                <a:solidFill>
                  <a:srgbClr val="000000"/>
                </a:solidFill>
                <a:latin typeface="Times New Roman" panose="02020603050405020304"/>
                <a:ea typeface="Calibri" panose="020F0502020204030204"/>
                <a:sym typeface="+mn-ea"/>
              </a:rPr>
              <a:t>Better Generalization: </a:t>
            </a:r>
            <a:r>
              <a:rPr lang="en-US" sz="2800">
                <a:solidFill>
                  <a:srgbClr val="000000"/>
                </a:solidFill>
                <a:latin typeface="Times New Roman" panose="02020603050405020304"/>
                <a:ea typeface="Calibri" panose="020F0502020204030204"/>
                <a:sym typeface="+mn-ea"/>
              </a:rPr>
              <a:t>By using multiple train-test splits, k-fold cross-validation reduces the risk of overfitting and provides a better estimate of how the model will perform on unseen data.</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Efficient Use of Data: </a:t>
            </a:r>
            <a:r>
              <a:rPr lang="en-US" sz="2800">
                <a:solidFill>
                  <a:srgbClr val="000000"/>
                </a:solidFill>
                <a:latin typeface="Times New Roman" panose="02020603050405020304"/>
                <a:ea typeface="Calibri" panose="020F0502020204030204"/>
                <a:sym typeface="+mn-ea"/>
              </a:rPr>
              <a:t>Since each instance in the dataset is used for both training and validation, it maximizes the utilization of available data, which is particularly important for smaller datasets.</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Variance Reduction: </a:t>
            </a:r>
            <a:r>
              <a:rPr lang="en-US" sz="2800">
                <a:solidFill>
                  <a:srgbClr val="000000"/>
                </a:solidFill>
                <a:latin typeface="Times New Roman" panose="02020603050405020304"/>
                <a:ea typeface="Calibri" panose="020F0502020204030204"/>
                <a:sym typeface="+mn-ea"/>
              </a:rPr>
              <a:t>Averaging the results over multiple folds helps to smooth out the variability that can occur with a single train-test split.</a:t>
            </a:r>
          </a:p>
          <a:p>
            <a:pPr lvl="1">
              <a:lnSpc>
                <a:spcPct val="106000"/>
              </a:lnSpc>
              <a:spcAft>
                <a:spcPts val="0"/>
              </a:spcAft>
            </a:pPr>
            <a:endParaRPr lang="en-US" sz="2800" b="1">
              <a:solidFill>
                <a:srgbClr val="000000"/>
              </a:solidFill>
              <a:latin typeface="Times New Roman" panose="02020603050405020304"/>
              <a:ea typeface="Calibri" panose="020F0502020204030204"/>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1" algn="ctr">
              <a:lnSpc>
                <a:spcPct val="106000"/>
              </a:lnSpc>
              <a:spcAft>
                <a:spcPts val="0"/>
              </a:spcAft>
            </a:pPr>
            <a:r>
              <a:rPr lang="en-US" sz="3000" b="1">
                <a:solidFill>
                  <a:schemeClr val="bg1"/>
                </a:solidFill>
                <a:latin typeface="Times New Roman" panose="02020603050405020304"/>
                <a:ea typeface="Calibri" panose="020F0502020204030204"/>
                <a:sym typeface="+mn-ea"/>
              </a:rPr>
              <a:t>Advantages of K-Fold Cross-Validation</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808990"/>
            <a:ext cx="10515600" cy="2391410"/>
          </a:xfrm>
        </p:spPr>
        <p:txBody>
          <a:bodyPr>
            <a:noAutofit/>
          </a:bodyPr>
          <a:lstStyle/>
          <a:p>
            <a:pPr lvl="1">
              <a:lnSpc>
                <a:spcPct val="106000"/>
              </a:lnSpc>
              <a:spcAft>
                <a:spcPts val="0"/>
              </a:spcAft>
            </a:pPr>
            <a:endParaRPr lang="en-US" sz="2800" b="1">
              <a:solidFill>
                <a:srgbClr val="000000"/>
              </a:solidFill>
              <a:latin typeface="Times New Roman" panose="02020603050405020304"/>
              <a:ea typeface="Calibri" panose="020F0502020204030204"/>
              <a:sym typeface="+mn-ea"/>
            </a:endParaRP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Computationally Intensive: </a:t>
            </a:r>
            <a:r>
              <a:rPr lang="en-US" sz="2800">
                <a:solidFill>
                  <a:srgbClr val="000000"/>
                </a:solidFill>
                <a:latin typeface="Times New Roman" panose="02020603050405020304"/>
                <a:ea typeface="Calibri" panose="020F0502020204030204"/>
                <a:sym typeface="+mn-ea"/>
              </a:rPr>
              <a:t>K-fold cross-validation can be computationally expensive, especially for large datasets or complex models, as the model must be trained k times.</a:t>
            </a:r>
          </a:p>
          <a:p>
            <a:pPr lvl="1">
              <a:lnSpc>
                <a:spcPct val="106000"/>
              </a:lnSpc>
              <a:spcAft>
                <a:spcPts val="0"/>
              </a:spcAft>
            </a:pPr>
            <a:r>
              <a:rPr lang="en-US" sz="2800" b="1">
                <a:solidFill>
                  <a:srgbClr val="000000"/>
                </a:solidFill>
                <a:latin typeface="Times New Roman" panose="02020603050405020304"/>
                <a:ea typeface="Calibri" panose="020F0502020204030204"/>
                <a:sym typeface="+mn-ea"/>
              </a:rPr>
              <a:t>Choice of K: </a:t>
            </a:r>
            <a:r>
              <a:rPr lang="en-US" sz="2800">
                <a:solidFill>
                  <a:srgbClr val="000000"/>
                </a:solidFill>
                <a:latin typeface="Times New Roman" panose="02020603050405020304"/>
                <a:ea typeface="Calibri" panose="020F0502020204030204"/>
                <a:sym typeface="+mn-ea"/>
              </a:rPr>
              <a:t>Selecting an appropriate value for k is crucial. A very small k may lead to high variance in the performance estimate, while a very large k can be computationally expensive.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2695575" y="0"/>
            <a:ext cx="9430385" cy="808355"/>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algn="ctr">
              <a:spcBef>
                <a:spcPct val="0"/>
              </a:spcBef>
              <a:defRPr/>
            </a:pPr>
            <a:r>
              <a:rPr lang="en-US" sz="3000" b="1" kern="100">
                <a:solidFill>
                  <a:schemeClr val="bg1"/>
                </a:solidFill>
                <a:latin typeface="Times New Roman" panose="02020603050405020304"/>
                <a:ea typeface="Calibri" panose="020F0502020204030204"/>
                <a:cs typeface="Times New Roman" panose="02020603050405020304"/>
                <a:sym typeface="+mn-ea"/>
              </a:rPr>
              <a:t>Regularization</a:t>
            </a:r>
          </a:p>
        </p:txBody>
      </p:sp>
      <p:pic>
        <p:nvPicPr>
          <p:cNvPr id="2" name="Picture 1"/>
          <p:cNvPicPr/>
          <p:nvPr/>
        </p:nvPicPr>
        <p:blipFill>
          <a:blip r:embed="rId3"/>
          <a:srcRect l="2963" t="30815" r="-830" b="31437"/>
          <a:stretch>
            <a:fillRect/>
          </a:stretch>
        </p:blipFill>
        <p:spPr>
          <a:xfrm>
            <a:off x="0" y="0"/>
            <a:ext cx="2097405" cy="808990"/>
          </a:xfrm>
          <a:prstGeom prst="rect">
            <a:avLst/>
          </a:prstGeom>
        </p:spPr>
      </p:pic>
      <p:sp>
        <p:nvSpPr>
          <p:cNvPr id="10" name="Content Placeholder 9"/>
          <p:cNvSpPr>
            <a:spLocks noGrp="1"/>
          </p:cNvSpPr>
          <p:nvPr>
            <p:ph idx="1"/>
          </p:nvPr>
        </p:nvSpPr>
        <p:spPr>
          <a:xfrm>
            <a:off x="838200" y="1825625"/>
            <a:ext cx="10515600" cy="1689100"/>
          </a:xfrm>
        </p:spPr>
        <p:txBody>
          <a:bodyPr>
            <a:normAutofit fontScale="92500" lnSpcReduction="10000"/>
          </a:bodyPr>
          <a:lstStyle/>
          <a:p>
            <a:pPr>
              <a:lnSpc>
                <a:spcPct val="106000"/>
              </a:lnSpc>
              <a:spcAft>
                <a:spcPts val="0"/>
              </a:spcAft>
            </a:pPr>
            <a:r>
              <a:rPr lang="en-US" kern="100">
                <a:solidFill>
                  <a:srgbClr val="000000"/>
                </a:solidFill>
                <a:latin typeface="Times New Roman" panose="02020603050405020304"/>
                <a:ea typeface="Calibri" panose="020F0502020204030204"/>
                <a:cs typeface="Times New Roman" panose="02020603050405020304"/>
                <a:sym typeface="+mn-ea"/>
              </a:rPr>
              <a:t>Regularization: </a:t>
            </a:r>
            <a:r>
              <a:rPr lang="en-US" kern="0">
                <a:solidFill>
                  <a:srgbClr val="000000"/>
                </a:solidFill>
                <a:latin typeface="Times New Roman" panose="02020603050405020304"/>
                <a:ea typeface="Calibri" panose="020F0502020204030204"/>
                <a:cs typeface="Times New Roman" panose="02020603050405020304"/>
                <a:sym typeface="+mn-ea"/>
              </a:rPr>
              <a:t>Bias and Variance, </a:t>
            </a:r>
            <a:r>
              <a:rPr lang="en-US" kern="0" err="1">
                <a:solidFill>
                  <a:srgbClr val="000000"/>
                </a:solidFill>
                <a:latin typeface="Times New Roman" panose="02020603050405020304"/>
                <a:ea typeface="Calibri" panose="020F0502020204030204"/>
                <a:cs typeface="Times New Roman" panose="02020603050405020304"/>
                <a:sym typeface="+mn-ea"/>
              </a:rPr>
              <a:t>Overfitting</a:t>
            </a:r>
            <a:r>
              <a:rPr lang="en-US" kern="0">
                <a:solidFill>
                  <a:srgbClr val="000000"/>
                </a:solidFill>
                <a:latin typeface="Times New Roman" panose="02020603050405020304"/>
                <a:ea typeface="Calibri" panose="020F0502020204030204"/>
                <a:cs typeface="Times New Roman" panose="02020603050405020304"/>
                <a:sym typeface="+mn-ea"/>
              </a:rPr>
              <a:t> and </a:t>
            </a:r>
            <a:r>
              <a:rPr lang="en-US" kern="0" err="1">
                <a:solidFill>
                  <a:srgbClr val="000000"/>
                </a:solidFill>
                <a:latin typeface="Times New Roman" panose="02020603050405020304"/>
                <a:ea typeface="Calibri" panose="020F0502020204030204"/>
                <a:cs typeface="Times New Roman" panose="02020603050405020304"/>
                <a:sym typeface="+mn-ea"/>
              </a:rPr>
              <a:t>Underfitting</a:t>
            </a:r>
            <a:r>
              <a:rPr lang="en-US" kern="0">
                <a:solidFill>
                  <a:srgbClr val="000000"/>
                </a:solidFill>
                <a:latin typeface="Times New Roman" panose="02020603050405020304"/>
                <a:ea typeface="Calibri" panose="020F0502020204030204"/>
                <a:cs typeface="Times New Roman" panose="02020603050405020304"/>
                <a:sym typeface="+mn-ea"/>
              </a:rPr>
              <a:t>, L1 and L2 Regularization, Regularized Linear Regression, </a:t>
            </a:r>
            <a:r>
              <a:rPr lang="en-US" kern="0">
                <a:solidFill>
                  <a:srgbClr val="000000"/>
                </a:solidFill>
                <a:latin typeface="Times New Roman" panose="02020603050405020304"/>
                <a:ea typeface="Calibri" panose="020F0502020204030204"/>
                <a:sym typeface="+mn-ea"/>
              </a:rPr>
              <a:t>Decision Trees (ID3, C4.5, CART), Confusion matrix, k-folds cross-validation,</a:t>
            </a:r>
            <a:r>
              <a:rPr lang="en-US" kern="0">
                <a:solidFill>
                  <a:srgbClr val="000000"/>
                </a:solidFill>
                <a:latin typeface="Times New Roman" panose="02020603050405020304"/>
                <a:ea typeface="Calibri" panose="020F0502020204030204"/>
                <a:cs typeface="Times New Roman" panose="02020603050405020304"/>
                <a:sym typeface="+mn-ea"/>
              </a:rPr>
              <a:t> K Nearest </a:t>
            </a:r>
            <a:r>
              <a:rPr lang="en-US" kern="0" err="1">
                <a:solidFill>
                  <a:srgbClr val="000000"/>
                </a:solidFill>
                <a:latin typeface="Times New Roman" panose="02020603050405020304"/>
                <a:ea typeface="Calibri" panose="020F0502020204030204"/>
                <a:cs typeface="Times New Roman" panose="02020603050405020304"/>
                <a:sym typeface="+mn-ea"/>
              </a:rPr>
              <a:t>Neighbour</a:t>
            </a:r>
            <a:r>
              <a:rPr lang="en-US" kern="0">
                <a:solidFill>
                  <a:srgbClr val="000000"/>
                </a:solidFill>
                <a:latin typeface="Times New Roman" panose="02020603050405020304"/>
                <a:ea typeface="Calibri" panose="020F0502020204030204"/>
                <a:cs typeface="Times New Roman" panose="02020603050405020304"/>
                <a:sym typeface="+mn-ea"/>
              </a:rPr>
              <a:t>, Support vector machine.</a:t>
            </a:r>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04FD6CF7-5E8E-8D96-C47E-5449FCAAE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F4DB231C-3339-D109-D1C3-13E8594DAFDF}"/>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cs typeface="Calibri"/>
              </a:rPr>
              <a:t>QUIZ</a:t>
            </a:r>
          </a:p>
        </p:txBody>
      </p:sp>
      <p:sp>
        <p:nvSpPr>
          <p:cNvPr id="3" name="TextBox 2">
            <a:extLst>
              <a:ext uri="{FF2B5EF4-FFF2-40B4-BE49-F238E27FC236}">
                <a16:creationId xmlns:a16="http://schemas.microsoft.com/office/drawing/2014/main" id="{E2BBD86E-6F69-5124-90B0-D37C50FC9BD4}"/>
              </a:ext>
            </a:extLst>
          </p:cNvPr>
          <p:cNvSpPr txBox="1"/>
          <p:nvPr/>
        </p:nvSpPr>
        <p:spPr>
          <a:xfrm>
            <a:off x="1101307" y="1374476"/>
            <a:ext cx="10003764" cy="1419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200">
                <a:solidFill>
                  <a:srgbClr val="000000"/>
                </a:solidFill>
                <a:ea typeface="+mn-lt"/>
                <a:cs typeface="+mn-lt"/>
              </a:rPr>
              <a:t>The Mean Square Error (MSE) is used to measure:</a:t>
            </a:r>
            <a:endParaRPr lang="en-US"/>
          </a:p>
          <a:p>
            <a:r>
              <a:rPr lang="en-US" sz="2200">
                <a:solidFill>
                  <a:srgbClr val="000000"/>
                </a:solidFill>
                <a:ea typeface="+mn-lt"/>
                <a:cs typeface="+mn-lt"/>
              </a:rPr>
              <a:t>a) The percentage of correctly classified samples</a:t>
            </a:r>
          </a:p>
          <a:p>
            <a:r>
              <a:rPr lang="en-US" sz="2200">
                <a:solidFill>
                  <a:srgbClr val="000000"/>
                </a:solidFill>
                <a:ea typeface="+mn-lt"/>
                <a:cs typeface="+mn-lt"/>
              </a:rPr>
              <a:t>b) The average squared difference between predicted and actual values</a:t>
            </a:r>
          </a:p>
          <a:p>
            <a:r>
              <a:rPr lang="en-US" sz="2200">
                <a:solidFill>
                  <a:srgbClr val="000000"/>
                </a:solidFill>
                <a:ea typeface="+mn-lt"/>
                <a:cs typeface="+mn-lt"/>
              </a:rPr>
              <a:t>c) The strength of the relationship between features</a:t>
            </a:r>
          </a:p>
          <a:p>
            <a:r>
              <a:rPr lang="en-US" sz="2200">
                <a:solidFill>
                  <a:srgbClr val="000000"/>
                </a:solidFill>
                <a:ea typeface="+mn-lt"/>
                <a:cs typeface="+mn-lt"/>
              </a:rPr>
              <a:t>d) The accuracy of a classification model</a:t>
            </a:r>
          </a:p>
          <a:p>
            <a:endParaRPr lang="en-US" sz="2200">
              <a:solidFill>
                <a:srgbClr val="000000"/>
              </a:solidFill>
              <a:ea typeface="+mn-lt"/>
              <a:cs typeface="+mn-lt"/>
            </a:endParaRPr>
          </a:p>
          <a:p>
            <a:pPr marL="342900" indent="-342900">
              <a:buFont typeface="Wingdings"/>
              <a:buChar char="Ø"/>
            </a:pPr>
            <a:r>
              <a:rPr lang="en-US" sz="2200">
                <a:solidFill>
                  <a:srgbClr val="000000"/>
                </a:solidFill>
                <a:ea typeface="+mn-lt"/>
                <a:cs typeface="+mn-lt"/>
              </a:rPr>
              <a:t>R-squared is a metric that:</a:t>
            </a:r>
          </a:p>
          <a:p>
            <a:r>
              <a:rPr lang="en-US" sz="2200">
                <a:solidFill>
                  <a:srgbClr val="000000"/>
                </a:solidFill>
                <a:ea typeface="+mn-lt"/>
                <a:cs typeface="+mn-lt"/>
              </a:rPr>
              <a:t>a) Measures the error in a classification task</a:t>
            </a:r>
          </a:p>
          <a:p>
            <a:r>
              <a:rPr lang="en-US" sz="2200">
                <a:solidFill>
                  <a:srgbClr val="000000"/>
                </a:solidFill>
                <a:ea typeface="+mn-lt"/>
                <a:cs typeface="+mn-lt"/>
              </a:rPr>
              <a:t>b) Indicates the proportion of variance explained by a regression model</a:t>
            </a:r>
          </a:p>
          <a:p>
            <a:r>
              <a:rPr lang="en-US" sz="2200">
                <a:solidFill>
                  <a:srgbClr val="000000"/>
                </a:solidFill>
                <a:ea typeface="+mn-lt"/>
                <a:cs typeface="+mn-lt"/>
              </a:rPr>
              <a:t>c) Measures the distance between clusters in unsupervised learning</a:t>
            </a:r>
          </a:p>
          <a:p>
            <a:r>
              <a:rPr lang="en-US" sz="2200">
                <a:solidFill>
                  <a:srgbClr val="000000"/>
                </a:solidFill>
                <a:ea typeface="+mn-lt"/>
                <a:cs typeface="+mn-lt"/>
              </a:rPr>
              <a:t>d) Compares different regularization techniques</a:t>
            </a:r>
          </a:p>
          <a:p>
            <a:endParaRPr lang="en-US" sz="1400">
              <a:solidFill>
                <a:srgbClr val="FFFFFF"/>
              </a:solidFill>
              <a:ea typeface="+mn-lt"/>
              <a:cs typeface="+mn-lt"/>
            </a:endParaRPr>
          </a:p>
          <a:p>
            <a:pPr marL="457200" indent="-457200" algn="just">
              <a:buFont typeface="Wingdings"/>
              <a:buChar char="Ø"/>
            </a:pPr>
            <a:endParaRPr lang="en-US" sz="2200">
              <a:ea typeface="+mn-lt"/>
              <a:cs typeface="+mn-lt"/>
            </a:endParaRP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Wingdings"/>
              <a:buChar char="Ø"/>
            </a:pPr>
            <a:endParaRPr lang="en-US" b="1">
              <a:ea typeface="Calibri"/>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743816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04FD6CF7-5E8E-8D96-C47E-5449FCAAE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F4DB231C-3339-D109-D1C3-13E8594DAFDF}"/>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cs typeface="Calibri"/>
              </a:rPr>
              <a:t>QUIZ</a:t>
            </a:r>
          </a:p>
        </p:txBody>
      </p:sp>
      <p:sp>
        <p:nvSpPr>
          <p:cNvPr id="3" name="TextBox 2">
            <a:extLst>
              <a:ext uri="{FF2B5EF4-FFF2-40B4-BE49-F238E27FC236}">
                <a16:creationId xmlns:a16="http://schemas.microsoft.com/office/drawing/2014/main" id="{E2BBD86E-6F69-5124-90B0-D37C50FC9BD4}"/>
              </a:ext>
            </a:extLst>
          </p:cNvPr>
          <p:cNvSpPr txBox="1"/>
          <p:nvPr/>
        </p:nvSpPr>
        <p:spPr>
          <a:xfrm>
            <a:off x="1101307" y="1374476"/>
            <a:ext cx="10003764" cy="148717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FFFFFF"/>
                </a:solidFill>
                <a:ea typeface="+mn-lt"/>
                <a:cs typeface="+mn-lt"/>
              </a:rPr>
              <a:t>Agents can be grouped into five classes based on their degree of perceived intelligence and </a:t>
            </a:r>
            <a:r>
              <a:rPr lang="en-US" sz="1400" err="1">
                <a:solidFill>
                  <a:srgbClr val="FFFFFF"/>
                </a:solidFill>
                <a:ea typeface="+mn-lt"/>
                <a:cs typeface="+mn-lt"/>
              </a:rPr>
              <a:t>i</a:t>
            </a:r>
            <a:endParaRPr lang="en-US" sz="1400" err="1">
              <a:solidFill>
                <a:srgbClr val="FFFFFF"/>
              </a:solidFill>
              <a:cs typeface="Calibri"/>
            </a:endParaRPr>
          </a:p>
          <a:p>
            <a:r>
              <a:rPr lang="en-US" sz="2200">
                <a:ea typeface="+mn-lt"/>
                <a:cs typeface="+mn-lt"/>
              </a:rPr>
              <a:t>Which of the following is </a:t>
            </a:r>
            <a:r>
              <a:rPr lang="en-US" sz="2200" b="1">
                <a:ea typeface="+mn-lt"/>
                <a:cs typeface="+mn-lt"/>
              </a:rPr>
              <a:t>NOT</a:t>
            </a:r>
            <a:r>
              <a:rPr lang="en-US" sz="2200">
                <a:ea typeface="+mn-lt"/>
                <a:cs typeface="+mn-lt"/>
              </a:rPr>
              <a:t> true about Logistic Regression?</a:t>
            </a:r>
            <a:endParaRPr lang="en-US">
              <a:ea typeface="Calibri"/>
              <a:cs typeface="Calibri"/>
            </a:endParaRPr>
          </a:p>
          <a:p>
            <a:r>
              <a:rPr lang="en-US" sz="2200">
                <a:ea typeface="+mn-lt"/>
                <a:cs typeface="+mn-lt"/>
              </a:rPr>
              <a:t>a) It is used for binary classification problems</a:t>
            </a:r>
            <a:endParaRPr lang="en-US">
              <a:ea typeface="Calibri"/>
              <a:cs typeface="Calibri"/>
            </a:endParaRPr>
          </a:p>
          <a:p>
            <a:r>
              <a:rPr lang="en-US" sz="2200">
                <a:ea typeface="+mn-lt"/>
                <a:cs typeface="+mn-lt"/>
              </a:rPr>
              <a:t>b) It outputs probabilities for each class</a:t>
            </a:r>
            <a:endParaRPr lang="en-US">
              <a:ea typeface="Calibri"/>
              <a:cs typeface="Calibri"/>
            </a:endParaRPr>
          </a:p>
          <a:p>
            <a:r>
              <a:rPr lang="en-US" sz="2200">
                <a:ea typeface="+mn-lt"/>
                <a:cs typeface="+mn-lt"/>
              </a:rPr>
              <a:t>c) It minimizes the Mean Square Error</a:t>
            </a:r>
            <a:endParaRPr lang="en-US">
              <a:ea typeface="Calibri"/>
              <a:cs typeface="Calibri"/>
            </a:endParaRPr>
          </a:p>
          <a:p>
            <a:r>
              <a:rPr lang="en-US" sz="2200">
                <a:ea typeface="+mn-lt"/>
                <a:cs typeface="+mn-lt"/>
              </a:rPr>
              <a:t>d) It uses the sigmoid function to predict outcomes</a:t>
            </a:r>
            <a:endParaRPr lang="en-US">
              <a:ea typeface="Calibri"/>
              <a:cs typeface="Calibri"/>
            </a:endParaRPr>
          </a:p>
          <a:p>
            <a:endParaRPr lang="en-US" sz="2200">
              <a:ea typeface="+mn-lt"/>
              <a:cs typeface="+mn-lt"/>
            </a:endParaRPr>
          </a:p>
          <a:p>
            <a:pPr>
              <a:buFont typeface="Arial"/>
            </a:pPr>
            <a:r>
              <a:rPr lang="en-US" sz="2200">
                <a:ea typeface="+mn-lt"/>
                <a:cs typeface="+mn-lt"/>
              </a:rPr>
              <a:t>Regularization techniques like L1 and L2 are used to address:</a:t>
            </a:r>
            <a:endParaRPr lang="en-US">
              <a:ea typeface="Calibri"/>
              <a:cs typeface="Calibri"/>
            </a:endParaRPr>
          </a:p>
          <a:p>
            <a:r>
              <a:rPr lang="en-US" sz="2200">
                <a:ea typeface="+mn-lt"/>
                <a:cs typeface="+mn-lt"/>
              </a:rPr>
              <a:t>a) Missing data in a dataset</a:t>
            </a:r>
            <a:endParaRPr lang="en-US">
              <a:ea typeface="Calibri"/>
              <a:cs typeface="Calibri"/>
            </a:endParaRPr>
          </a:p>
          <a:p>
            <a:r>
              <a:rPr lang="en-US" sz="2200">
                <a:ea typeface="+mn-lt"/>
                <a:cs typeface="+mn-lt"/>
              </a:rPr>
              <a:t>b) Overfitting and underfitting in machine learning models</a:t>
            </a:r>
            <a:endParaRPr lang="en-US">
              <a:ea typeface="Calibri"/>
              <a:cs typeface="Calibri"/>
            </a:endParaRPr>
          </a:p>
          <a:p>
            <a:r>
              <a:rPr lang="en-US" sz="2200">
                <a:ea typeface="+mn-lt"/>
                <a:cs typeface="+mn-lt"/>
              </a:rPr>
              <a:t>c) Scaling of features for training</a:t>
            </a:r>
            <a:endParaRPr lang="en-US">
              <a:ea typeface="Calibri"/>
              <a:cs typeface="Calibri"/>
            </a:endParaRPr>
          </a:p>
          <a:p>
            <a:r>
              <a:rPr lang="en-US" sz="2200">
                <a:ea typeface="+mn-lt"/>
                <a:cs typeface="+mn-lt"/>
              </a:rPr>
              <a:t>d) Classification tasks</a:t>
            </a:r>
            <a:endParaRPr lang="en-US">
              <a:ea typeface="Calibri"/>
              <a:cs typeface="Calibri"/>
            </a:endParaRPr>
          </a:p>
          <a:p>
            <a:endParaRPr lang="en-US" sz="2200">
              <a:ea typeface="Calibri"/>
              <a:cs typeface="Calibri"/>
            </a:endParaRPr>
          </a:p>
          <a:p>
            <a:pPr>
              <a:buFont typeface="Arial"/>
              <a:buChar char="•"/>
            </a:pPr>
            <a:endParaRPr lang="en-US" sz="2200">
              <a:ea typeface="Calibri"/>
              <a:cs typeface="Calibri"/>
            </a:endParaRPr>
          </a:p>
          <a:p>
            <a:pPr marL="285750" indent="-285750">
              <a:buFont typeface="Wingdings,Sans-Serif"/>
              <a:buChar char="Ø"/>
            </a:pPr>
            <a:endParaRPr lang="en-US" sz="2200">
              <a:ea typeface="+mn-lt"/>
              <a:cs typeface="+mn-lt"/>
            </a:endParaRP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Arial"/>
              <a:buChar char="•"/>
            </a:pPr>
            <a:endParaRPr lang="en-US" b="1">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17266013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04FD6CF7-5E8E-8D96-C47E-5449FCAAE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F4DB231C-3339-D109-D1C3-13E8594DAFDF}"/>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cs typeface="Calibri"/>
              </a:rPr>
              <a:t>QUIZ</a:t>
            </a:r>
          </a:p>
        </p:txBody>
      </p:sp>
      <p:sp>
        <p:nvSpPr>
          <p:cNvPr id="3" name="TextBox 2">
            <a:extLst>
              <a:ext uri="{FF2B5EF4-FFF2-40B4-BE49-F238E27FC236}">
                <a16:creationId xmlns:a16="http://schemas.microsoft.com/office/drawing/2014/main" id="{E2BBD86E-6F69-5124-90B0-D37C50FC9BD4}"/>
              </a:ext>
            </a:extLst>
          </p:cNvPr>
          <p:cNvSpPr txBox="1"/>
          <p:nvPr/>
        </p:nvSpPr>
        <p:spPr>
          <a:xfrm>
            <a:off x="1101307" y="1374476"/>
            <a:ext cx="10003764" cy="1419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FFFFFF"/>
                </a:solidFill>
                <a:ea typeface="+mn-lt"/>
                <a:cs typeface="+mn-lt"/>
              </a:rPr>
              <a:t>Agents can be grouped into five classes based on their degree of perceived intelligence and </a:t>
            </a:r>
            <a:r>
              <a:rPr lang="en-US" sz="1400" err="1">
                <a:solidFill>
                  <a:srgbClr val="FFFFFF"/>
                </a:solidFill>
                <a:ea typeface="+mn-lt"/>
                <a:cs typeface="+mn-lt"/>
              </a:rPr>
              <a:t>i</a:t>
            </a:r>
            <a:endParaRPr lang="en-US" sz="1400" err="1">
              <a:solidFill>
                <a:srgbClr val="FFFFFF"/>
              </a:solidFill>
              <a:cs typeface="Calibri"/>
            </a:endParaRPr>
          </a:p>
          <a:p>
            <a:pPr marL="342900" indent="-342900">
              <a:buFont typeface="Wingdings"/>
              <a:buChar char="Ø"/>
            </a:pPr>
            <a:r>
              <a:rPr lang="en-US" sz="2200">
                <a:ea typeface="+mn-lt"/>
                <a:cs typeface="+mn-lt"/>
              </a:rPr>
              <a:t>What is the primary purpose of regression in machine learning?</a:t>
            </a:r>
          </a:p>
          <a:p>
            <a:r>
              <a:rPr lang="en-US" sz="2200">
                <a:ea typeface="+mn-lt"/>
                <a:cs typeface="+mn-lt"/>
              </a:rPr>
              <a:t>a) Classify data into categories</a:t>
            </a:r>
          </a:p>
          <a:p>
            <a:r>
              <a:rPr lang="en-US" sz="2200">
                <a:ea typeface="+mn-lt"/>
                <a:cs typeface="+mn-lt"/>
              </a:rPr>
              <a:t>b) Predict continuous values</a:t>
            </a:r>
          </a:p>
          <a:p>
            <a:r>
              <a:rPr lang="en-US" sz="2200">
                <a:ea typeface="+mn-lt"/>
                <a:cs typeface="+mn-lt"/>
              </a:rPr>
              <a:t>c) Reduce dimensionality of data</a:t>
            </a:r>
          </a:p>
          <a:p>
            <a:r>
              <a:rPr lang="en-US" sz="2200">
                <a:ea typeface="+mn-lt"/>
                <a:cs typeface="+mn-lt"/>
              </a:rPr>
              <a:t>d) Group similar data points</a:t>
            </a:r>
          </a:p>
          <a:p>
            <a:endParaRPr lang="en-US" sz="2200">
              <a:ea typeface="+mn-lt"/>
              <a:cs typeface="+mn-lt"/>
            </a:endParaRPr>
          </a:p>
          <a:p>
            <a:pPr marL="342900" indent="-342900">
              <a:buFont typeface="Wingdings"/>
              <a:buChar char="Ø"/>
            </a:pPr>
            <a:r>
              <a:rPr lang="en-US" sz="2200">
                <a:ea typeface="+mn-lt"/>
                <a:cs typeface="+mn-lt"/>
              </a:rPr>
              <a:t>Which regression technique is best suited for modeling a dataset where the relationship between variables is non-linear?</a:t>
            </a:r>
          </a:p>
          <a:p>
            <a:r>
              <a:rPr lang="en-US" sz="2200">
                <a:ea typeface="+mn-lt"/>
                <a:cs typeface="+mn-lt"/>
              </a:rPr>
              <a:t>a) Univariate Linear Regression</a:t>
            </a:r>
          </a:p>
          <a:p>
            <a:r>
              <a:rPr lang="en-US" sz="2200">
                <a:ea typeface="+mn-lt"/>
                <a:cs typeface="+mn-lt"/>
              </a:rPr>
              <a:t>b) Polynomial Regression</a:t>
            </a:r>
          </a:p>
          <a:p>
            <a:r>
              <a:rPr lang="en-US" sz="2200">
                <a:ea typeface="+mn-lt"/>
                <a:cs typeface="+mn-lt"/>
              </a:rPr>
              <a:t>c) Multivariate Linear Regression</a:t>
            </a:r>
          </a:p>
          <a:p>
            <a:r>
              <a:rPr lang="en-US" sz="2200">
                <a:ea typeface="+mn-lt"/>
                <a:cs typeface="+mn-lt"/>
              </a:rPr>
              <a:t>d) Regularized Regression</a:t>
            </a: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Wingdings"/>
              <a:buChar char="Ø"/>
            </a:pPr>
            <a:endParaRPr lang="en-US" b="1">
              <a:ea typeface="Calibri"/>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114806544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5B47-B08E-20D1-36F8-36192BE10CD1}"/>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429742F0-AA65-B884-BA1C-A52E00C75639}"/>
              </a:ext>
            </a:extLst>
          </p:cNvPr>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D1D53971-0470-99E5-5678-A61C1C5CDD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0F006110-FAE4-1D7B-1727-B9894F749B62}"/>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cs typeface="Calibri"/>
              </a:rPr>
              <a:t>QUIZ</a:t>
            </a:r>
          </a:p>
        </p:txBody>
      </p:sp>
      <p:sp>
        <p:nvSpPr>
          <p:cNvPr id="3" name="TextBox 2">
            <a:extLst>
              <a:ext uri="{FF2B5EF4-FFF2-40B4-BE49-F238E27FC236}">
                <a16:creationId xmlns:a16="http://schemas.microsoft.com/office/drawing/2014/main" id="{782F85C1-4DAF-A0A6-1048-F13097E0D2E9}"/>
              </a:ext>
            </a:extLst>
          </p:cNvPr>
          <p:cNvSpPr txBox="1"/>
          <p:nvPr/>
        </p:nvSpPr>
        <p:spPr>
          <a:xfrm>
            <a:off x="1101307" y="1374476"/>
            <a:ext cx="10003764" cy="1419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FFFFFF"/>
                </a:solidFill>
                <a:ea typeface="+mn-lt"/>
                <a:cs typeface="+mn-lt"/>
              </a:rPr>
              <a:t>Agents can be grouped into five classes based on their degree of perceived intelligence and </a:t>
            </a:r>
            <a:r>
              <a:rPr lang="en-US" sz="1400" err="1">
                <a:solidFill>
                  <a:srgbClr val="FFFFFF"/>
                </a:solidFill>
                <a:ea typeface="+mn-lt"/>
                <a:cs typeface="+mn-lt"/>
              </a:rPr>
              <a:t>i</a:t>
            </a:r>
            <a:endParaRPr lang="en-US" sz="1400" err="1">
              <a:solidFill>
                <a:srgbClr val="FFFFFF"/>
              </a:solidFill>
              <a:cs typeface="Calibri"/>
            </a:endParaRPr>
          </a:p>
          <a:p>
            <a:pPr marL="342900" indent="-342900">
              <a:buFont typeface="Wingdings"/>
              <a:buChar char="Ø"/>
            </a:pPr>
            <a:r>
              <a:rPr lang="en-US" sz="2200">
                <a:ea typeface="+mn-lt"/>
                <a:cs typeface="+mn-lt"/>
              </a:rPr>
              <a:t>What is the primary purpose of regression in machine learning?</a:t>
            </a:r>
          </a:p>
          <a:p>
            <a:r>
              <a:rPr lang="en-US" sz="2200">
                <a:ea typeface="+mn-lt"/>
                <a:cs typeface="+mn-lt"/>
              </a:rPr>
              <a:t>a) Classify data into categories</a:t>
            </a:r>
          </a:p>
          <a:p>
            <a:r>
              <a:rPr lang="en-US" sz="2200">
                <a:ea typeface="+mn-lt"/>
                <a:cs typeface="+mn-lt"/>
              </a:rPr>
              <a:t>b) Predict continuous values</a:t>
            </a:r>
          </a:p>
          <a:p>
            <a:r>
              <a:rPr lang="en-US" sz="2200">
                <a:ea typeface="+mn-lt"/>
                <a:cs typeface="+mn-lt"/>
              </a:rPr>
              <a:t>c) Reduce dimensionality of data</a:t>
            </a:r>
          </a:p>
          <a:p>
            <a:r>
              <a:rPr lang="en-US" sz="2200">
                <a:ea typeface="+mn-lt"/>
                <a:cs typeface="+mn-lt"/>
              </a:rPr>
              <a:t>d) Group similar data points</a:t>
            </a:r>
          </a:p>
          <a:p>
            <a:endParaRPr lang="en-US" sz="2200">
              <a:ea typeface="+mn-lt"/>
              <a:cs typeface="+mn-lt"/>
            </a:endParaRPr>
          </a:p>
          <a:p>
            <a:pPr marL="342900" indent="-342900">
              <a:buFont typeface="Wingdings"/>
              <a:buChar char="Ø"/>
            </a:pPr>
            <a:r>
              <a:rPr lang="en-US" sz="2200">
                <a:ea typeface="+mn-lt"/>
                <a:cs typeface="+mn-lt"/>
              </a:rPr>
              <a:t>Which regression technique is best suited for modeling a dataset where the relationship between variables is non-linear?</a:t>
            </a:r>
          </a:p>
          <a:p>
            <a:r>
              <a:rPr lang="en-US" sz="2200">
                <a:ea typeface="+mn-lt"/>
                <a:cs typeface="+mn-lt"/>
              </a:rPr>
              <a:t>a) Univariate Linear Regression</a:t>
            </a:r>
          </a:p>
          <a:p>
            <a:r>
              <a:rPr lang="en-US" sz="2200">
                <a:ea typeface="+mn-lt"/>
                <a:cs typeface="+mn-lt"/>
              </a:rPr>
              <a:t>b) Polynomial Regression</a:t>
            </a:r>
          </a:p>
          <a:p>
            <a:r>
              <a:rPr lang="en-US" sz="2200">
                <a:ea typeface="+mn-lt"/>
                <a:cs typeface="+mn-lt"/>
              </a:rPr>
              <a:t>c) Multivariate Linear Regression</a:t>
            </a:r>
          </a:p>
          <a:p>
            <a:r>
              <a:rPr lang="en-US" sz="2200">
                <a:ea typeface="+mn-lt"/>
                <a:cs typeface="+mn-lt"/>
              </a:rPr>
              <a:t>d) Regularized Regression</a:t>
            </a: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Wingdings"/>
              <a:buChar char="Ø"/>
            </a:pPr>
            <a:endParaRPr lang="en-US" b="1">
              <a:ea typeface="Calibri"/>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39126136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AA695-A4DF-ECF6-64F3-F82CC2EA69E1}"/>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C482CC6-9204-243A-43DE-0BA34D5D7D83}"/>
              </a:ext>
            </a:extLst>
          </p:cNvPr>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08263429-3811-D902-392E-9D6847625A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2202CC96-0EE0-5BC7-298B-0CC459FC9579}"/>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t>ASSIGNMENTS</a:t>
            </a:r>
          </a:p>
        </p:txBody>
      </p:sp>
      <p:sp>
        <p:nvSpPr>
          <p:cNvPr id="3" name="TextBox 2">
            <a:extLst>
              <a:ext uri="{FF2B5EF4-FFF2-40B4-BE49-F238E27FC236}">
                <a16:creationId xmlns:a16="http://schemas.microsoft.com/office/drawing/2014/main" id="{14D21796-F8C3-2998-0791-4982B348972E}"/>
              </a:ext>
            </a:extLst>
          </p:cNvPr>
          <p:cNvSpPr txBox="1"/>
          <p:nvPr/>
        </p:nvSpPr>
        <p:spPr>
          <a:xfrm>
            <a:off x="1101307" y="1374476"/>
            <a:ext cx="10003764" cy="1434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FFFFFF"/>
                </a:solidFill>
                <a:ea typeface="+mn-lt"/>
                <a:cs typeface="+mn-lt"/>
              </a:rPr>
              <a:t>Agents can be grouped into five classes based on their degree of perceived intelligence and </a:t>
            </a:r>
            <a:r>
              <a:rPr lang="en-US" sz="1400" err="1">
                <a:solidFill>
                  <a:srgbClr val="FFFFFF"/>
                </a:solidFill>
                <a:ea typeface="+mn-lt"/>
                <a:cs typeface="+mn-lt"/>
              </a:rPr>
              <a:t>i</a:t>
            </a:r>
            <a:endParaRPr lang="en-US" sz="1400" err="1">
              <a:solidFill>
                <a:srgbClr val="FFFFFF"/>
              </a:solidFill>
              <a:cs typeface="Calibri"/>
            </a:endParaRPr>
          </a:p>
          <a:p>
            <a:pPr marL="342900" indent="-342900" algn="just">
              <a:buFont typeface="Arial,Sans-Serif"/>
              <a:buChar char="•"/>
            </a:pPr>
            <a:r>
              <a:rPr lang="en-US">
                <a:ea typeface="+mn-lt"/>
                <a:cs typeface="+mn-lt"/>
              </a:rPr>
              <a:t>Explain the difference between univariate, multivariate, and polynomial regression. Provide examples where each type would be applicable.</a:t>
            </a:r>
          </a:p>
          <a:p>
            <a:pPr marL="342900" indent="-342900" algn="just">
              <a:buFont typeface="Arial,Sans-Serif"/>
              <a:buChar char="•"/>
            </a:pPr>
            <a:r>
              <a:rPr lang="en-US">
                <a:ea typeface="+mn-lt"/>
                <a:cs typeface="+mn-lt"/>
              </a:rPr>
              <a:t>Write a Python program to implement linear regression using the </a:t>
            </a:r>
            <a:r>
              <a:rPr lang="en-US" err="1">
                <a:ea typeface="+mn-lt"/>
                <a:cs typeface="+mn-lt"/>
              </a:rPr>
              <a:t>sklearn</a:t>
            </a:r>
            <a:r>
              <a:rPr lang="en-US">
                <a:ea typeface="+mn-lt"/>
                <a:cs typeface="+mn-lt"/>
              </a:rPr>
              <a:t> library and evaluate it using Mean Square Error (MSE) and R-squared metrics.</a:t>
            </a:r>
          </a:p>
          <a:p>
            <a:pPr marL="342900" indent="-342900" algn="just">
              <a:buFont typeface="Arial,Sans-Serif"/>
              <a:buChar char="•"/>
            </a:pPr>
            <a:r>
              <a:rPr lang="en-US">
                <a:ea typeface="+mn-lt"/>
                <a:cs typeface="+mn-lt"/>
              </a:rPr>
              <a:t>Logistic regression is used for classification problems. Explain how the sigmoid function is used in logistic regression and its significance.</a:t>
            </a:r>
          </a:p>
          <a:p>
            <a:pPr marL="342900" indent="-342900" algn="just">
              <a:buFont typeface="Arial,Sans-Serif"/>
              <a:buChar char="•"/>
            </a:pPr>
            <a:r>
              <a:rPr lang="en-US">
                <a:ea typeface="+mn-lt"/>
                <a:cs typeface="+mn-lt"/>
              </a:rPr>
              <a:t>Explain the concepts of bias and variance in machine learning. How do they relate to overfitting and underfitting?</a:t>
            </a:r>
          </a:p>
          <a:p>
            <a:pPr marL="342900" indent="-342900" algn="just">
              <a:buFont typeface="Arial,Sans-Serif"/>
              <a:buChar char="•"/>
            </a:pPr>
            <a:r>
              <a:rPr lang="en-US">
                <a:ea typeface="+mn-lt"/>
                <a:cs typeface="+mn-lt"/>
              </a:rPr>
              <a:t>Compare L1 (Lasso) and L2 (Ridge) regularization. When would you use each of these techniques? Write Python code to demonstrate regularized linear regression using Ridge regression.</a:t>
            </a:r>
          </a:p>
          <a:p>
            <a:pPr marL="342900" indent="-342900" algn="just">
              <a:buFont typeface="Arial,Sans-Serif"/>
              <a:buChar char="•"/>
            </a:pPr>
            <a:r>
              <a:rPr lang="en-US">
                <a:ea typeface="+mn-lt"/>
                <a:cs typeface="+mn-lt"/>
              </a:rPr>
              <a:t>Compare the ID3, C4.5, and CART algorithms for decision trees. Highlight their key differences and use cases.</a:t>
            </a:r>
          </a:p>
          <a:p>
            <a:pPr marL="342900" indent="-342900" algn="just">
              <a:buFont typeface="Arial,Sans-Serif"/>
              <a:buChar char="•"/>
            </a:pPr>
            <a:r>
              <a:rPr lang="en-US">
                <a:ea typeface="+mn-lt"/>
                <a:cs typeface="+mn-lt"/>
              </a:rPr>
              <a:t>Use the </a:t>
            </a:r>
            <a:r>
              <a:rPr lang="en-US" err="1">
                <a:ea typeface="+mn-lt"/>
                <a:cs typeface="+mn-lt"/>
              </a:rPr>
              <a:t>sklearn</a:t>
            </a:r>
            <a:r>
              <a:rPr lang="en-US">
                <a:ea typeface="+mn-lt"/>
                <a:cs typeface="+mn-lt"/>
              </a:rPr>
              <a:t> library to implement a decision tree classifier on any dataset of your choice. Display the confusion matrix and interpret the results.</a:t>
            </a:r>
          </a:p>
          <a:p>
            <a:pPr marL="342900" indent="-342900">
              <a:buFont typeface="Wingdings"/>
              <a:buChar char="Ø"/>
            </a:pPr>
            <a:endParaRPr lang="en-US" sz="2200">
              <a:ea typeface="+mn-lt"/>
              <a:cs typeface="+mn-lt"/>
            </a:endParaRP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Wingdings"/>
              <a:buChar char="Ø"/>
            </a:pPr>
            <a:endParaRPr lang="en-US" b="1">
              <a:ea typeface="Calibri"/>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1160545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092B-6683-C8FC-697F-6F271EF6CCD4}"/>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F4D8923-0750-E2B4-DE54-1A33F92922B9}"/>
              </a:ext>
            </a:extLst>
          </p:cNvPr>
          <p:cNvSpPr>
            <a:spLocks noGrp="1"/>
          </p:cNvSpPr>
          <p:nvPr>
            <p:ph idx="1"/>
          </p:nvPr>
        </p:nvSpPr>
        <p:spPr>
          <a:xfrm>
            <a:off x="2209800" y="1657351"/>
            <a:ext cx="8286750" cy="3394472"/>
          </a:xfrm>
        </p:spPr>
        <p:txBody>
          <a:bodyPr vert="horz" lIns="91440" tIns="45720" rIns="91440" bIns="45720" rtlCol="0" anchor="t">
            <a:normAutofit/>
          </a:bodyPr>
          <a:lstStyle/>
          <a:p>
            <a:pPr marL="0" indent="0" algn="just">
              <a:buNone/>
            </a:pPr>
            <a:endParaRPr lang="en-US" sz="2100"/>
          </a:p>
          <a:p>
            <a:pPr>
              <a:buNone/>
            </a:pPr>
            <a:endParaRPr lang="en-US">
              <a:cs typeface="Calibri"/>
            </a:endParaRPr>
          </a:p>
        </p:txBody>
      </p:sp>
      <p:pic>
        <p:nvPicPr>
          <p:cNvPr id="10" name="Picture 9" descr="A black and red logo&#10;&#10;Description automatically generated">
            <a:extLst>
              <a:ext uri="{FF2B5EF4-FFF2-40B4-BE49-F238E27FC236}">
                <a16:creationId xmlns:a16="http://schemas.microsoft.com/office/drawing/2014/main" id="{F9F6EE2C-DE97-9D94-466B-D4794F3117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Title 1">
            <a:extLst>
              <a:ext uri="{FF2B5EF4-FFF2-40B4-BE49-F238E27FC236}">
                <a16:creationId xmlns:a16="http://schemas.microsoft.com/office/drawing/2014/main" id="{8B36C65B-2F58-38E5-FBD6-AB0A1E489FEB}"/>
              </a:ext>
            </a:extLst>
          </p:cNvPr>
          <p:cNvSpPr txBox="1">
            <a:spLocks/>
          </p:cNvSpPr>
          <p:nvPr/>
        </p:nvSpPr>
        <p:spPr>
          <a:xfrm>
            <a:off x="2209800" y="0"/>
            <a:ext cx="9982200"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2800" b="1"/>
              <a:t>References</a:t>
            </a:r>
          </a:p>
        </p:txBody>
      </p:sp>
      <p:sp>
        <p:nvSpPr>
          <p:cNvPr id="3" name="TextBox 2">
            <a:extLst>
              <a:ext uri="{FF2B5EF4-FFF2-40B4-BE49-F238E27FC236}">
                <a16:creationId xmlns:a16="http://schemas.microsoft.com/office/drawing/2014/main" id="{5511FFF4-75D6-1608-1D2A-1A8FB8B1976C}"/>
              </a:ext>
            </a:extLst>
          </p:cNvPr>
          <p:cNvSpPr txBox="1"/>
          <p:nvPr/>
        </p:nvSpPr>
        <p:spPr>
          <a:xfrm>
            <a:off x="1101307" y="1374476"/>
            <a:ext cx="10003764" cy="1416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FFFFFF"/>
                </a:solidFill>
                <a:ea typeface="+mn-lt"/>
                <a:cs typeface="+mn-lt"/>
              </a:rPr>
              <a:t>Agents can be grouped into five classes based on their degree of perceived intelligence and </a:t>
            </a:r>
            <a:r>
              <a:rPr lang="en-US" sz="1400" err="1">
                <a:solidFill>
                  <a:srgbClr val="FFFFFF"/>
                </a:solidFill>
                <a:ea typeface="+mn-lt"/>
                <a:cs typeface="+mn-lt"/>
              </a:rPr>
              <a:t>i</a:t>
            </a:r>
            <a:endParaRPr lang="en-US" sz="1400" err="1">
              <a:solidFill>
                <a:srgbClr val="FFFFFF"/>
              </a:solidFill>
              <a:cs typeface="Calibri"/>
            </a:endParaRPr>
          </a:p>
          <a:p>
            <a:pPr marL="285750" indent="-285750" algn="just">
              <a:buFont typeface="Wingdings,Sans-Serif"/>
              <a:buChar char="Ø"/>
            </a:pPr>
            <a:r>
              <a:rPr lang="en-US" sz="2000">
                <a:latin typeface="Times New Roman"/>
                <a:ea typeface="+mn-lt"/>
                <a:cs typeface="Times New Roman"/>
              </a:rPr>
              <a:t>Introduction to Statistical Learning, Springer, 2013 By Gareth James, Daniela Witten, Trevor Hastie, Robert </a:t>
            </a:r>
            <a:r>
              <a:rPr lang="en-US" sz="2000" err="1">
                <a:latin typeface="Times New Roman"/>
                <a:ea typeface="+mn-lt"/>
                <a:cs typeface="Times New Roman"/>
              </a:rPr>
              <a:t>Tibshirani</a:t>
            </a:r>
            <a:r>
              <a:rPr lang="en-US" sz="2000">
                <a:latin typeface="Times New Roman"/>
                <a:ea typeface="+mn-lt"/>
                <a:cs typeface="Times New Roman"/>
              </a:rPr>
              <a:t>.</a:t>
            </a:r>
          </a:p>
          <a:p>
            <a:pPr marL="285750" indent="-285750" algn="just">
              <a:buFont typeface="Wingdings,Sans-Serif"/>
              <a:buChar char="Ø"/>
            </a:pPr>
            <a:endParaRPr lang="en-US" sz="2000">
              <a:latin typeface="Times New Roman"/>
              <a:ea typeface="+mn-lt"/>
              <a:cs typeface="Times New Roman"/>
            </a:endParaRPr>
          </a:p>
          <a:p>
            <a:pPr marL="285750" indent="-285750" algn="just">
              <a:buFont typeface="Wingdings,Sans-Serif"/>
              <a:buChar char="Ø"/>
            </a:pPr>
            <a:r>
              <a:rPr lang="en-US" sz="2000">
                <a:latin typeface="Times New Roman"/>
                <a:ea typeface="+mn-lt"/>
                <a:cs typeface="Times New Roman"/>
              </a:rPr>
              <a:t>Pattern Classification, 2nd Ed., John Wiley &amp; Sons, 2001, Richard Duda, Peter Hart, David Stork.</a:t>
            </a:r>
          </a:p>
          <a:p>
            <a:pPr marL="285750" indent="-285750" algn="just">
              <a:buFont typeface="Wingdings,Sans-Serif"/>
              <a:buChar char="Ø"/>
            </a:pPr>
            <a:endParaRPr lang="en-US" sz="2000">
              <a:latin typeface="Times New Roman"/>
              <a:ea typeface="+mn-lt"/>
              <a:cs typeface="Times New Roman"/>
            </a:endParaRPr>
          </a:p>
          <a:p>
            <a:pPr marL="285750" indent="-285750" algn="just">
              <a:buFont typeface="Wingdings,Sans-Serif"/>
              <a:buChar char="Ø"/>
            </a:pPr>
            <a:r>
              <a:rPr lang="en-US" sz="2000">
                <a:latin typeface="Times New Roman"/>
                <a:ea typeface="+mn-lt"/>
                <a:cs typeface="Times New Roman"/>
              </a:rPr>
              <a:t>Machine Learning, McGraw Hill International Edition, by </a:t>
            </a:r>
            <a:r>
              <a:rPr lang="en-US" sz="2000" err="1">
                <a:latin typeface="Times New Roman"/>
                <a:ea typeface="+mn-lt"/>
                <a:cs typeface="Times New Roman"/>
              </a:rPr>
              <a:t>Tom.M.Mitchell</a:t>
            </a:r>
            <a:r>
              <a:rPr lang="en-US" sz="2000">
                <a:latin typeface="Times New Roman"/>
                <a:ea typeface="+mn-lt"/>
                <a:cs typeface="Times New Roman"/>
              </a:rPr>
              <a:t>.</a:t>
            </a:r>
          </a:p>
          <a:p>
            <a:pPr marL="285750" indent="-285750" algn="just">
              <a:buFont typeface="Wingdings,Sans-Serif"/>
              <a:buChar char="Ø"/>
            </a:pPr>
            <a:endParaRPr lang="en-US" sz="2000">
              <a:latin typeface="Times New Roman"/>
              <a:ea typeface="+mn-lt"/>
              <a:cs typeface="Times New Roman"/>
            </a:endParaRPr>
          </a:p>
          <a:p>
            <a:pPr marL="285750" indent="-285750" algn="just">
              <a:buFont typeface="Wingdings,Sans-Serif"/>
              <a:buChar char="Ø"/>
            </a:pPr>
            <a:r>
              <a:rPr lang="en-US" sz="2000">
                <a:latin typeface="Times New Roman"/>
                <a:ea typeface="+mn-lt"/>
                <a:cs typeface="Times New Roman"/>
              </a:rPr>
              <a:t>Introduction to Machine Learning, Eastern Economy Edition, Prentice Hall of India, 2005 By Ethern </a:t>
            </a:r>
            <a:r>
              <a:rPr lang="en-US" sz="2000" err="1">
                <a:latin typeface="Times New Roman"/>
                <a:ea typeface="+mn-lt"/>
                <a:cs typeface="Times New Roman"/>
              </a:rPr>
              <a:t>Alpaydin</a:t>
            </a:r>
            <a:r>
              <a:rPr lang="en-US" sz="2000">
                <a:latin typeface="Times New Roman"/>
                <a:ea typeface="+mn-lt"/>
                <a:cs typeface="Times New Roman"/>
              </a:rPr>
              <a:t>.</a:t>
            </a:r>
          </a:p>
          <a:p>
            <a:pPr marL="285750" indent="-285750" algn="just">
              <a:buFont typeface="Wingdings,Sans-Serif"/>
              <a:buChar char="Ø"/>
            </a:pPr>
            <a:endParaRPr lang="en-US" sz="2000">
              <a:latin typeface="Times New Roman"/>
              <a:ea typeface="+mn-lt"/>
              <a:cs typeface="Times New Roman"/>
            </a:endParaRPr>
          </a:p>
          <a:p>
            <a:pPr marL="285750" indent="-285750" algn="just">
              <a:buFont typeface="Wingdings,Sans-Serif"/>
              <a:buChar char="Ø"/>
            </a:pPr>
            <a:r>
              <a:rPr lang="en-US" sz="2000">
                <a:latin typeface="Times New Roman"/>
                <a:ea typeface="+mn-lt"/>
                <a:cs typeface="Times New Roman"/>
              </a:rPr>
              <a:t>Pattern Recognition and Machine Learning. Berlin: Springer-Verlag., Bishop, C.</a:t>
            </a:r>
            <a:endParaRPr lang="en-US"/>
          </a:p>
          <a:p>
            <a:pPr marL="342900" indent="-342900">
              <a:buFont typeface="Wingdings"/>
              <a:buChar char="Ø"/>
            </a:pPr>
            <a:endParaRPr lang="en-US" sz="2200">
              <a:ea typeface="+mn-lt"/>
              <a:cs typeface="+mn-lt"/>
            </a:endParaRPr>
          </a:p>
          <a:p>
            <a:pPr algn="just"/>
            <a:endParaRPr lang="en-IN" sz="2200" b="1">
              <a:ea typeface="+mn-lt"/>
              <a:cs typeface="+mn-lt"/>
            </a:endParaRPr>
          </a:p>
          <a:p>
            <a:pPr algn="just"/>
            <a:br>
              <a:rPr lang="en-US"/>
            </a:br>
            <a:endParaRPr lang="en-US"/>
          </a:p>
          <a:p>
            <a:pPr>
              <a:spcBef>
                <a:spcPct val="20000"/>
              </a:spcBef>
            </a:pPr>
            <a:endParaRPr lang="en-IN" sz="2200">
              <a:cs typeface="Calibri"/>
            </a:endParaRPr>
          </a:p>
          <a:p>
            <a:pPr algn="just"/>
            <a:endParaRPr lang="en-US">
              <a:cs typeface="Calibri"/>
            </a:endParaRPr>
          </a:p>
          <a:p>
            <a:pPr algn="just"/>
            <a:endParaRPr lang="en-US">
              <a:cs typeface="Calibri"/>
            </a:endParaRPr>
          </a:p>
          <a:p>
            <a:pPr algn="just">
              <a:buFont typeface="Wingdings"/>
              <a:buChar char="Ø"/>
            </a:pPr>
            <a:endParaRPr lang="en-US" b="1">
              <a:ea typeface="Calibri"/>
              <a:cs typeface="Calibri"/>
            </a:endParaRPr>
          </a:p>
          <a:p>
            <a:pPr algn="just"/>
            <a:endParaRPr lang="en-US">
              <a:cs typeface="Calibri"/>
            </a:endParaRPr>
          </a:p>
          <a:p>
            <a:pPr lvl="1" algn="just"/>
            <a:br>
              <a:rPr lang="en-US"/>
            </a:br>
            <a:endParaRPr lang="en-US">
              <a:cs typeface="Calibri"/>
            </a:endParaRPr>
          </a:p>
          <a:p>
            <a:pPr algn="just"/>
            <a:endParaRPr lang="en-US">
              <a:cs typeface="Calibri"/>
            </a:endParaRPr>
          </a:p>
          <a:p>
            <a:pPr algn="just"/>
            <a:br>
              <a:rPr lang="en-US"/>
            </a:br>
            <a:endParaRPr lang="en-US"/>
          </a:p>
          <a:p>
            <a:pPr algn="just"/>
            <a:endParaRPr lang="en-US">
              <a:cs typeface="Calibri"/>
            </a:endParaRPr>
          </a:p>
          <a:p>
            <a:pPr algn="just"/>
            <a:endParaRPr lang="en-US" b="1">
              <a:cs typeface="Calibri"/>
            </a:endParaRPr>
          </a:p>
          <a:p>
            <a:pPr algn="just"/>
            <a:endParaRPr lang="en-US">
              <a:cs typeface="Calibri"/>
            </a:endParaRPr>
          </a:p>
          <a:p>
            <a:pPr algn="just"/>
            <a:endParaRPr lang="en-US">
              <a:cs typeface="Calibri"/>
            </a:endParaRPr>
          </a:p>
          <a:p>
            <a:pPr algn="just"/>
            <a:endParaRPr lang="en-US" b="1">
              <a:cs typeface="Calibri"/>
            </a:endParaRPr>
          </a:p>
          <a:p>
            <a:pPr algn="just"/>
            <a:endParaRPr lang="en-US" b="1">
              <a:cs typeface="Calibri"/>
            </a:endParaRPr>
          </a:p>
          <a:p>
            <a:pPr algn="just"/>
            <a:endParaRPr lang="en-US">
              <a:cs typeface="Calibri"/>
            </a:endParaRPr>
          </a:p>
          <a:p>
            <a:pPr algn="just"/>
            <a:endParaRPr lang="en-US" b="1">
              <a:cs typeface="Calibri"/>
            </a:endParaRPr>
          </a:p>
          <a:p>
            <a:pPr algn="just"/>
            <a:br>
              <a:rPr lang="en-US"/>
            </a:br>
            <a:endParaRPr lang="en-US"/>
          </a:p>
          <a:p>
            <a:endParaRPr lang="en-US">
              <a:cs typeface="Calibri"/>
            </a:endParaRPr>
          </a:p>
          <a:p>
            <a:endParaRPr lang="en-US">
              <a:cs typeface="Calibri"/>
            </a:endParaRPr>
          </a:p>
          <a:p>
            <a:endParaRPr lang="en-US" b="1">
              <a:cs typeface="Calibri"/>
            </a:endParaRPr>
          </a:p>
          <a:p>
            <a:endParaRPr lang="en-US" b="1">
              <a:cs typeface="Calibri"/>
            </a:endParaRPr>
          </a:p>
          <a:p>
            <a:endParaRPr lang="en-US">
              <a:cs typeface="Calibri"/>
            </a:endParaRPr>
          </a:p>
          <a:p>
            <a:endParaRPr lang="en-US">
              <a:cs typeface="Calibri"/>
            </a:endParaRPr>
          </a:p>
          <a:p>
            <a:pPr marL="742950" lvl="1" indent="-285750">
              <a:buFont typeface="Arial"/>
              <a:buChar char="•"/>
            </a:pPr>
            <a:endParaRPr lang="en-US">
              <a:cs typeface="Calibri"/>
            </a:endParaRPr>
          </a:p>
          <a:p>
            <a:endParaRPr lang="en-US">
              <a:cs typeface="Calibri"/>
            </a:endParaRPr>
          </a:p>
          <a:p>
            <a:endParaRPr lang="en-US">
              <a:cs typeface="Calibri"/>
            </a:endParaRPr>
          </a:p>
          <a:p>
            <a:br>
              <a:rPr lang="en-US"/>
            </a:br>
            <a:endParaRPr lang="en-US">
              <a:cs typeface="Calibri"/>
            </a:endParaRPr>
          </a:p>
          <a:p>
            <a:pPr algn="just"/>
            <a:endParaRPr lang="en-US" sz="1400">
              <a:solidFill>
                <a:srgbClr val="FFFFFF"/>
              </a:solidFill>
              <a:cs typeface="Calibri"/>
            </a:endParaRPr>
          </a:p>
        </p:txBody>
      </p:sp>
    </p:spTree>
    <p:extLst>
      <p:ext uri="{BB962C8B-B14F-4D97-AF65-F5344CB8AC3E}">
        <p14:creationId xmlns:p14="http://schemas.microsoft.com/office/powerpoint/2010/main" val="41595783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44*378"/>
  <p:tag name="TABLE_ENDDRAG_RECT" val="71*78*844*37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42*431"/>
  <p:tag name="TABLE_ENDDRAG_RECT" val="65*50*842*431"/>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76*276"/>
  <p:tag name="TABLE_ENDDRAG_RECT" val="39*73*876*276"/>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713*225"/>
  <p:tag name="TABLE_ENDDRAG_RECT" val="104*187*713*2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7328</Words>
  <Application>Microsoft Office PowerPoint</Application>
  <PresentationFormat>Widescreen</PresentationFormat>
  <Paragraphs>1015</Paragraphs>
  <Slides>103</Slides>
  <Notes>96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103</vt:i4>
      </vt:variant>
    </vt:vector>
  </HeadingPairs>
  <TitlesOfParts>
    <vt:vector size="111" baseType="lpstr">
      <vt:lpstr>Arial</vt:lpstr>
      <vt:lpstr>Arial,Sans-Serif</vt:lpstr>
      <vt:lpstr>Calibri</vt:lpstr>
      <vt:lpstr>Calibri Light</vt:lpstr>
      <vt:lpstr>Times New Roman</vt:lpstr>
      <vt:lpstr>Wingdings</vt:lpstr>
      <vt:lpstr>Wingdings,Sans-Serif</vt:lpstr>
      <vt:lpstr>Office Theme</vt:lpstr>
      <vt:lpstr>PowerPoint Presentation</vt:lpstr>
      <vt:lpstr>Faculty Introduction</vt:lpstr>
      <vt:lpstr>Evaluation Scheme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rajcs</dc:creator>
  <cp:lastModifiedBy>Mohini Chakarverti</cp:lastModifiedBy>
  <cp:revision>33</cp:revision>
  <dcterms:created xsi:type="dcterms:W3CDTF">2024-10-07T16:18:00Z</dcterms:created>
  <dcterms:modified xsi:type="dcterms:W3CDTF">2025-10-13T06:57:07Z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F9C21A926F8047228114C92A04C06C4A_11</vt:lpwstr>
  </property>
  <property fmtid="{D5CDD505-2E9C-101B-9397-08002B2CF9AE}" pid="3" name="KSOProductBuildVer">
    <vt:lpwstr>1033-12.2.0.18283</vt:lpwstr>
  </property>
</Properties>
</file>