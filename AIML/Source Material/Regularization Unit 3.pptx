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smtClean="0"/>
              <a:t>Regularization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defRPr sz="1800"/>
            </a:pPr>
            <a:r>
              <a:rPr sz="2000" dirty="0"/>
              <a:t>Regularization is a technique used in machine learning to prevent overfitting and poor performance on unseen data. By adding a penalty for model complexity, regularization encourages simpler, more generalizable models.</a:t>
            </a:r>
          </a:p>
          <a:p>
            <a:pPr algn="just">
              <a:defRPr sz="1800"/>
            </a:pPr>
            <a:endParaRPr sz="2000" dirty="0"/>
          </a:p>
          <a:p>
            <a:pPr algn="just">
              <a:defRPr sz="1800"/>
            </a:pPr>
            <a:r>
              <a:rPr sz="2000" dirty="0"/>
              <a:t>It prevents overfitting by adding constraints to the model, reducing the risk of memorizing noise in the training data.</a:t>
            </a:r>
          </a:p>
          <a:p>
            <a:pPr algn="just">
              <a:defRPr sz="1800"/>
            </a:pPr>
            <a:r>
              <a:rPr sz="2000" dirty="0"/>
              <a:t>It improves generalization by encouraging simpler models that perform better on unseen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smtClean="0"/>
              <a:t>Types </a:t>
            </a:r>
            <a:r>
              <a:rPr b="1" dirty="0"/>
              <a:t>of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defRPr sz="1800"/>
            </a:pPr>
            <a:r>
              <a:rPr sz="2000" dirty="0"/>
              <a:t>There are mainly 3 types of regularization techniques, each applying penalties in different ways to control model complexity and improve generalization:</a:t>
            </a:r>
          </a:p>
          <a:p>
            <a:pPr algn="just">
              <a:defRPr sz="1800"/>
            </a:pPr>
            <a:endParaRPr sz="2000" dirty="0"/>
          </a:p>
          <a:p>
            <a:pPr marL="457200" indent="-457200" algn="just">
              <a:buFont typeface="+mj-lt"/>
              <a:buAutoNum type="arabicPeriod"/>
              <a:defRPr sz="1800"/>
            </a:pPr>
            <a:r>
              <a:rPr sz="2000" dirty="0" smtClean="0"/>
              <a:t>Lasso </a:t>
            </a:r>
            <a:r>
              <a:rPr sz="2000" dirty="0"/>
              <a:t>Regression (L1 Regularization)</a:t>
            </a:r>
          </a:p>
          <a:p>
            <a:pPr marL="457200" indent="-457200" algn="just">
              <a:buFont typeface="+mj-lt"/>
              <a:buAutoNum type="arabicPeriod"/>
              <a:defRPr sz="1800"/>
            </a:pPr>
            <a:r>
              <a:rPr sz="2000" dirty="0" smtClean="0"/>
              <a:t>Ridge </a:t>
            </a:r>
            <a:r>
              <a:rPr sz="2000" dirty="0"/>
              <a:t>Regression (L2 Regularization)</a:t>
            </a:r>
          </a:p>
          <a:p>
            <a:pPr marL="457200" indent="-457200" algn="just">
              <a:buFont typeface="+mj-lt"/>
              <a:buAutoNum type="arabicPeriod"/>
              <a:defRPr sz="1800"/>
            </a:pPr>
            <a:r>
              <a:rPr sz="2000" dirty="0" smtClean="0"/>
              <a:t>Elastic </a:t>
            </a:r>
            <a:r>
              <a:rPr sz="2000" dirty="0"/>
              <a:t>Net Regression (Combination of L1 and L2)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smtClean="0"/>
              <a:t>Lasso </a:t>
            </a:r>
            <a:r>
              <a:rPr b="1" dirty="0"/>
              <a:t>Regression (L1 Regularization)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73040"/>
          </a:xfrm>
        </p:spPr>
        <p:txBody>
          <a:bodyPr/>
          <a:lstStyle/>
          <a:p>
            <a:pPr algn="just">
              <a:defRPr sz="1800"/>
            </a:pPr>
            <a:r>
              <a:rPr dirty="0"/>
              <a:t>A regression model using the L1 Regularization technique is called LASSO (Least Absolute Shrinkage and Selection Operator) regression. It adds the absolute value of magnitude of the coefficient as a penalty term to the loss function. This penalty can shrink some coefficients to zero which helps in selecting only the important features and ignoring less important ones.</a:t>
            </a:r>
          </a:p>
          <a:p>
            <a:pPr algn="just">
              <a:defRPr sz="1800"/>
            </a:pPr>
            <a:endParaRPr dirty="0"/>
          </a:p>
          <a:p>
            <a:pPr algn="just">
              <a:defRPr sz="1800"/>
            </a:pPr>
            <a:r>
              <a:rPr dirty="0"/>
              <a:t>Cost Function:</a:t>
            </a:r>
          </a:p>
          <a:p>
            <a:pPr marL="0" indent="0" algn="just">
              <a:buNone/>
              <a:defRPr sz="1800"/>
            </a:pPr>
            <a:endParaRPr dirty="0"/>
          </a:p>
          <a:p>
            <a:pPr marL="0" indent="0" algn="just">
              <a:buNone/>
              <a:defRPr sz="1800"/>
            </a:pPr>
            <a:endParaRPr lang="en-US" dirty="0" smtClean="0"/>
          </a:p>
          <a:p>
            <a:pPr marL="0" indent="0" algn="just">
              <a:buNone/>
              <a:defRPr sz="1800"/>
            </a:pPr>
            <a:r>
              <a:rPr dirty="0" smtClean="0"/>
              <a:t>Where</a:t>
            </a:r>
            <a:r>
              <a:rPr dirty="0"/>
              <a:t>:</a:t>
            </a:r>
          </a:p>
          <a:p>
            <a:pPr algn="just">
              <a:defRPr sz="1800"/>
            </a:pPr>
            <a:r>
              <a:rPr dirty="0"/>
              <a:t>m - Number of Features</a:t>
            </a:r>
          </a:p>
          <a:p>
            <a:pPr algn="just">
              <a:defRPr sz="1800"/>
            </a:pPr>
            <a:r>
              <a:rPr dirty="0"/>
              <a:t>n - Number of Examples</a:t>
            </a:r>
          </a:p>
          <a:p>
            <a:pPr algn="just">
              <a:defRPr sz="1800"/>
            </a:pPr>
            <a:r>
              <a:rPr dirty="0" err="1"/>
              <a:t>y_i</a:t>
            </a:r>
            <a:r>
              <a:rPr dirty="0"/>
              <a:t> - Actual Target Value</a:t>
            </a:r>
          </a:p>
          <a:p>
            <a:pPr algn="just">
              <a:defRPr sz="1800"/>
            </a:pPr>
            <a:r>
              <a:rPr dirty="0" err="1"/>
              <a:t>ŷ_i</a:t>
            </a:r>
            <a:r>
              <a:rPr dirty="0"/>
              <a:t> - Predicted Target Value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421" y="3324168"/>
            <a:ext cx="5353797" cy="819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Lasso Regression - </a:t>
            </a:r>
            <a:r>
              <a:rPr b="1" dirty="0" smtClean="0"/>
              <a:t>Implementation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0480"/>
            <a:ext cx="8229600" cy="5344160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dirty="0"/>
              <a:t>from </a:t>
            </a:r>
            <a:r>
              <a:rPr dirty="0" err="1"/>
              <a:t>sklearn.linear_model</a:t>
            </a:r>
            <a:r>
              <a:rPr dirty="0"/>
              <a:t> import Lasso</a:t>
            </a:r>
          </a:p>
          <a:p>
            <a:pPr>
              <a:defRPr sz="1800"/>
            </a:pPr>
            <a:r>
              <a:rPr dirty="0"/>
              <a:t>from </a:t>
            </a:r>
            <a:r>
              <a:rPr dirty="0" err="1"/>
              <a:t>sklearn.model_selection</a:t>
            </a:r>
            <a:r>
              <a:rPr dirty="0"/>
              <a:t> import </a:t>
            </a:r>
            <a:r>
              <a:rPr dirty="0" err="1"/>
              <a:t>train_test_split</a:t>
            </a:r>
            <a:endParaRPr dirty="0"/>
          </a:p>
          <a:p>
            <a:pPr>
              <a:defRPr sz="1800"/>
            </a:pPr>
            <a:r>
              <a:rPr dirty="0"/>
              <a:t>from </a:t>
            </a:r>
            <a:r>
              <a:rPr dirty="0" err="1"/>
              <a:t>sklearn.datasets</a:t>
            </a:r>
            <a:r>
              <a:rPr dirty="0"/>
              <a:t> import </a:t>
            </a:r>
            <a:r>
              <a:rPr dirty="0" err="1"/>
              <a:t>make_regression</a:t>
            </a:r>
            <a:endParaRPr dirty="0"/>
          </a:p>
          <a:p>
            <a:pPr>
              <a:defRPr sz="1800"/>
            </a:pPr>
            <a:r>
              <a:rPr dirty="0"/>
              <a:t>from </a:t>
            </a:r>
            <a:r>
              <a:rPr dirty="0" err="1"/>
              <a:t>sklearn.metrics</a:t>
            </a:r>
            <a:r>
              <a:rPr dirty="0"/>
              <a:t> import </a:t>
            </a:r>
            <a:r>
              <a:rPr dirty="0" err="1"/>
              <a:t>mean_squared_error</a:t>
            </a:r>
            <a:endParaRPr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X, y = </a:t>
            </a:r>
            <a:r>
              <a:rPr dirty="0" err="1"/>
              <a:t>make_regression</a:t>
            </a:r>
            <a:r>
              <a:rPr dirty="0"/>
              <a:t>(</a:t>
            </a:r>
            <a:r>
              <a:rPr dirty="0" err="1"/>
              <a:t>n_samples</a:t>
            </a:r>
            <a:r>
              <a:rPr dirty="0"/>
              <a:t>=100, </a:t>
            </a:r>
            <a:r>
              <a:rPr dirty="0" err="1"/>
              <a:t>n_features</a:t>
            </a:r>
            <a:r>
              <a:rPr dirty="0"/>
              <a:t>=5, noise=0.1, </a:t>
            </a:r>
            <a:r>
              <a:rPr dirty="0" err="1"/>
              <a:t>random_state</a:t>
            </a:r>
            <a:r>
              <a:rPr dirty="0"/>
              <a:t>=42)</a:t>
            </a:r>
          </a:p>
          <a:p>
            <a:pPr>
              <a:defRPr sz="1800"/>
            </a:pP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X_test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, </a:t>
            </a:r>
            <a:r>
              <a:rPr dirty="0" err="1"/>
              <a:t>y_test</a:t>
            </a:r>
            <a:r>
              <a:rPr dirty="0"/>
              <a:t> = </a:t>
            </a:r>
            <a:r>
              <a:rPr dirty="0" err="1"/>
              <a:t>train_test_split</a:t>
            </a:r>
            <a:r>
              <a:rPr dirty="0"/>
              <a:t>(X, y, </a:t>
            </a:r>
            <a:r>
              <a:rPr dirty="0" err="1"/>
              <a:t>test_size</a:t>
            </a:r>
            <a:r>
              <a:rPr dirty="0"/>
              <a:t>=0.2, </a:t>
            </a:r>
            <a:r>
              <a:rPr dirty="0" err="1"/>
              <a:t>random_state</a:t>
            </a:r>
            <a:r>
              <a:rPr dirty="0"/>
              <a:t>=42)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lasso = Lasso(alpha=0.1)</a:t>
            </a:r>
          </a:p>
          <a:p>
            <a:pPr>
              <a:defRPr sz="1800"/>
            </a:pPr>
            <a:r>
              <a:rPr dirty="0" err="1"/>
              <a:t>lasso.fit</a:t>
            </a:r>
            <a:r>
              <a:rPr dirty="0"/>
              <a:t>(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 err="1"/>
              <a:t>y_pred</a:t>
            </a:r>
            <a:r>
              <a:rPr dirty="0"/>
              <a:t> = </a:t>
            </a:r>
            <a:r>
              <a:rPr dirty="0" err="1"/>
              <a:t>lasso.predict</a:t>
            </a:r>
            <a:r>
              <a:rPr dirty="0"/>
              <a:t>(</a:t>
            </a:r>
            <a:r>
              <a:rPr dirty="0" err="1"/>
              <a:t>X_test</a:t>
            </a:r>
            <a:r>
              <a:rPr dirty="0"/>
              <a:t>)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 err="1"/>
              <a:t>mse</a:t>
            </a:r>
            <a:r>
              <a:rPr dirty="0"/>
              <a:t> = </a:t>
            </a:r>
            <a:r>
              <a:rPr dirty="0" err="1"/>
              <a:t>mean_squared_error</a:t>
            </a:r>
            <a:r>
              <a:rPr dirty="0"/>
              <a:t>(</a:t>
            </a:r>
            <a:r>
              <a:rPr dirty="0" err="1"/>
              <a:t>y_test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/>
              <a:t>print(</a:t>
            </a:r>
            <a:r>
              <a:rPr dirty="0" err="1"/>
              <a:t>f'Mean</a:t>
            </a:r>
            <a:r>
              <a:rPr dirty="0"/>
              <a:t> Squared Error: {</a:t>
            </a:r>
            <a:r>
              <a:rPr dirty="0" err="1"/>
              <a:t>mse</a:t>
            </a:r>
            <a:r>
              <a:rPr dirty="0"/>
              <a:t>}')</a:t>
            </a:r>
          </a:p>
          <a:p>
            <a:pPr>
              <a:defRPr sz="1800"/>
            </a:pPr>
            <a:r>
              <a:rPr dirty="0"/>
              <a:t>print('Coefficients:', </a:t>
            </a:r>
            <a:r>
              <a:rPr dirty="0" err="1"/>
              <a:t>lasso.coef</a:t>
            </a:r>
            <a:r>
              <a:rPr dirty="0"/>
              <a:t>_)</a:t>
            </a:r>
          </a:p>
          <a:p>
            <a:pPr marL="0" indent="0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smtClean="0"/>
              <a:t>Ridge </a:t>
            </a:r>
            <a:r>
              <a:rPr b="1" dirty="0"/>
              <a:t>Regression (L2 Regularization)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0480"/>
            <a:ext cx="8229600" cy="5252720"/>
          </a:xfrm>
        </p:spPr>
        <p:txBody>
          <a:bodyPr>
            <a:normAutofit/>
          </a:bodyPr>
          <a:lstStyle/>
          <a:p>
            <a:pPr algn="just">
              <a:defRPr sz="1800"/>
            </a:pPr>
            <a:r>
              <a:rPr dirty="0"/>
              <a:t>Ridge regression uses L2 regularization by adding the squared magnitude of the coefficient as a penalty term to the loss function. It handles </a:t>
            </a:r>
            <a:r>
              <a:rPr dirty="0" err="1"/>
              <a:t>multicollinearity</a:t>
            </a:r>
            <a:r>
              <a:rPr dirty="0"/>
              <a:t> by shrinking the coefficients of correlated features instead of eliminating them.</a:t>
            </a:r>
          </a:p>
          <a:p>
            <a:pPr algn="just">
              <a:defRPr sz="1800"/>
            </a:pPr>
            <a:endParaRPr dirty="0"/>
          </a:p>
          <a:p>
            <a:pPr algn="just">
              <a:defRPr sz="1800"/>
            </a:pPr>
            <a:r>
              <a:rPr dirty="0"/>
              <a:t>Cost Function:</a:t>
            </a:r>
          </a:p>
          <a:p>
            <a:pPr marL="0" indent="0" algn="just">
              <a:buNone/>
              <a:defRPr sz="1800"/>
            </a:pPr>
            <a:endParaRPr dirty="0"/>
          </a:p>
          <a:p>
            <a:pPr algn="just">
              <a:defRPr sz="1800"/>
            </a:pPr>
            <a:endParaRPr lang="en-US" dirty="0" smtClean="0"/>
          </a:p>
          <a:p>
            <a:pPr marL="0" indent="0" algn="just">
              <a:buNone/>
              <a:defRPr sz="1800"/>
            </a:pPr>
            <a:r>
              <a:rPr dirty="0" smtClean="0"/>
              <a:t>Where</a:t>
            </a:r>
            <a:r>
              <a:rPr dirty="0"/>
              <a:t>:</a:t>
            </a:r>
          </a:p>
          <a:p>
            <a:pPr algn="just">
              <a:defRPr sz="1800"/>
            </a:pPr>
            <a:r>
              <a:rPr dirty="0"/>
              <a:t>n - Number of examples</a:t>
            </a:r>
          </a:p>
          <a:p>
            <a:pPr algn="just">
              <a:defRPr sz="1800"/>
            </a:pPr>
            <a:r>
              <a:rPr dirty="0"/>
              <a:t>m - Number of features</a:t>
            </a:r>
          </a:p>
          <a:p>
            <a:pPr algn="just">
              <a:defRPr sz="1800"/>
            </a:pPr>
            <a:r>
              <a:rPr dirty="0" err="1"/>
              <a:t>y_i</a:t>
            </a:r>
            <a:r>
              <a:rPr dirty="0"/>
              <a:t> - Actual target value</a:t>
            </a:r>
          </a:p>
          <a:p>
            <a:pPr algn="just">
              <a:defRPr sz="1800"/>
            </a:pPr>
            <a:r>
              <a:rPr dirty="0" err="1"/>
              <a:t>ŷ_i</a:t>
            </a:r>
            <a:r>
              <a:rPr dirty="0"/>
              <a:t> - Predicted target value</a:t>
            </a:r>
          </a:p>
          <a:p>
            <a:pPr algn="just">
              <a:defRPr sz="1800"/>
            </a:pPr>
            <a:r>
              <a:rPr dirty="0" err="1"/>
              <a:t>w_i</a:t>
            </a:r>
            <a:r>
              <a:rPr dirty="0"/>
              <a:t> - Coefficients of the features</a:t>
            </a:r>
          </a:p>
          <a:p>
            <a:pPr algn="just">
              <a:defRPr sz="1800"/>
            </a:pPr>
            <a:r>
              <a:rPr dirty="0"/>
              <a:t>λ - Regularization parameter controlling strength of regularization</a:t>
            </a:r>
            <a:r>
              <a:rPr dirty="0" smtClean="0"/>
              <a:t>.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285" y="3100341"/>
            <a:ext cx="5401429" cy="6573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Ridge Regression - </a:t>
            </a:r>
            <a:r>
              <a:rPr b="1" dirty="0" smtClean="0"/>
              <a:t>Implementation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0320"/>
            <a:ext cx="8229600" cy="5232400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dirty="0"/>
              <a:t>from </a:t>
            </a:r>
            <a:r>
              <a:rPr dirty="0" err="1"/>
              <a:t>sklearn.linear_model</a:t>
            </a:r>
            <a:r>
              <a:rPr dirty="0"/>
              <a:t> import Ridge</a:t>
            </a:r>
          </a:p>
          <a:p>
            <a:pPr>
              <a:defRPr sz="1800"/>
            </a:pPr>
            <a:r>
              <a:rPr dirty="0"/>
              <a:t>from </a:t>
            </a:r>
            <a:r>
              <a:rPr dirty="0" err="1"/>
              <a:t>sklearn.datasets</a:t>
            </a:r>
            <a:r>
              <a:rPr dirty="0"/>
              <a:t> import </a:t>
            </a:r>
            <a:r>
              <a:rPr dirty="0" err="1"/>
              <a:t>make_regression</a:t>
            </a:r>
            <a:endParaRPr dirty="0"/>
          </a:p>
          <a:p>
            <a:pPr>
              <a:defRPr sz="1800"/>
            </a:pPr>
            <a:r>
              <a:rPr dirty="0"/>
              <a:t>from </a:t>
            </a:r>
            <a:r>
              <a:rPr dirty="0" err="1"/>
              <a:t>sklearn.model_selection</a:t>
            </a:r>
            <a:r>
              <a:rPr dirty="0"/>
              <a:t> import </a:t>
            </a:r>
            <a:r>
              <a:rPr dirty="0" err="1"/>
              <a:t>train_test_split</a:t>
            </a:r>
            <a:endParaRPr dirty="0"/>
          </a:p>
          <a:p>
            <a:pPr>
              <a:defRPr sz="1800"/>
            </a:pPr>
            <a:r>
              <a:rPr dirty="0"/>
              <a:t>from </a:t>
            </a:r>
            <a:r>
              <a:rPr dirty="0" err="1"/>
              <a:t>sklearn.metrics</a:t>
            </a:r>
            <a:r>
              <a:rPr dirty="0"/>
              <a:t> import </a:t>
            </a:r>
            <a:r>
              <a:rPr dirty="0" err="1"/>
              <a:t>mean_squared_error</a:t>
            </a:r>
            <a:endParaRPr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X, y = </a:t>
            </a:r>
            <a:r>
              <a:rPr dirty="0" err="1"/>
              <a:t>make_regression</a:t>
            </a:r>
            <a:r>
              <a:rPr dirty="0"/>
              <a:t>(</a:t>
            </a:r>
            <a:r>
              <a:rPr dirty="0" err="1"/>
              <a:t>n_samples</a:t>
            </a:r>
            <a:r>
              <a:rPr dirty="0"/>
              <a:t>=100, </a:t>
            </a:r>
            <a:r>
              <a:rPr dirty="0" err="1"/>
              <a:t>n_features</a:t>
            </a:r>
            <a:r>
              <a:rPr dirty="0"/>
              <a:t>=5, noise=0.1, </a:t>
            </a:r>
            <a:r>
              <a:rPr dirty="0" err="1"/>
              <a:t>random_state</a:t>
            </a:r>
            <a:r>
              <a:rPr dirty="0"/>
              <a:t>=42)</a:t>
            </a:r>
          </a:p>
          <a:p>
            <a:pPr>
              <a:defRPr sz="1800"/>
            </a:pP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X_test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, </a:t>
            </a:r>
            <a:r>
              <a:rPr dirty="0" err="1"/>
              <a:t>y_test</a:t>
            </a:r>
            <a:r>
              <a:rPr dirty="0"/>
              <a:t> = </a:t>
            </a:r>
            <a:r>
              <a:rPr dirty="0" err="1"/>
              <a:t>train_test_split</a:t>
            </a:r>
            <a:r>
              <a:rPr dirty="0"/>
              <a:t>(X, y, </a:t>
            </a:r>
            <a:r>
              <a:rPr dirty="0" err="1"/>
              <a:t>test_size</a:t>
            </a:r>
            <a:r>
              <a:rPr dirty="0"/>
              <a:t>=0.2, </a:t>
            </a:r>
            <a:r>
              <a:rPr dirty="0" err="1"/>
              <a:t>random_state</a:t>
            </a:r>
            <a:r>
              <a:rPr dirty="0"/>
              <a:t>=42)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ridge = Ridge(alpha=1.0)</a:t>
            </a:r>
          </a:p>
          <a:p>
            <a:pPr>
              <a:defRPr sz="1800"/>
            </a:pPr>
            <a:r>
              <a:rPr dirty="0" err="1"/>
              <a:t>ridge.fit</a:t>
            </a:r>
            <a:r>
              <a:rPr dirty="0"/>
              <a:t>(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 err="1"/>
              <a:t>y_pred</a:t>
            </a:r>
            <a:r>
              <a:rPr dirty="0"/>
              <a:t> = </a:t>
            </a:r>
            <a:r>
              <a:rPr dirty="0" err="1"/>
              <a:t>ridge.predict</a:t>
            </a:r>
            <a:r>
              <a:rPr dirty="0"/>
              <a:t>(</a:t>
            </a:r>
            <a:r>
              <a:rPr dirty="0" err="1"/>
              <a:t>X_test</a:t>
            </a:r>
            <a:r>
              <a:rPr dirty="0"/>
              <a:t>)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 err="1"/>
              <a:t>mse</a:t>
            </a:r>
            <a:r>
              <a:rPr dirty="0"/>
              <a:t> = </a:t>
            </a:r>
            <a:r>
              <a:rPr dirty="0" err="1"/>
              <a:t>mean_squared_error</a:t>
            </a:r>
            <a:r>
              <a:rPr dirty="0"/>
              <a:t>(</a:t>
            </a:r>
            <a:r>
              <a:rPr dirty="0" err="1"/>
              <a:t>y_test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/>
              <a:t>print('Mean Squared Error:', </a:t>
            </a:r>
            <a:r>
              <a:rPr dirty="0" err="1"/>
              <a:t>mse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/>
              <a:t>print('Coefficients:', </a:t>
            </a:r>
            <a:r>
              <a:rPr dirty="0" err="1"/>
              <a:t>ridge.coef</a:t>
            </a:r>
            <a:r>
              <a:rPr dirty="0"/>
              <a:t>_)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smtClean="0"/>
              <a:t>Elastic </a:t>
            </a:r>
            <a:r>
              <a:rPr b="1" dirty="0"/>
              <a:t>Net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8880"/>
            <a:ext cx="8229600" cy="5496560"/>
          </a:xfrm>
        </p:spPr>
        <p:txBody>
          <a:bodyPr>
            <a:normAutofit/>
          </a:bodyPr>
          <a:lstStyle/>
          <a:p>
            <a:pPr algn="just">
              <a:defRPr sz="1800"/>
            </a:pPr>
            <a:r>
              <a:rPr dirty="0"/>
              <a:t>Elastic Net combines both L1 and L2 regularization, adding both absolute and squared norms of coefficients. It includes a hyperparameter α that controls the ratio between L1 and L2 regularization.</a:t>
            </a:r>
          </a:p>
          <a:p>
            <a:pPr algn="just">
              <a:defRPr sz="1800"/>
            </a:pPr>
            <a:endParaRPr dirty="0"/>
          </a:p>
          <a:p>
            <a:pPr algn="just">
              <a:defRPr sz="1800"/>
            </a:pPr>
            <a:r>
              <a:rPr dirty="0"/>
              <a:t>Cost Function:</a:t>
            </a:r>
          </a:p>
          <a:p>
            <a:pPr marL="0" indent="0" algn="just">
              <a:buNone/>
              <a:defRPr sz="1800"/>
            </a:pPr>
            <a:endParaRPr dirty="0"/>
          </a:p>
          <a:p>
            <a:pPr algn="just">
              <a:defRPr sz="1800"/>
            </a:pPr>
            <a:r>
              <a:rPr dirty="0"/>
              <a:t>Where:</a:t>
            </a:r>
          </a:p>
          <a:p>
            <a:pPr algn="just">
              <a:defRPr sz="1800"/>
            </a:pPr>
            <a:r>
              <a:rPr dirty="0"/>
              <a:t>n - Number of examples</a:t>
            </a:r>
          </a:p>
          <a:p>
            <a:pPr algn="just">
              <a:defRPr sz="1800"/>
            </a:pPr>
            <a:r>
              <a:rPr dirty="0"/>
              <a:t>m - Number of features</a:t>
            </a:r>
          </a:p>
          <a:p>
            <a:pPr algn="just">
              <a:defRPr sz="1800"/>
            </a:pPr>
            <a:r>
              <a:rPr dirty="0" err="1"/>
              <a:t>y_i</a:t>
            </a:r>
            <a:r>
              <a:rPr dirty="0"/>
              <a:t> - Actual target value</a:t>
            </a:r>
          </a:p>
          <a:p>
            <a:pPr algn="just">
              <a:defRPr sz="1800"/>
            </a:pPr>
            <a:r>
              <a:rPr dirty="0" err="1"/>
              <a:t>ŷ_i</a:t>
            </a:r>
            <a:r>
              <a:rPr dirty="0"/>
              <a:t> - Predicted value</a:t>
            </a:r>
          </a:p>
          <a:p>
            <a:pPr algn="just">
              <a:defRPr sz="1800"/>
            </a:pPr>
            <a:r>
              <a:rPr dirty="0" err="1"/>
              <a:t>w_i</a:t>
            </a:r>
            <a:r>
              <a:rPr dirty="0"/>
              <a:t> - Coefficients</a:t>
            </a:r>
          </a:p>
          <a:p>
            <a:pPr algn="just">
              <a:defRPr sz="1800"/>
            </a:pPr>
            <a:r>
              <a:rPr dirty="0"/>
              <a:t>λ - Regularization strength</a:t>
            </a:r>
          </a:p>
          <a:p>
            <a:pPr algn="just">
              <a:defRPr sz="1800"/>
            </a:pPr>
            <a:r>
              <a:rPr dirty="0"/>
              <a:t>α - Mixing parameter (α=1 → L1, α=0 → L2, 0&lt;α&lt;1 → combination</a:t>
            </a:r>
            <a:r>
              <a:rPr dirty="0" smtClean="0"/>
              <a:t>)</a:t>
            </a:r>
            <a:r>
              <a:rPr lang="en-US" dirty="0" smtClean="0"/>
              <a:t>, </a:t>
            </a:r>
            <a:r>
              <a:rPr lang="en-US" sz="1800" dirty="0"/>
              <a:t>Mixing parameter where 0≤α≤10≤</a:t>
            </a:r>
            <a:r>
              <a:rPr lang="en-US" sz="1800" i="1" dirty="0"/>
              <a:t>α</a:t>
            </a:r>
            <a:r>
              <a:rPr lang="en-US" sz="1800" dirty="0"/>
              <a:t>≤1 and α</a:t>
            </a:r>
            <a:r>
              <a:rPr lang="en-US" sz="1800" i="1" dirty="0"/>
              <a:t>α</a:t>
            </a:r>
            <a:r>
              <a:rPr lang="en-US" sz="1800" dirty="0"/>
              <a:t>= 1 corresponds to Lasso (L1</a:t>
            </a:r>
            <a:r>
              <a:rPr lang="en-US" sz="1800" i="1" dirty="0"/>
              <a:t>L</a:t>
            </a:r>
            <a:r>
              <a:rPr lang="en-US" sz="1800" dirty="0"/>
              <a:t>1​) regularization, α</a:t>
            </a:r>
            <a:r>
              <a:rPr lang="en-US" sz="1800" i="1" dirty="0"/>
              <a:t>α</a:t>
            </a:r>
            <a:r>
              <a:rPr lang="en-US" sz="1800" dirty="0"/>
              <a:t>= 0 corresponds to Ridge (L2</a:t>
            </a:r>
            <a:r>
              <a:rPr lang="en-US" sz="1800" i="1" dirty="0"/>
              <a:t>L</a:t>
            </a:r>
            <a:r>
              <a:rPr lang="en-US" sz="1800" dirty="0"/>
              <a:t>2​) regularization and Values between 0 and 1 provide a balance of both L1 and L2 regularization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920" y="2722880"/>
            <a:ext cx="584200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" y="274638"/>
            <a:ext cx="865632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Elastic Net Regression </a:t>
            </a:r>
            <a:r>
              <a:rPr lang="en-US" b="1" dirty="0"/>
              <a:t>-</a:t>
            </a:r>
            <a:r>
              <a:rPr b="1" dirty="0" smtClean="0"/>
              <a:t>Implementation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9840"/>
            <a:ext cx="8229600" cy="4866323"/>
          </a:xfrm>
        </p:spPr>
        <p:txBody>
          <a:bodyPr>
            <a:normAutofit fontScale="92500"/>
          </a:bodyPr>
          <a:lstStyle/>
          <a:p>
            <a:pPr>
              <a:defRPr sz="1800"/>
            </a:pPr>
            <a:r>
              <a:rPr dirty="0"/>
              <a:t>from </a:t>
            </a:r>
            <a:r>
              <a:rPr dirty="0" err="1"/>
              <a:t>sklearn.linear_model</a:t>
            </a:r>
            <a:r>
              <a:rPr dirty="0"/>
              <a:t> import </a:t>
            </a:r>
            <a:r>
              <a:rPr dirty="0" err="1"/>
              <a:t>ElasticNet</a:t>
            </a:r>
            <a:endParaRPr dirty="0"/>
          </a:p>
          <a:p>
            <a:pPr>
              <a:defRPr sz="1800"/>
            </a:pPr>
            <a:r>
              <a:rPr dirty="0"/>
              <a:t>from </a:t>
            </a:r>
            <a:r>
              <a:rPr dirty="0" err="1"/>
              <a:t>sklearn.datasets</a:t>
            </a:r>
            <a:r>
              <a:rPr dirty="0"/>
              <a:t> import </a:t>
            </a:r>
            <a:r>
              <a:rPr dirty="0" err="1"/>
              <a:t>make_regression</a:t>
            </a:r>
            <a:endParaRPr dirty="0"/>
          </a:p>
          <a:p>
            <a:pPr>
              <a:defRPr sz="1800"/>
            </a:pPr>
            <a:r>
              <a:rPr dirty="0"/>
              <a:t>from </a:t>
            </a:r>
            <a:r>
              <a:rPr dirty="0" err="1"/>
              <a:t>sklearn.model_selection</a:t>
            </a:r>
            <a:r>
              <a:rPr dirty="0"/>
              <a:t> import </a:t>
            </a:r>
            <a:r>
              <a:rPr dirty="0" err="1"/>
              <a:t>train_test_split</a:t>
            </a:r>
            <a:endParaRPr dirty="0"/>
          </a:p>
          <a:p>
            <a:pPr>
              <a:defRPr sz="1800"/>
            </a:pPr>
            <a:r>
              <a:rPr dirty="0"/>
              <a:t>from </a:t>
            </a:r>
            <a:r>
              <a:rPr dirty="0" err="1"/>
              <a:t>sklearn.metrics</a:t>
            </a:r>
            <a:r>
              <a:rPr dirty="0"/>
              <a:t> import </a:t>
            </a:r>
            <a:r>
              <a:rPr dirty="0" err="1"/>
              <a:t>mean_squared_error</a:t>
            </a:r>
            <a:endParaRPr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X, y = </a:t>
            </a:r>
            <a:r>
              <a:rPr dirty="0" err="1"/>
              <a:t>make_regression</a:t>
            </a:r>
            <a:r>
              <a:rPr dirty="0"/>
              <a:t>(</a:t>
            </a:r>
            <a:r>
              <a:rPr dirty="0" err="1"/>
              <a:t>n_samples</a:t>
            </a:r>
            <a:r>
              <a:rPr dirty="0"/>
              <a:t>=100, </a:t>
            </a:r>
            <a:r>
              <a:rPr dirty="0" err="1"/>
              <a:t>n_features</a:t>
            </a:r>
            <a:r>
              <a:rPr dirty="0"/>
              <a:t>=10, noise=0.1, </a:t>
            </a:r>
            <a:r>
              <a:rPr dirty="0" err="1"/>
              <a:t>random_state</a:t>
            </a:r>
            <a:r>
              <a:rPr dirty="0"/>
              <a:t>=42)</a:t>
            </a:r>
          </a:p>
          <a:p>
            <a:pPr>
              <a:defRPr sz="1800"/>
            </a:pP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X_test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, </a:t>
            </a:r>
            <a:r>
              <a:rPr dirty="0" err="1"/>
              <a:t>y_test</a:t>
            </a:r>
            <a:r>
              <a:rPr dirty="0"/>
              <a:t> = </a:t>
            </a:r>
            <a:r>
              <a:rPr dirty="0" err="1"/>
              <a:t>train_test_split</a:t>
            </a:r>
            <a:r>
              <a:rPr dirty="0"/>
              <a:t>(X, y, </a:t>
            </a:r>
            <a:r>
              <a:rPr dirty="0" err="1"/>
              <a:t>test_size</a:t>
            </a:r>
            <a:r>
              <a:rPr dirty="0"/>
              <a:t>=0.2, </a:t>
            </a:r>
            <a:r>
              <a:rPr dirty="0" err="1"/>
              <a:t>random_state</a:t>
            </a:r>
            <a:r>
              <a:rPr dirty="0"/>
              <a:t>=42)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model = </a:t>
            </a:r>
            <a:r>
              <a:rPr dirty="0" err="1"/>
              <a:t>ElasticNet</a:t>
            </a:r>
            <a:r>
              <a:rPr dirty="0"/>
              <a:t>(alpha=1.0, l1_ratio=0.5)</a:t>
            </a:r>
          </a:p>
          <a:p>
            <a:pPr>
              <a:defRPr sz="1800"/>
            </a:pPr>
            <a:r>
              <a:rPr dirty="0" err="1"/>
              <a:t>model.fit</a:t>
            </a:r>
            <a:r>
              <a:rPr dirty="0"/>
              <a:t>(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 err="1"/>
              <a:t>y_pred</a:t>
            </a:r>
            <a:r>
              <a:rPr dirty="0"/>
              <a:t> = </a:t>
            </a:r>
            <a:r>
              <a:rPr dirty="0" err="1"/>
              <a:t>model.predict</a:t>
            </a:r>
            <a:r>
              <a:rPr dirty="0"/>
              <a:t>(</a:t>
            </a:r>
            <a:r>
              <a:rPr dirty="0" err="1"/>
              <a:t>X_test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 err="1"/>
              <a:t>mse</a:t>
            </a:r>
            <a:r>
              <a:rPr dirty="0"/>
              <a:t> = </a:t>
            </a:r>
            <a:r>
              <a:rPr dirty="0" err="1"/>
              <a:t>mean_squared_error</a:t>
            </a:r>
            <a:r>
              <a:rPr dirty="0"/>
              <a:t>(</a:t>
            </a:r>
            <a:r>
              <a:rPr dirty="0" err="1"/>
              <a:t>y_test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print('Mean Squared Error:', </a:t>
            </a:r>
            <a:r>
              <a:rPr dirty="0" err="1"/>
              <a:t>mse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/>
              <a:t>print('Coefficients:', </a:t>
            </a:r>
            <a:r>
              <a:rPr dirty="0" err="1"/>
              <a:t>model.coef</a:t>
            </a:r>
            <a:r>
              <a:rPr dirty="0"/>
              <a:t>_)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65200"/>
          </a:xfrm>
        </p:spPr>
        <p:txBody>
          <a:bodyPr>
            <a:normAutofit/>
          </a:bodyPr>
          <a:lstStyle/>
          <a:p>
            <a:r>
              <a:rPr lang="en-IN" b="1" dirty="0"/>
              <a:t>Benefits of Regularization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" y="792480"/>
            <a:ext cx="8605520" cy="5333683"/>
          </a:xfrm>
        </p:spPr>
        <p:txBody>
          <a:bodyPr>
            <a:noAutofit/>
          </a:bodyPr>
          <a:lstStyle/>
          <a:p>
            <a:pPr marL="514350" indent="-514350" algn="just" fontAlgn="base">
              <a:buFont typeface="+mj-lt"/>
              <a:buAutoNum type="arabicPeriod"/>
            </a:pPr>
            <a:r>
              <a:rPr lang="en-US" sz="2000" b="1" dirty="0"/>
              <a:t>Prevents Overfitting:</a:t>
            </a:r>
            <a:r>
              <a:rPr lang="en-US" sz="2000" dirty="0"/>
              <a:t> Regularization helps models focus on underlying patterns instead of memorizing noise in the training data.</a:t>
            </a:r>
          </a:p>
          <a:p>
            <a:pPr marL="514350" indent="-514350" algn="just" fontAlgn="base">
              <a:buFont typeface="+mj-lt"/>
              <a:buAutoNum type="arabicPeriod"/>
            </a:pPr>
            <a:r>
              <a:rPr lang="en-US" sz="2000" b="1" dirty="0"/>
              <a:t>Improves Interpretability:</a:t>
            </a:r>
            <a:r>
              <a:rPr lang="en-US" sz="2000" dirty="0"/>
              <a:t> L</a:t>
            </a:r>
            <a:r>
              <a:rPr lang="en-US" sz="2000" baseline="-25000" dirty="0"/>
              <a:t>1 </a:t>
            </a:r>
            <a:r>
              <a:rPr lang="en-US" sz="2000" dirty="0"/>
              <a:t>(Lasso) regularization simplifies models by reducing less important feature coefficients to zero.</a:t>
            </a:r>
          </a:p>
          <a:p>
            <a:pPr marL="514350" indent="-514350" algn="just" fontAlgn="base">
              <a:buFont typeface="+mj-lt"/>
              <a:buAutoNum type="arabicPeriod"/>
            </a:pPr>
            <a:r>
              <a:rPr lang="en-US" sz="2000" b="1" dirty="0"/>
              <a:t>Enhances Performance:</a:t>
            </a:r>
            <a:r>
              <a:rPr lang="en-US" sz="2000" dirty="0"/>
              <a:t> Prevents excessive weighting of outliers or irrelevant features helps in improving overall model accuracy.</a:t>
            </a:r>
          </a:p>
          <a:p>
            <a:pPr marL="514350" indent="-514350" algn="just" fontAlgn="base">
              <a:buFont typeface="+mj-lt"/>
              <a:buAutoNum type="arabicPeriod"/>
            </a:pPr>
            <a:r>
              <a:rPr lang="en-US" sz="2000" b="1" dirty="0"/>
              <a:t>Stabilizes Models:</a:t>
            </a:r>
            <a:r>
              <a:rPr lang="en-US" sz="2000" dirty="0"/>
              <a:t> Reduces sensitivity to minor data changes which ensures consistency across different data subsets.</a:t>
            </a:r>
          </a:p>
          <a:p>
            <a:pPr marL="514350" indent="-514350" algn="just" fontAlgn="base">
              <a:buFont typeface="+mj-lt"/>
              <a:buAutoNum type="arabicPeriod"/>
            </a:pPr>
            <a:r>
              <a:rPr lang="en-US" sz="2000" b="1" dirty="0"/>
              <a:t>Prevents Complexity:</a:t>
            </a:r>
            <a:r>
              <a:rPr lang="en-US" sz="2000" dirty="0"/>
              <a:t> Keeps model from becoming too complex which is important for limited or noisy data.</a:t>
            </a:r>
          </a:p>
          <a:p>
            <a:pPr marL="514350" indent="-514350" algn="just" fontAlgn="base">
              <a:buFont typeface="+mj-lt"/>
              <a:buAutoNum type="arabicPeriod"/>
            </a:pPr>
            <a:r>
              <a:rPr lang="en-US" sz="2000" b="1" dirty="0"/>
              <a:t>Handles </a:t>
            </a:r>
            <a:r>
              <a:rPr lang="en-US" sz="2000" b="1" dirty="0" err="1"/>
              <a:t>Multicollinearity</a:t>
            </a:r>
            <a:r>
              <a:rPr lang="en-US" sz="2000" b="1" dirty="0"/>
              <a:t>:</a:t>
            </a:r>
            <a:r>
              <a:rPr lang="en-US" sz="2000" dirty="0"/>
              <a:t> Reduces the magnitudes of correlated coefficients helps in improving model stability.</a:t>
            </a:r>
          </a:p>
          <a:p>
            <a:pPr marL="514350" indent="-514350" algn="just" fontAlgn="base">
              <a:buFont typeface="+mj-lt"/>
              <a:buAutoNum type="arabicPeriod"/>
            </a:pPr>
            <a:r>
              <a:rPr lang="en-US" sz="2000" b="1" dirty="0"/>
              <a:t>Allows Fine-Tuning:</a:t>
            </a:r>
            <a:r>
              <a:rPr lang="en-US" sz="2000" dirty="0"/>
              <a:t> Hyperparameters like alpha and lambda control regularization strength helps in balancing bias and variance.</a:t>
            </a:r>
          </a:p>
          <a:p>
            <a:pPr marL="514350" indent="-514350" algn="just" fontAlgn="base">
              <a:buFont typeface="+mj-lt"/>
              <a:buAutoNum type="arabicPeriod"/>
            </a:pPr>
            <a:r>
              <a:rPr lang="en-US" sz="2000" b="1" dirty="0"/>
              <a:t>Promotes Consistency:</a:t>
            </a:r>
            <a:r>
              <a:rPr lang="en-US" sz="2000" dirty="0"/>
              <a:t> Ensures reliable performance across different datasets which reduces the risk of large performance shifts.</a:t>
            </a:r>
          </a:p>
        </p:txBody>
      </p:sp>
    </p:spTree>
    <p:extLst>
      <p:ext uri="{BB962C8B-B14F-4D97-AF65-F5344CB8AC3E}">
        <p14:creationId xmlns:p14="http://schemas.microsoft.com/office/powerpoint/2010/main" val="4193618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 smtClean="0"/>
              <a:t>Summary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Technique | Penalty Type | Effect</a:t>
            </a:r>
          </a:p>
          <a:p>
            <a:pPr>
              <a:defRPr sz="1800"/>
            </a:pPr>
            <a:r>
              <a:t>Lasso (L1) | Absolute Value | Feature Selection</a:t>
            </a:r>
          </a:p>
          <a:p>
            <a:pPr>
              <a:defRPr sz="1800"/>
            </a:pPr>
            <a:r>
              <a:t>Ridge (L2) | Squared Weights | Shrinks Coefficients</a:t>
            </a:r>
          </a:p>
          <a:p>
            <a:pPr>
              <a:defRPr sz="1800"/>
            </a:pPr>
            <a:r>
              <a:t>Elastic Net | L1 + L2 | Balances Selection and Shrinkage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668</Words>
  <Application>Microsoft Office PowerPoint</Application>
  <PresentationFormat>On-screen Show (4:3)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Regularization</vt:lpstr>
      <vt:lpstr>Types of Regularization</vt:lpstr>
      <vt:lpstr>Lasso Regression (L1 Regularization)</vt:lpstr>
      <vt:lpstr>Lasso Regression - Implementation</vt:lpstr>
      <vt:lpstr>Ridge Regression (L2 Regularization)</vt:lpstr>
      <vt:lpstr>Ridge Regression - Implementation</vt:lpstr>
      <vt:lpstr>Elastic Net Regression</vt:lpstr>
      <vt:lpstr>Elastic Net Regression -Implementation</vt:lpstr>
      <vt:lpstr>Benefits of Regularization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Regularization in Machine Learning</dc:title>
  <dc:subject/>
  <dc:creator/>
  <cp:keywords/>
  <dc:description>generated using python-pptx</dc:description>
  <cp:lastModifiedBy>Admin</cp:lastModifiedBy>
  <cp:revision>16</cp:revision>
  <dcterms:created xsi:type="dcterms:W3CDTF">2013-01-27T09:14:16Z</dcterms:created>
  <dcterms:modified xsi:type="dcterms:W3CDTF">2025-10-14T03:52:06Z</dcterms:modified>
  <cp:category/>
</cp:coreProperties>
</file>